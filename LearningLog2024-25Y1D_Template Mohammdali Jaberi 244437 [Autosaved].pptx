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8" r:id="rId4"/>
  </p:sldMasterIdLst>
  <p:notesMasterIdLst>
    <p:notesMasterId r:id="rId48"/>
  </p:notesMasterIdLst>
  <p:sldIdLst>
    <p:sldId id="256" r:id="rId5"/>
    <p:sldId id="257" r:id="rId6"/>
    <p:sldId id="258" r:id="rId7"/>
    <p:sldId id="263" r:id="rId8"/>
    <p:sldId id="260" r:id="rId9"/>
    <p:sldId id="261" r:id="rId10"/>
    <p:sldId id="262" r:id="rId11"/>
    <p:sldId id="356" r:id="rId12"/>
    <p:sldId id="305" r:id="rId13"/>
    <p:sldId id="264" r:id="rId14"/>
    <p:sldId id="265" r:id="rId15"/>
    <p:sldId id="268" r:id="rId16"/>
    <p:sldId id="269" r:id="rId17"/>
    <p:sldId id="270" r:id="rId18"/>
    <p:sldId id="271" r:id="rId19"/>
    <p:sldId id="324" r:id="rId20"/>
    <p:sldId id="325" r:id="rId21"/>
    <p:sldId id="308" r:id="rId22"/>
    <p:sldId id="326" r:id="rId23"/>
    <p:sldId id="327" r:id="rId24"/>
    <p:sldId id="311" r:id="rId25"/>
    <p:sldId id="328" r:id="rId26"/>
    <p:sldId id="329" r:id="rId27"/>
    <p:sldId id="282" r:id="rId28"/>
    <p:sldId id="283" r:id="rId29"/>
    <p:sldId id="343" r:id="rId30"/>
    <p:sldId id="344" r:id="rId31"/>
    <p:sldId id="345" r:id="rId32"/>
    <p:sldId id="346" r:id="rId33"/>
    <p:sldId id="347" r:id="rId34"/>
    <p:sldId id="349" r:id="rId35"/>
    <p:sldId id="348" r:id="rId36"/>
    <p:sldId id="350" r:id="rId37"/>
    <p:sldId id="351" r:id="rId38"/>
    <p:sldId id="352" r:id="rId39"/>
    <p:sldId id="353" r:id="rId40"/>
    <p:sldId id="354" r:id="rId41"/>
    <p:sldId id="355" r:id="rId42"/>
    <p:sldId id="333" r:id="rId43"/>
    <p:sldId id="334" r:id="rId44"/>
    <p:sldId id="296" r:id="rId45"/>
    <p:sldId id="297" r:id="rId46"/>
    <p:sldId id="298" r:id="rId47"/>
  </p:sldIdLst>
  <p:sldSz cx="9144000" cy="5143500" type="screen16x9"/>
  <p:notesSz cx="6858000" cy="9144000"/>
  <p:embeddedFontLst>
    <p:embeddedFont>
      <p:font typeface="Helvetica Neue" panose="020B0604020202020204" charset="0"/>
      <p:regular r:id="rId49"/>
      <p:bold r:id="rId50"/>
      <p:italic r:id="rId51"/>
      <p:boldItalic r:id="rId52"/>
    </p:embeddedFont>
    <p:embeddedFont>
      <p:font typeface="Proxima Nova" panose="020B0604020202020204" charset="0"/>
      <p:regular r:id="rId53"/>
      <p:bold r:id="rId54"/>
      <p:italic r:id="rId55"/>
      <p:boldItalic r:id="rId56"/>
    </p:embeddedFont>
    <p:embeddedFont>
      <p:font typeface="Roboto" panose="02000000000000000000" pitchFamily="2" charset="0"/>
      <p:regular r:id="rId57"/>
      <p:bold r:id="rId58"/>
      <p:italic r:id="rId59"/>
      <p:boldItalic r:id="rId60"/>
    </p:embeddedFont>
    <p:embeddedFont>
      <p:font typeface="Roboto Light" panose="02000000000000000000" pitchFamily="2" charset="0"/>
      <p:regular r:id="rId61"/>
      <p:italic r:id="rId62"/>
    </p:embeddedFont>
    <p:embeddedFont>
      <p:font typeface="Roboto Thin" panose="02000000000000000000" pitchFamily="2" charset="0"/>
      <p:regular r:id="rId63"/>
      <p:italic r:id="rId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3F07B12-FAE0-28AD-E538-EEDF72EBCEF7}" name="Noyan, Alican" initials="NA" userId="S::noyan.a@buas.nl::f2106684-872a-4b1d-b983-18c991c4133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Biswas, Abhishek" initials="BA" lastIdx="1" clrIdx="0">
    <p:extLst>
      <p:ext uri="{19B8F6BF-5375-455C-9EA6-DF929625EA0E}">
        <p15:presenceInfo xmlns:p15="http://schemas.microsoft.com/office/powerpoint/2012/main" userId="S::biswas.a@buas.nl::fb8d240a-d551-4b24-ab9a-9862bbc79dd8" providerId="AD"/>
      </p:ext>
    </p:extLst>
  </p:cmAuthor>
  <p:cmAuthor id="2" name="Noyan, Alican" initials="NA" lastIdx="3" clrIdx="1">
    <p:extLst>
      <p:ext uri="{19B8F6BF-5375-455C-9EA6-DF929625EA0E}">
        <p15:presenceInfo xmlns:p15="http://schemas.microsoft.com/office/powerpoint/2012/main" userId="S::noyan.a@buas.nl::f2106684-872a-4b1d-b983-18c991c41330" providerId="AD"/>
      </p:ext>
    </p:extLst>
  </p:cmAuthor>
  <p:cmAuthor id="3" name="Heijligers, Bram" initials="HB" lastIdx="3" clrIdx="2">
    <p:extLst>
      <p:ext uri="{19B8F6BF-5375-455C-9EA6-DF929625EA0E}">
        <p15:presenceInfo xmlns:p15="http://schemas.microsoft.com/office/powerpoint/2012/main" userId="S::heijligers.b@buas.nl::5cef929d-ecf9-4fca-bf12-bc5ee065fc9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BD3"/>
    <a:srgbClr val="FFF8AC"/>
    <a:srgbClr val="F5C1A8"/>
    <a:srgbClr val="FBFF92"/>
    <a:srgbClr val="FEF2CD"/>
    <a:srgbClr val="FDFFBD"/>
    <a:srgbClr val="FFDE98"/>
    <a:srgbClr val="EEE0B2"/>
    <a:srgbClr val="FFD579"/>
    <a:srgbClr val="FFF3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64D4AE7-FFBC-431D-9275-528F30A785D3}">
  <a:tblStyle styleId="{764D4AE7-FFBC-431D-9275-528F30A785D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719" autoAdjust="0"/>
  </p:normalViewPr>
  <p:slideViewPr>
    <p:cSldViewPr snapToGrid="0">
      <p:cViewPr varScale="1">
        <p:scale>
          <a:sx n="99" d="100"/>
          <a:sy n="99" d="100"/>
        </p:scale>
        <p:origin x="1022"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15.fntdata"/><Relationship Id="rId68"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font" Target="fonts/font5.fntdata"/><Relationship Id="rId58" Type="http://schemas.openxmlformats.org/officeDocument/2006/relationships/font" Target="fonts/font10.fntdata"/><Relationship Id="rId66"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font" Target="fonts/font13.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notesMaster" Target="notesMasters/notesMaster1.xml"/><Relationship Id="rId56" Type="http://schemas.openxmlformats.org/officeDocument/2006/relationships/font" Target="fonts/font8.fntdata"/><Relationship Id="rId64" Type="http://schemas.openxmlformats.org/officeDocument/2006/relationships/font" Target="fonts/font16.fntdata"/><Relationship Id="rId69"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font" Target="fonts/font3.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11.fntdata"/><Relationship Id="rId67"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6.fntdata"/><Relationship Id="rId62" Type="http://schemas.openxmlformats.org/officeDocument/2006/relationships/font" Target="fonts/font14.fntdata"/><Relationship Id="rId7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1.fntdata"/><Relationship Id="rId57" Type="http://schemas.openxmlformats.org/officeDocument/2006/relationships/font" Target="fonts/font9.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4.fntdata"/><Relationship Id="rId60" Type="http://schemas.openxmlformats.org/officeDocument/2006/relationships/font" Target="fonts/font12.fntdata"/><Relationship Id="rId65"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font" Target="fonts/font2.fntdata"/><Relationship Id="rId55"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6b4f495656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6b4f495656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6b4f495656_0_6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6b4f495656_0_6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6b4f495656_0_6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6b4f495656_0_6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6b4f495656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6b4f495656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UPDATED EVERY WEEK</a:t>
            </a:r>
            <a:endParaRPr/>
          </a:p>
          <a:p>
            <a:pPr marL="0" lvl="0" indent="0" algn="l" rtl="0">
              <a:spcBef>
                <a:spcPts val="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a:p>
          <a:p>
            <a:pPr marL="0" lvl="0" indent="0" algn="l" rtl="0">
              <a:spcBef>
                <a:spcPts val="0"/>
              </a:spcBef>
              <a:spcAft>
                <a:spcPts val="0"/>
              </a:spcAft>
              <a:buNone/>
            </a:pPr>
            <a:r>
              <a:rPr lang="en"/>
              <a:t>In such cases, you simply need to provide links to those artifacts and may include any explanatory comment or reflection you feel is appropriate. </a:t>
            </a:r>
            <a:endParaRPr/>
          </a:p>
          <a:p>
            <a:pPr marL="0" lvl="0" indent="0" algn="l" rtl="0">
              <a:spcBef>
                <a:spcPts val="0"/>
              </a:spcBef>
              <a:spcAft>
                <a:spcPts val="0"/>
              </a:spcAft>
              <a:buNone/>
            </a:pPr>
            <a:r>
              <a:rPr lang="en"/>
              <a:t>(Some reflection is almost always a good idea as it provides the foundation for Section C.)</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6b602ea5a7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6b602ea5a7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Copy and paste the feedback from the previous block’s assessment into the text box.</a:t>
            </a:r>
            <a:endParaRPr/>
          </a:p>
          <a:p>
            <a:pPr marL="0" lvl="0" indent="0" algn="l" rtl="0">
              <a:spcBef>
                <a:spcPts val="0"/>
              </a:spcBef>
              <a:spcAft>
                <a:spcPts val="0"/>
              </a:spcAft>
              <a:buNone/>
            </a:pPr>
            <a:r>
              <a:rPr lang="en"/>
              <a:t>Copy and paste the bullet points you listed on the “Lessons Learned” page in section C of your last block’s log.</a:t>
            </a:r>
            <a:endParaRPr/>
          </a:p>
          <a:p>
            <a:pPr marL="0" lvl="0" indent="0" algn="l" rtl="0">
              <a:spcBef>
                <a:spcPts val="0"/>
              </a:spcBef>
              <a:spcAft>
                <a:spcPts val="0"/>
              </a:spcAft>
              <a:buNone/>
            </a:pPr>
            <a:r>
              <a:rPr lang="en"/>
              <a:t>Compare the grade you gave yourself with the grade you received, and reevaluate or restate your feeling on your current level of progress.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6b602ea5a7_1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6b602ea5a7_1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Copy and paste the feedback from the previous block’s assessment into the text box.</a:t>
            </a:r>
            <a:endParaRPr/>
          </a:p>
          <a:p>
            <a:pPr marL="0" lvl="0" indent="0" algn="l" rtl="0">
              <a:spcBef>
                <a:spcPts val="0"/>
              </a:spcBef>
              <a:spcAft>
                <a:spcPts val="0"/>
              </a:spcAft>
              <a:buNone/>
            </a:pPr>
            <a:r>
              <a:rPr lang="en"/>
              <a:t>Copy and paste the bullet points you listed on the “Lessons Learned” page in section C of your last block’s log.</a:t>
            </a:r>
            <a:endParaRPr/>
          </a:p>
          <a:p>
            <a:pPr marL="0" lvl="0" indent="0" algn="l" rtl="0">
              <a:spcBef>
                <a:spcPts val="0"/>
              </a:spcBef>
              <a:spcAft>
                <a:spcPts val="0"/>
              </a:spcAft>
              <a:buNone/>
            </a:pPr>
            <a:r>
              <a:rPr lang="en"/>
              <a:t>Compare the grade you gave yourself with the grade you received, and reevaluate or restate your feeling on your current level of progress.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6b602ea5a7_1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6b602ea5a7_1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Describe your goals for this block using the SMARTER method. Make sure they are clear, relevant, have a measurable outcome, and can be recorded. Consider how well do they align with the role(s) you wish to take, and with the requirements given in the project brief. Think about the objectives you plan to choose, or that are mandated by the project. Are there any competencies that you need to focus 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For each goal, find concrete examples of tasks you expect to undertake that will demonstrate this within the project for the block. Make sure the plan has an outcome that can be tracked and assessed. Make sure you have a clearly stated target for each goal. If you are unsure of how to demonstrate something, ask for help from your teachers.</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6b4f495656_0_6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6b4f495656_0_6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UPDATED EVERY WEEK</a:t>
            </a:r>
            <a:endParaRPr/>
          </a:p>
          <a:p>
            <a:pPr marL="0" lvl="0" indent="0" algn="l" rtl="0">
              <a:spcBef>
                <a:spcPts val="0"/>
              </a:spcBef>
              <a:spcAft>
                <a:spcPts val="0"/>
              </a:spcAft>
              <a:buNone/>
            </a:pPr>
            <a:r>
              <a:rPr lang="en"/>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a:p>
          <a:p>
            <a:pPr marL="0" lvl="0" indent="0" algn="l" rtl="0">
              <a:spcBef>
                <a:spcPts val="0"/>
              </a:spcBef>
              <a:spcAft>
                <a:spcPts val="0"/>
              </a:spcAft>
              <a:buNone/>
            </a:pPr>
            <a:r>
              <a:rPr lang="en"/>
              <a:t>In such cases, you simply need to provide links to those artifacts and may include any explanatory comment or reflection you feel is appropriate. </a:t>
            </a:r>
            <a:endParaRPr/>
          </a:p>
          <a:p>
            <a:pPr marL="0" lvl="0" indent="0" algn="l" rtl="0">
              <a:spcBef>
                <a:spcPts val="0"/>
              </a:spcBef>
              <a:spcAft>
                <a:spcPts val="0"/>
              </a:spcAft>
              <a:buNone/>
            </a:pPr>
            <a:r>
              <a:rPr lang="en"/>
              <a:t>(Some reflection is almost always a good idea as it provides the foundation for Section C.)</a:t>
            </a:r>
            <a:endParaRPr/>
          </a:p>
        </p:txBody>
      </p:sp>
    </p:spTree>
    <p:extLst>
      <p:ext uri="{BB962C8B-B14F-4D97-AF65-F5344CB8AC3E}">
        <p14:creationId xmlns:p14="http://schemas.microsoft.com/office/powerpoint/2010/main" val="326737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75e44ff1a3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75e44ff1a3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75e44ff1a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75e44ff1a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75e44ff1a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75e44ff1a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6b602ea5a7_1_5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6b602ea5a7_1_5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83444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77827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8241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7772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39993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5870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b602ea5a7_1_5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b602ea5a7_1_5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93011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6b602ea5a7_1_5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6b602ea5a7_1_5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52333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6b4f495656_0_6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6b4f495656_0_6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COMPLETED IN WEEK 8, BUT SHOULD BE UPDATED REGULARLY</a:t>
            </a:r>
            <a:endParaRPr/>
          </a:p>
          <a:p>
            <a:pPr marL="0" lvl="0" indent="0" algn="l" rtl="0">
              <a:spcBef>
                <a:spcPts val="0"/>
              </a:spcBef>
              <a:spcAft>
                <a:spcPts val="0"/>
              </a:spcAft>
              <a:buNone/>
            </a:pPr>
            <a:r>
              <a:rPr lang="en"/>
              <a:t>This is where you link your evidence to each of the Intended Learning Outcomes of this block.</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6b4f495656_0_7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6b602ea5a7_1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267210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852B4F46-71F9-A95C-A37C-EAC048956188}"/>
            </a:ext>
          </a:extLst>
        </p:cNvPr>
        <p:cNvGrpSpPr/>
        <p:nvPr/>
      </p:nvGrpSpPr>
      <p:grpSpPr>
        <a:xfrm>
          <a:off x="0" y="0"/>
          <a:ext cx="0" cy="0"/>
          <a:chOff x="0" y="0"/>
          <a:chExt cx="0" cy="0"/>
        </a:xfrm>
      </p:grpSpPr>
      <p:sp>
        <p:nvSpPr>
          <p:cNvPr id="360" name="Google Shape;360;g6b4f495656_0_703:notes">
            <a:extLst>
              <a:ext uri="{FF2B5EF4-FFF2-40B4-BE49-F238E27FC236}">
                <a16:creationId xmlns:a16="http://schemas.microsoft.com/office/drawing/2014/main" id="{41C9D0A7-AAA4-799E-4C20-E328082CCA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a:extLst>
              <a:ext uri="{FF2B5EF4-FFF2-40B4-BE49-F238E27FC236}">
                <a16:creationId xmlns:a16="http://schemas.microsoft.com/office/drawing/2014/main" id="{2AE89E56-809E-B897-399A-217849BDA4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599663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CDC6ECAB-F8B6-1178-665F-AAE5283656E0}"/>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B52A7A47-7079-9EED-52E1-FF88FCC762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F2525A45-9B3D-1766-B595-87DE40112F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164784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62B32536-587A-5B1D-D3D6-1AFE000A710C}"/>
            </a:ext>
          </a:extLst>
        </p:cNvPr>
        <p:cNvGrpSpPr/>
        <p:nvPr/>
      </p:nvGrpSpPr>
      <p:grpSpPr>
        <a:xfrm>
          <a:off x="0" y="0"/>
          <a:ext cx="0" cy="0"/>
          <a:chOff x="0" y="0"/>
          <a:chExt cx="0" cy="0"/>
        </a:xfrm>
      </p:grpSpPr>
      <p:sp>
        <p:nvSpPr>
          <p:cNvPr id="360" name="Google Shape;360;g6b4f495656_0_703:notes">
            <a:extLst>
              <a:ext uri="{FF2B5EF4-FFF2-40B4-BE49-F238E27FC236}">
                <a16:creationId xmlns:a16="http://schemas.microsoft.com/office/drawing/2014/main" id="{BD08C856-371A-87D1-209D-3C9C467337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a:extLst>
              <a:ext uri="{FF2B5EF4-FFF2-40B4-BE49-F238E27FC236}">
                <a16:creationId xmlns:a16="http://schemas.microsoft.com/office/drawing/2014/main" id="{51AAFD8F-1F04-FC33-E39C-33AA568E363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438574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67B56754-CAB3-6F8F-7320-01A3FD7775E5}"/>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5CFACCA0-29AA-A3CC-6C42-A08C5F4415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41140A61-8EE9-99B4-4B0D-15734791E5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206589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5FD96A0E-D169-F89F-C362-0855E3417BF7}"/>
            </a:ext>
          </a:extLst>
        </p:cNvPr>
        <p:cNvGrpSpPr/>
        <p:nvPr/>
      </p:nvGrpSpPr>
      <p:grpSpPr>
        <a:xfrm>
          <a:off x="0" y="0"/>
          <a:ext cx="0" cy="0"/>
          <a:chOff x="0" y="0"/>
          <a:chExt cx="0" cy="0"/>
        </a:xfrm>
      </p:grpSpPr>
      <p:sp>
        <p:nvSpPr>
          <p:cNvPr id="360" name="Google Shape;360;g6b4f495656_0_703:notes">
            <a:extLst>
              <a:ext uri="{FF2B5EF4-FFF2-40B4-BE49-F238E27FC236}">
                <a16:creationId xmlns:a16="http://schemas.microsoft.com/office/drawing/2014/main" id="{3E23FF7C-E159-5407-E4D8-0D1BE3467E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a:extLst>
              <a:ext uri="{FF2B5EF4-FFF2-40B4-BE49-F238E27FC236}">
                <a16:creationId xmlns:a16="http://schemas.microsoft.com/office/drawing/2014/main" id="{71CF3DF1-26ED-A8B2-3E6D-EF3C1359C2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65444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C9557FB4-8622-88B6-5695-D0DF199F1BFB}"/>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CE0B16E7-5610-5AFB-7B54-510EF63DF6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F2FD9787-B742-E6E8-0E30-7BA1070576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5417467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0C355945-50AA-A3F4-EFC4-0C82F01793D2}"/>
            </a:ext>
          </a:extLst>
        </p:cNvPr>
        <p:cNvGrpSpPr/>
        <p:nvPr/>
      </p:nvGrpSpPr>
      <p:grpSpPr>
        <a:xfrm>
          <a:off x="0" y="0"/>
          <a:ext cx="0" cy="0"/>
          <a:chOff x="0" y="0"/>
          <a:chExt cx="0" cy="0"/>
        </a:xfrm>
      </p:grpSpPr>
      <p:sp>
        <p:nvSpPr>
          <p:cNvPr id="360" name="Google Shape;360;g6b4f495656_0_703:notes">
            <a:extLst>
              <a:ext uri="{FF2B5EF4-FFF2-40B4-BE49-F238E27FC236}">
                <a16:creationId xmlns:a16="http://schemas.microsoft.com/office/drawing/2014/main" id="{65DDE777-301E-7D1B-9FA7-84F353013C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a:extLst>
              <a:ext uri="{FF2B5EF4-FFF2-40B4-BE49-F238E27FC236}">
                <a16:creationId xmlns:a16="http://schemas.microsoft.com/office/drawing/2014/main" id="{5998B9BE-A57C-AB8E-7F18-6F2042CA78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256452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0B9BE21D-EBDF-EAA3-9257-C9B7C9A55ADE}"/>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40E9E740-32AB-7BBC-2DF1-B753604464E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51BA92E9-AE85-D0B2-CCC4-3291B4866A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4059368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69E1E6EF-D6D7-81DE-1862-9855F23F0FAD}"/>
            </a:ext>
          </a:extLst>
        </p:cNvPr>
        <p:cNvGrpSpPr/>
        <p:nvPr/>
      </p:nvGrpSpPr>
      <p:grpSpPr>
        <a:xfrm>
          <a:off x="0" y="0"/>
          <a:ext cx="0" cy="0"/>
          <a:chOff x="0" y="0"/>
          <a:chExt cx="0" cy="0"/>
        </a:xfrm>
      </p:grpSpPr>
      <p:sp>
        <p:nvSpPr>
          <p:cNvPr id="360" name="Google Shape;360;g6b4f495656_0_703:notes">
            <a:extLst>
              <a:ext uri="{FF2B5EF4-FFF2-40B4-BE49-F238E27FC236}">
                <a16:creationId xmlns:a16="http://schemas.microsoft.com/office/drawing/2014/main" id="{7D8DD869-C1BD-75E9-0109-A90A277A0D4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a:extLst>
              <a:ext uri="{FF2B5EF4-FFF2-40B4-BE49-F238E27FC236}">
                <a16:creationId xmlns:a16="http://schemas.microsoft.com/office/drawing/2014/main" id="{90F596CE-E1D8-8296-BF6F-FF42899ACB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601230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F0E4F0F9-6452-8FF9-C7CA-FED2D9A898E1}"/>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2AA967C0-E4DC-77CB-852B-077EC4B645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7505663E-4FEA-7CB0-54FD-92A14CE1DA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064516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a:extLst>
            <a:ext uri="{FF2B5EF4-FFF2-40B4-BE49-F238E27FC236}">
              <a16:creationId xmlns:a16="http://schemas.microsoft.com/office/drawing/2014/main" id="{D2931CF2-CAB7-0534-9CC0-9FA27B5F13A6}"/>
            </a:ext>
          </a:extLst>
        </p:cNvPr>
        <p:cNvGrpSpPr/>
        <p:nvPr/>
      </p:nvGrpSpPr>
      <p:grpSpPr>
        <a:xfrm>
          <a:off x="0" y="0"/>
          <a:ext cx="0" cy="0"/>
          <a:chOff x="0" y="0"/>
          <a:chExt cx="0" cy="0"/>
        </a:xfrm>
      </p:grpSpPr>
      <p:sp>
        <p:nvSpPr>
          <p:cNvPr id="360" name="Google Shape;360;g6b4f495656_0_703:notes">
            <a:extLst>
              <a:ext uri="{FF2B5EF4-FFF2-40B4-BE49-F238E27FC236}">
                <a16:creationId xmlns:a16="http://schemas.microsoft.com/office/drawing/2014/main" id="{812A5602-F1C3-2B3C-D961-BE32CF0EAF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6b4f495656_0_703:notes">
            <a:extLst>
              <a:ext uri="{FF2B5EF4-FFF2-40B4-BE49-F238E27FC236}">
                <a16:creationId xmlns:a16="http://schemas.microsoft.com/office/drawing/2014/main" id="{8D03E08E-FA41-64C5-3946-2465B05EA4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187325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a:extLst>
            <a:ext uri="{FF2B5EF4-FFF2-40B4-BE49-F238E27FC236}">
              <a16:creationId xmlns:a16="http://schemas.microsoft.com/office/drawing/2014/main" id="{94E9E9E1-60D4-0458-EE86-30369EE5916B}"/>
            </a:ext>
          </a:extLst>
        </p:cNvPr>
        <p:cNvGrpSpPr/>
        <p:nvPr/>
      </p:nvGrpSpPr>
      <p:grpSpPr>
        <a:xfrm>
          <a:off x="0" y="0"/>
          <a:ext cx="0" cy="0"/>
          <a:chOff x="0" y="0"/>
          <a:chExt cx="0" cy="0"/>
        </a:xfrm>
      </p:grpSpPr>
      <p:sp>
        <p:nvSpPr>
          <p:cNvPr id="390" name="Google Shape;390;g6b602ea5a7_1_270:notes">
            <a:extLst>
              <a:ext uri="{FF2B5EF4-FFF2-40B4-BE49-F238E27FC236}">
                <a16:creationId xmlns:a16="http://schemas.microsoft.com/office/drawing/2014/main" id="{D788BC31-91B7-07C8-1AC8-563E4DA48E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6b602ea5a7_1_270:notes">
            <a:extLst>
              <a:ext uri="{FF2B5EF4-FFF2-40B4-BE49-F238E27FC236}">
                <a16:creationId xmlns:a16="http://schemas.microsoft.com/office/drawing/2014/main" id="{AB4C0A43-FC18-C434-3B1B-219FB4B113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50183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6b4f495656_0_7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6b4f495656_0_7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776480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6b602ea5a7_1_3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6b602ea5a7_1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0026842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6b4f495656_0_7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6b4f495656_0_7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MUST BE COMPLETED IN WEEK 8</a:t>
            </a:r>
            <a:endParaRPr/>
          </a:p>
          <a:p>
            <a:pPr marL="0" lvl="0" indent="0" algn="l" rtl="0">
              <a:spcBef>
                <a:spcPts val="0"/>
              </a:spcBef>
              <a:spcAft>
                <a:spcPts val="0"/>
              </a:spcAft>
              <a:buNone/>
            </a:pPr>
            <a:r>
              <a:rPr lang="en"/>
              <a:t>Summative reflection on your progress during the block including a critical assessment of everything you did and learned during the block. This is a comprehensive review of everything recorded in Section B, evaluated against the goals and planning laid out in Section A.</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6b602ea5a7_1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6b602ea5a7_1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6b602ea5a7_1_2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6b602ea5a7_1_2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_1">
    <p:bg>
      <p:bgPr>
        <a:solidFill>
          <a:srgbClr val="EC781C"/>
        </a:solidFill>
        <a:effectLst/>
      </p:bgPr>
    </p:bg>
    <p:spTree>
      <p:nvGrpSpPr>
        <p:cNvPr id="1" name="Shape 9"/>
        <p:cNvGrpSpPr/>
        <p:nvPr/>
      </p:nvGrpSpPr>
      <p:grpSpPr>
        <a:xfrm>
          <a:off x="0" y="0"/>
          <a:ext cx="0" cy="0"/>
          <a:chOff x="0" y="0"/>
          <a:chExt cx="0" cy="0"/>
        </a:xfrm>
      </p:grpSpPr>
      <p:sp>
        <p:nvSpPr>
          <p:cNvPr id="10" name="Google Shape;10;p2"/>
          <p:cNvSpPr/>
          <p:nvPr/>
        </p:nvSpPr>
        <p:spPr>
          <a:xfrm>
            <a:off x="3109025" y="-1200"/>
            <a:ext cx="6035100" cy="51462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0" y="4363525"/>
            <a:ext cx="9144000" cy="7773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657600" y="548650"/>
            <a:ext cx="4937700" cy="3264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FFFFFF"/>
              </a:buClr>
              <a:buSzPts val="1800"/>
              <a:buNone/>
              <a:defRPr sz="1800">
                <a:solidFill>
                  <a:srgbClr val="FFFFFF"/>
                </a:solidFill>
              </a:defRPr>
            </a:lvl1pPr>
            <a:lvl2pPr lvl="1" algn="ctr" rtl="0">
              <a:spcBef>
                <a:spcPts val="0"/>
              </a:spcBef>
              <a:spcAft>
                <a:spcPts val="0"/>
              </a:spcAft>
              <a:buClr>
                <a:srgbClr val="FFFFFF"/>
              </a:buClr>
              <a:buSzPts val="3600"/>
              <a:buNone/>
              <a:defRPr sz="3600">
                <a:solidFill>
                  <a:srgbClr val="FFFFFF"/>
                </a:solidFill>
              </a:defRPr>
            </a:lvl2pPr>
            <a:lvl3pPr lvl="2" algn="ctr" rtl="0">
              <a:spcBef>
                <a:spcPts val="0"/>
              </a:spcBef>
              <a:spcAft>
                <a:spcPts val="0"/>
              </a:spcAft>
              <a:buClr>
                <a:srgbClr val="FFFFFF"/>
              </a:buClr>
              <a:buSzPts val="3600"/>
              <a:buNone/>
              <a:defRPr sz="3600">
                <a:solidFill>
                  <a:srgbClr val="FFFFFF"/>
                </a:solidFill>
              </a:defRPr>
            </a:lvl3pPr>
            <a:lvl4pPr lvl="3" algn="ctr" rtl="0">
              <a:spcBef>
                <a:spcPts val="0"/>
              </a:spcBef>
              <a:spcAft>
                <a:spcPts val="0"/>
              </a:spcAft>
              <a:buClr>
                <a:srgbClr val="FFFFFF"/>
              </a:buClr>
              <a:buSzPts val="3600"/>
              <a:buNone/>
              <a:defRPr sz="3600">
                <a:solidFill>
                  <a:srgbClr val="FFFFFF"/>
                </a:solidFill>
              </a:defRPr>
            </a:lvl4pPr>
            <a:lvl5pPr lvl="4" algn="ctr" rtl="0">
              <a:spcBef>
                <a:spcPts val="0"/>
              </a:spcBef>
              <a:spcAft>
                <a:spcPts val="0"/>
              </a:spcAft>
              <a:buClr>
                <a:srgbClr val="FFFFFF"/>
              </a:buClr>
              <a:buSzPts val="3600"/>
              <a:buNone/>
              <a:defRPr sz="3600">
                <a:solidFill>
                  <a:srgbClr val="FFFFFF"/>
                </a:solidFill>
              </a:defRPr>
            </a:lvl5pPr>
            <a:lvl6pPr lvl="5" algn="ctr" rtl="0">
              <a:spcBef>
                <a:spcPts val="0"/>
              </a:spcBef>
              <a:spcAft>
                <a:spcPts val="0"/>
              </a:spcAft>
              <a:buClr>
                <a:srgbClr val="FFFFFF"/>
              </a:buClr>
              <a:buSzPts val="3600"/>
              <a:buNone/>
              <a:defRPr sz="3600">
                <a:solidFill>
                  <a:srgbClr val="FFFFFF"/>
                </a:solidFill>
              </a:defRPr>
            </a:lvl6pPr>
            <a:lvl7pPr lvl="6" algn="ctr" rtl="0">
              <a:spcBef>
                <a:spcPts val="0"/>
              </a:spcBef>
              <a:spcAft>
                <a:spcPts val="0"/>
              </a:spcAft>
              <a:buClr>
                <a:srgbClr val="FFFFFF"/>
              </a:buClr>
              <a:buSzPts val="3600"/>
              <a:buNone/>
              <a:defRPr sz="3600">
                <a:solidFill>
                  <a:srgbClr val="FFFFFF"/>
                </a:solidFill>
              </a:defRPr>
            </a:lvl7pPr>
            <a:lvl8pPr lvl="7" algn="ctr" rtl="0">
              <a:spcBef>
                <a:spcPts val="0"/>
              </a:spcBef>
              <a:spcAft>
                <a:spcPts val="0"/>
              </a:spcAft>
              <a:buClr>
                <a:srgbClr val="FFFFFF"/>
              </a:buClr>
              <a:buSzPts val="3600"/>
              <a:buNone/>
              <a:defRPr sz="3600">
                <a:solidFill>
                  <a:srgbClr val="FFFFFF"/>
                </a:solidFill>
              </a:defRPr>
            </a:lvl8pPr>
            <a:lvl9pPr lvl="8" algn="ctr" rtl="0">
              <a:spcBef>
                <a:spcPts val="0"/>
              </a:spcBef>
              <a:spcAft>
                <a:spcPts val="0"/>
              </a:spcAft>
              <a:buClr>
                <a:srgbClr val="FFFFFF"/>
              </a:buClr>
              <a:buSzPts val="3600"/>
              <a:buNone/>
              <a:defRPr sz="3600">
                <a:solidFill>
                  <a:srgbClr val="FFFFFF"/>
                </a:solidFill>
              </a:defRPr>
            </a:lvl9pPr>
          </a:lstStyle>
          <a:p>
            <a:endParaRPr/>
          </a:p>
        </p:txBody>
      </p:sp>
      <p:sp>
        <p:nvSpPr>
          <p:cNvPr id="13" name="Google Shape;13;p2"/>
          <p:cNvSpPr txBox="1">
            <a:spLocks noGrp="1"/>
          </p:cNvSpPr>
          <p:nvPr>
            <p:ph type="subTitle" idx="1"/>
          </p:nvPr>
        </p:nvSpPr>
        <p:spPr>
          <a:xfrm>
            <a:off x="548650" y="548650"/>
            <a:ext cx="2011800" cy="3264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FFFFFF"/>
              </a:buClr>
              <a:buSzPts val="1800"/>
              <a:buNone/>
              <a:defRPr sz="1800">
                <a:solidFill>
                  <a:srgbClr val="FFFFFF"/>
                </a:solidFill>
              </a:defRPr>
            </a:lvl1pPr>
            <a:lvl2pPr lvl="1" algn="ctr" rtl="0">
              <a:lnSpc>
                <a:spcPct val="100000"/>
              </a:lnSpc>
              <a:spcBef>
                <a:spcPts val="0"/>
              </a:spcBef>
              <a:spcAft>
                <a:spcPts val="0"/>
              </a:spcAft>
              <a:buClr>
                <a:srgbClr val="FFFFFF"/>
              </a:buClr>
              <a:buSzPts val="3000"/>
              <a:buNone/>
              <a:defRPr sz="3000">
                <a:solidFill>
                  <a:srgbClr val="FFFFFF"/>
                </a:solidFill>
              </a:defRPr>
            </a:lvl2pPr>
            <a:lvl3pPr lvl="2" algn="ctr" rtl="0">
              <a:lnSpc>
                <a:spcPct val="100000"/>
              </a:lnSpc>
              <a:spcBef>
                <a:spcPts val="0"/>
              </a:spcBef>
              <a:spcAft>
                <a:spcPts val="0"/>
              </a:spcAft>
              <a:buClr>
                <a:srgbClr val="FFFFFF"/>
              </a:buClr>
              <a:buSzPts val="3000"/>
              <a:buNone/>
              <a:defRPr sz="3000">
                <a:solidFill>
                  <a:srgbClr val="FFFFFF"/>
                </a:solidFill>
              </a:defRPr>
            </a:lvl3pPr>
            <a:lvl4pPr lvl="3" algn="ctr" rtl="0">
              <a:lnSpc>
                <a:spcPct val="100000"/>
              </a:lnSpc>
              <a:spcBef>
                <a:spcPts val="0"/>
              </a:spcBef>
              <a:spcAft>
                <a:spcPts val="0"/>
              </a:spcAft>
              <a:buClr>
                <a:srgbClr val="FFFFFF"/>
              </a:buClr>
              <a:buSzPts val="3000"/>
              <a:buNone/>
              <a:defRPr sz="3000">
                <a:solidFill>
                  <a:srgbClr val="FFFFFF"/>
                </a:solidFill>
              </a:defRPr>
            </a:lvl4pPr>
            <a:lvl5pPr lvl="4" algn="ctr" rtl="0">
              <a:lnSpc>
                <a:spcPct val="100000"/>
              </a:lnSpc>
              <a:spcBef>
                <a:spcPts val="0"/>
              </a:spcBef>
              <a:spcAft>
                <a:spcPts val="0"/>
              </a:spcAft>
              <a:buClr>
                <a:srgbClr val="FFFFFF"/>
              </a:buClr>
              <a:buSzPts val="3000"/>
              <a:buNone/>
              <a:defRPr sz="3000">
                <a:solidFill>
                  <a:srgbClr val="FFFFFF"/>
                </a:solidFill>
              </a:defRPr>
            </a:lvl5pPr>
            <a:lvl6pPr lvl="5" algn="ctr" rtl="0">
              <a:lnSpc>
                <a:spcPct val="100000"/>
              </a:lnSpc>
              <a:spcBef>
                <a:spcPts val="0"/>
              </a:spcBef>
              <a:spcAft>
                <a:spcPts val="0"/>
              </a:spcAft>
              <a:buClr>
                <a:srgbClr val="FFFFFF"/>
              </a:buClr>
              <a:buSzPts val="3000"/>
              <a:buNone/>
              <a:defRPr sz="3000">
                <a:solidFill>
                  <a:srgbClr val="FFFFFF"/>
                </a:solidFill>
              </a:defRPr>
            </a:lvl6pPr>
            <a:lvl7pPr lvl="6" algn="ctr" rtl="0">
              <a:lnSpc>
                <a:spcPct val="100000"/>
              </a:lnSpc>
              <a:spcBef>
                <a:spcPts val="0"/>
              </a:spcBef>
              <a:spcAft>
                <a:spcPts val="0"/>
              </a:spcAft>
              <a:buClr>
                <a:srgbClr val="FFFFFF"/>
              </a:buClr>
              <a:buSzPts val="3000"/>
              <a:buNone/>
              <a:defRPr sz="3000">
                <a:solidFill>
                  <a:srgbClr val="FFFFFF"/>
                </a:solidFill>
              </a:defRPr>
            </a:lvl7pPr>
            <a:lvl8pPr lvl="7" algn="ctr" rtl="0">
              <a:lnSpc>
                <a:spcPct val="100000"/>
              </a:lnSpc>
              <a:spcBef>
                <a:spcPts val="0"/>
              </a:spcBef>
              <a:spcAft>
                <a:spcPts val="0"/>
              </a:spcAft>
              <a:buClr>
                <a:srgbClr val="FFFFFF"/>
              </a:buClr>
              <a:buSzPts val="3000"/>
              <a:buNone/>
              <a:defRPr sz="3000">
                <a:solidFill>
                  <a:srgbClr val="FFFFFF"/>
                </a:solidFill>
              </a:defRPr>
            </a:lvl8pPr>
            <a:lvl9pPr lvl="8" algn="ctr" rtl="0">
              <a:lnSpc>
                <a:spcPct val="100000"/>
              </a:lnSpc>
              <a:spcBef>
                <a:spcPts val="0"/>
              </a:spcBef>
              <a:spcAft>
                <a:spcPts val="0"/>
              </a:spcAft>
              <a:buClr>
                <a:srgbClr val="FFFFFF"/>
              </a:buClr>
              <a:buSzPts val="3000"/>
              <a:buNone/>
              <a:defRPr sz="3000">
                <a:solidFill>
                  <a:srgbClr val="FFFFFF"/>
                </a:solidFill>
              </a:defRPr>
            </a:lvl9pPr>
          </a:lstStyle>
          <a:p>
            <a:endParaRPr/>
          </a:p>
        </p:txBody>
      </p:sp>
      <p:pic>
        <p:nvPicPr>
          <p:cNvPr id="14" name="Google Shape;14;p2"/>
          <p:cNvPicPr preferRelativeResize="0"/>
          <p:nvPr/>
        </p:nvPicPr>
        <p:blipFill>
          <a:blip r:embed="rId2">
            <a:alphaModFix/>
          </a:blip>
          <a:stretch>
            <a:fillRect/>
          </a:stretch>
        </p:blipFill>
        <p:spPr>
          <a:xfrm>
            <a:off x="164592" y="4523578"/>
            <a:ext cx="1329394" cy="457200"/>
          </a:xfrm>
          <a:prstGeom prst="rect">
            <a:avLst/>
          </a:prstGeom>
          <a:noFill/>
          <a:ln>
            <a:noFill/>
          </a:ln>
        </p:spPr>
      </p:pic>
      <p:graphicFrame>
        <p:nvGraphicFramePr>
          <p:cNvPr id="4" name="Table 3">
            <a:extLst>
              <a:ext uri="{FF2B5EF4-FFF2-40B4-BE49-F238E27FC236}">
                <a16:creationId xmlns:a16="http://schemas.microsoft.com/office/drawing/2014/main" id="{9C37A2C8-F053-CFA5-72C7-D1B7AFD043D0}"/>
              </a:ext>
            </a:extLst>
          </p:cNvPr>
          <p:cNvGraphicFramePr>
            <a:graphicFrameLocks noGrp="1"/>
          </p:cNvGraphicFramePr>
          <p:nvPr userDrawn="1">
            <p:extLst>
              <p:ext uri="{D42A27DB-BD31-4B8C-83A1-F6EECF244321}">
                <p14:modId xmlns:p14="http://schemas.microsoft.com/office/powerpoint/2010/main" val="251012479"/>
              </p:ext>
            </p:extLst>
          </p:nvPr>
        </p:nvGraphicFramePr>
        <p:xfrm>
          <a:off x="1845398" y="4454995"/>
          <a:ext cx="7094899" cy="594360"/>
        </p:xfrm>
        <a:graphic>
          <a:graphicData uri="http://schemas.openxmlformats.org/drawingml/2006/table">
            <a:tbl>
              <a:tblPr firstRow="1" bandRow="1">
                <a:tableStyleId>{764D4AE7-FFBC-431D-9275-528F30A785D3}</a:tableStyleId>
              </a:tblPr>
              <a:tblGrid>
                <a:gridCol w="1189355">
                  <a:extLst>
                    <a:ext uri="{9D8B030D-6E8A-4147-A177-3AD203B41FA5}">
                      <a16:colId xmlns:a16="http://schemas.microsoft.com/office/drawing/2014/main" val="828907917"/>
                    </a:ext>
                  </a:extLst>
                </a:gridCol>
                <a:gridCol w="5905544">
                  <a:extLst>
                    <a:ext uri="{9D8B030D-6E8A-4147-A177-3AD203B41FA5}">
                      <a16:colId xmlns:a16="http://schemas.microsoft.com/office/drawing/2014/main" val="682174830"/>
                    </a:ext>
                  </a:extLst>
                </a:gridCol>
              </a:tblGrid>
              <a:tr h="18542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 sz="700" b="1">
                          <a:solidFill>
                            <a:srgbClr val="999999"/>
                          </a:solidFill>
                          <a:latin typeface="Helvetica Neue"/>
                          <a:ea typeface="Helvetica Neue"/>
                          <a:cs typeface="Helvetica Neue"/>
                          <a:sym typeface="Helvetica Neue"/>
                        </a:rPr>
                        <a:t>Project Brief</a:t>
                      </a:r>
                      <a:r>
                        <a:rPr lang="en-NL" sz="700" b="1">
                          <a:solidFill>
                            <a:srgbClr val="999999"/>
                          </a:solidFill>
                          <a:latin typeface="Helvetica Neue"/>
                          <a:ea typeface="Helvetica Neue"/>
                          <a:cs typeface="Helvetica Neue"/>
                          <a:sym typeface="Helvetica Neue"/>
                        </a:rPr>
                        <a:t>:</a:t>
                      </a:r>
                      <a:r>
                        <a:rPr lang="en" sz="700" b="1">
                          <a:solidFill>
                            <a:srgbClr val="999999"/>
                          </a:solidFill>
                          <a:latin typeface="Helvetica Neue"/>
                          <a:ea typeface="Helvetica Neue"/>
                          <a:cs typeface="Helvetica Neue"/>
                          <a:sym typeface="Helvetica Neue"/>
                        </a:rPr>
                        <a:t> </a:t>
                      </a:r>
                      <a:endParaRPr lang="en-NL" sz="700" b="1">
                        <a:solidFill>
                          <a:srgbClr val="999999"/>
                        </a:solidFill>
                        <a:latin typeface="Helvetica Neue"/>
                        <a:ea typeface="Helvetica Neue"/>
                        <a:cs typeface="Helvetica Neue"/>
                        <a:sym typeface="Helvetica Neue"/>
                      </a:endParaRPr>
                    </a:p>
                  </a:txBody>
                  <a:tcPr/>
                </a:tc>
                <a:tc>
                  <a:txBody>
                    <a:bodyPr/>
                    <a:lstStyle/>
                    <a:p>
                      <a:endParaRPr lang="en-GB" sz="700"/>
                    </a:p>
                  </a:txBody>
                  <a:tcPr/>
                </a:tc>
                <a:extLst>
                  <a:ext uri="{0D108BD9-81ED-4DB2-BD59-A6C34878D82A}">
                    <a16:rowId xmlns:a16="http://schemas.microsoft.com/office/drawing/2014/main" val="1000607423"/>
                  </a:ext>
                </a:extLst>
              </a:tr>
              <a:tr h="18542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700" b="1">
                          <a:solidFill>
                            <a:srgbClr val="999999"/>
                          </a:solidFill>
                          <a:latin typeface="Helvetica Neue"/>
                          <a:ea typeface="Helvetica Neue"/>
                          <a:cs typeface="Helvetica Neue"/>
                          <a:sym typeface="Helvetica Neue"/>
                        </a:rPr>
                        <a:t>Assessment Assignment:</a:t>
                      </a:r>
                      <a:endParaRPr lang="en-US" sz="700" b="1">
                        <a:latin typeface="Helvetica Neue"/>
                        <a:ea typeface="Helvetica Neue"/>
                        <a:cs typeface="Helvetica Neue"/>
                        <a:sym typeface="Helvetica Neue"/>
                      </a:endParaRPr>
                    </a:p>
                  </a:txBody>
                  <a:tcPr/>
                </a:tc>
                <a:tc>
                  <a:txBody>
                    <a:bodyPr/>
                    <a:lstStyle/>
                    <a:p>
                      <a:endParaRPr lang="en-GB" sz="700"/>
                    </a:p>
                  </a:txBody>
                  <a:tcPr/>
                </a:tc>
                <a:extLst>
                  <a:ext uri="{0D108BD9-81ED-4DB2-BD59-A6C34878D82A}">
                    <a16:rowId xmlns:a16="http://schemas.microsoft.com/office/drawing/2014/main" val="1233139930"/>
                  </a:ext>
                </a:extLst>
              </a:tr>
              <a:tr h="185420">
                <a:tc>
                  <a:txBody>
                    <a:bodyPr/>
                    <a:lstStyle/>
                    <a:p>
                      <a:r>
                        <a:rPr lang="en-NL" sz="700" b="1">
                          <a:solidFill>
                            <a:srgbClr val="999999"/>
                          </a:solidFill>
                          <a:latin typeface="Helvetica Neue"/>
                          <a:ea typeface="Helvetica Neue"/>
                          <a:cs typeface="Helvetica Neue"/>
                          <a:sym typeface="Helvetica Neue"/>
                        </a:rPr>
                        <a:t>Student </a:t>
                      </a:r>
                      <a:r>
                        <a:rPr lang="en" sz="700" b="1">
                          <a:solidFill>
                            <a:srgbClr val="999999"/>
                          </a:solidFill>
                          <a:latin typeface="Helvetica Neue"/>
                          <a:ea typeface="Helvetica Neue"/>
                          <a:cs typeface="Helvetica Neue"/>
                          <a:sym typeface="Helvetica Neue"/>
                        </a:rPr>
                        <a:t>GitHub Folder: </a:t>
                      </a:r>
                      <a:endParaRPr lang="en-GB" sz="700"/>
                    </a:p>
                  </a:txBody>
                  <a:tcPr/>
                </a:tc>
                <a:tc>
                  <a:txBody>
                    <a:bodyPr/>
                    <a:lstStyle/>
                    <a:p>
                      <a:endParaRPr lang="en-GB" sz="700"/>
                    </a:p>
                  </a:txBody>
                  <a:tcPr/>
                </a:tc>
                <a:extLst>
                  <a:ext uri="{0D108BD9-81ED-4DB2-BD59-A6C34878D82A}">
                    <a16:rowId xmlns:a16="http://schemas.microsoft.com/office/drawing/2014/main" val="1618248095"/>
                  </a:ext>
                </a:extLst>
              </a:tr>
            </a:tbl>
          </a:graphicData>
        </a:graphic>
      </p:graphicFrame>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p:cSld name="CUSTOM_1_2">
    <p:bg>
      <p:bgPr>
        <a:solidFill>
          <a:srgbClr val="666666"/>
        </a:solidFill>
        <a:effectLst/>
      </p:bgPr>
    </p:bg>
    <p:spTree>
      <p:nvGrpSpPr>
        <p:cNvPr id="1" name="Shape 17"/>
        <p:cNvGrpSpPr/>
        <p:nvPr/>
      </p:nvGrpSpPr>
      <p:grpSpPr>
        <a:xfrm>
          <a:off x="0" y="0"/>
          <a:ext cx="0" cy="0"/>
          <a:chOff x="0" y="0"/>
          <a:chExt cx="0" cy="0"/>
        </a:xfrm>
      </p:grpSpPr>
      <p:sp>
        <p:nvSpPr>
          <p:cNvPr id="18" name="Google Shape;18;p3"/>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6000"/>
              <a:buFont typeface="Roboto Thin"/>
              <a:buNone/>
              <a:defRPr sz="6000" b="0">
                <a:solidFill>
                  <a:srgbClr val="FFFFFF"/>
                </a:solidFill>
                <a:latin typeface="Roboto Thin"/>
                <a:ea typeface="Roboto Thin"/>
                <a:cs typeface="Roboto Thin"/>
                <a:sym typeface="Roboto Thin"/>
              </a:defRPr>
            </a:lvl1pPr>
            <a:lvl2pPr lvl="1" algn="ctr" rtl="0">
              <a:spcBef>
                <a:spcPts val="0"/>
              </a:spcBef>
              <a:spcAft>
                <a:spcPts val="0"/>
              </a:spcAft>
              <a:buClr>
                <a:srgbClr val="FFFFFF"/>
              </a:buClr>
              <a:buSzPts val="3600"/>
              <a:buNone/>
              <a:defRPr sz="3600">
                <a:solidFill>
                  <a:srgbClr val="FFFFFF"/>
                </a:solidFill>
              </a:defRPr>
            </a:lvl2pPr>
            <a:lvl3pPr lvl="2" algn="ctr" rtl="0">
              <a:spcBef>
                <a:spcPts val="0"/>
              </a:spcBef>
              <a:spcAft>
                <a:spcPts val="0"/>
              </a:spcAft>
              <a:buClr>
                <a:srgbClr val="FFFFFF"/>
              </a:buClr>
              <a:buSzPts val="3600"/>
              <a:buNone/>
              <a:defRPr sz="3600">
                <a:solidFill>
                  <a:srgbClr val="FFFFFF"/>
                </a:solidFill>
              </a:defRPr>
            </a:lvl3pPr>
            <a:lvl4pPr lvl="3" algn="ctr" rtl="0">
              <a:spcBef>
                <a:spcPts val="0"/>
              </a:spcBef>
              <a:spcAft>
                <a:spcPts val="0"/>
              </a:spcAft>
              <a:buClr>
                <a:srgbClr val="FFFFFF"/>
              </a:buClr>
              <a:buSzPts val="3600"/>
              <a:buNone/>
              <a:defRPr sz="3600">
                <a:solidFill>
                  <a:srgbClr val="FFFFFF"/>
                </a:solidFill>
              </a:defRPr>
            </a:lvl4pPr>
            <a:lvl5pPr lvl="4" algn="ctr" rtl="0">
              <a:spcBef>
                <a:spcPts val="0"/>
              </a:spcBef>
              <a:spcAft>
                <a:spcPts val="0"/>
              </a:spcAft>
              <a:buClr>
                <a:srgbClr val="FFFFFF"/>
              </a:buClr>
              <a:buSzPts val="3600"/>
              <a:buNone/>
              <a:defRPr sz="3600">
                <a:solidFill>
                  <a:srgbClr val="FFFFFF"/>
                </a:solidFill>
              </a:defRPr>
            </a:lvl5pPr>
            <a:lvl6pPr lvl="5" algn="ctr" rtl="0">
              <a:spcBef>
                <a:spcPts val="0"/>
              </a:spcBef>
              <a:spcAft>
                <a:spcPts val="0"/>
              </a:spcAft>
              <a:buClr>
                <a:srgbClr val="FFFFFF"/>
              </a:buClr>
              <a:buSzPts val="3600"/>
              <a:buNone/>
              <a:defRPr sz="3600">
                <a:solidFill>
                  <a:srgbClr val="FFFFFF"/>
                </a:solidFill>
              </a:defRPr>
            </a:lvl6pPr>
            <a:lvl7pPr lvl="6" algn="ctr" rtl="0">
              <a:spcBef>
                <a:spcPts val="0"/>
              </a:spcBef>
              <a:spcAft>
                <a:spcPts val="0"/>
              </a:spcAft>
              <a:buClr>
                <a:srgbClr val="FFFFFF"/>
              </a:buClr>
              <a:buSzPts val="3600"/>
              <a:buNone/>
              <a:defRPr sz="3600">
                <a:solidFill>
                  <a:srgbClr val="FFFFFF"/>
                </a:solidFill>
              </a:defRPr>
            </a:lvl7pPr>
            <a:lvl8pPr lvl="7" algn="ctr" rtl="0">
              <a:spcBef>
                <a:spcPts val="0"/>
              </a:spcBef>
              <a:spcAft>
                <a:spcPts val="0"/>
              </a:spcAft>
              <a:buClr>
                <a:srgbClr val="FFFFFF"/>
              </a:buClr>
              <a:buSzPts val="3600"/>
              <a:buNone/>
              <a:defRPr sz="3600">
                <a:solidFill>
                  <a:srgbClr val="FFFFFF"/>
                </a:solidFill>
              </a:defRPr>
            </a:lvl8pPr>
            <a:lvl9pPr lvl="8" algn="ctr" rtl="0">
              <a:spcBef>
                <a:spcPts val="0"/>
              </a:spcBef>
              <a:spcAft>
                <a:spcPts val="0"/>
              </a:spcAft>
              <a:buClr>
                <a:srgbClr val="FFFFFF"/>
              </a:buClr>
              <a:buSzPts val="3600"/>
              <a:buNone/>
              <a:defRPr sz="3600">
                <a:solidFill>
                  <a:srgbClr val="FFFFFF"/>
                </a:solidFill>
              </a:defRPr>
            </a:lvl9pPr>
          </a:lstStyle>
          <a:p>
            <a:endParaRPr/>
          </a:p>
        </p:txBody>
      </p:sp>
      <p:sp>
        <p:nvSpPr>
          <p:cNvPr id="19" name="Google Shape;19;p3"/>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1pPr>
            <a:lvl2pPr lvl="1"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2pPr>
            <a:lvl3pPr lvl="2"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3pPr>
            <a:lvl4pPr lvl="3"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4pPr>
            <a:lvl5pPr lvl="4"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5pPr>
            <a:lvl6pPr lvl="5"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6pPr>
            <a:lvl7pPr lvl="6"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7pPr>
            <a:lvl8pPr lvl="7"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8pPr>
            <a:lvl9pPr lvl="8" algn="ctr" rtl="0">
              <a:lnSpc>
                <a:spcPct val="100000"/>
              </a:lnSpc>
              <a:spcBef>
                <a:spcPts val="0"/>
              </a:spcBef>
              <a:spcAft>
                <a:spcPts val="0"/>
              </a:spcAft>
              <a:buClr>
                <a:srgbClr val="FFFFFF"/>
              </a:buClr>
              <a:buSzPts val="3000"/>
              <a:buFont typeface="Roboto Thin"/>
              <a:buNone/>
              <a:defRPr sz="3000">
                <a:solidFill>
                  <a:srgbClr val="FFFFFF"/>
                </a:solidFill>
                <a:latin typeface="Roboto Thin"/>
                <a:ea typeface="Roboto Thin"/>
                <a:cs typeface="Roboto Thin"/>
                <a:sym typeface="Roboto Thin"/>
              </a:defRPr>
            </a:lvl9pPr>
          </a:lstStyle>
          <a:p>
            <a:endParaRPr/>
          </a:p>
        </p:txBody>
      </p:sp>
      <p:sp>
        <p:nvSpPr>
          <p:cNvPr id="2" name="Rectangle 1">
            <a:extLst>
              <a:ext uri="{FF2B5EF4-FFF2-40B4-BE49-F238E27FC236}">
                <a16:creationId xmlns:a16="http://schemas.microsoft.com/office/drawing/2014/main" id="{ED2E902F-3793-054A-A49F-5F75EC799503}"/>
              </a:ext>
            </a:extLst>
          </p:cNvPr>
          <p:cNvSpPr/>
          <p:nvPr userDrawn="1"/>
        </p:nvSpPr>
        <p:spPr>
          <a:xfrm>
            <a:off x="0" y="4393870"/>
            <a:ext cx="9144000" cy="7496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oogle Shape;20;p3"/>
          <p:cNvPicPr preferRelativeResize="0"/>
          <p:nvPr/>
        </p:nvPicPr>
        <p:blipFill>
          <a:blip r:embed="rId2">
            <a:alphaModFix/>
          </a:blip>
          <a:stretch>
            <a:fillRect/>
          </a:stretch>
        </p:blipFill>
        <p:spPr>
          <a:xfrm>
            <a:off x="7214616" y="4434840"/>
            <a:ext cx="1691640" cy="58267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Sub-Header">
  <p:cSld name="CUSTOM_1_2_1">
    <p:bg>
      <p:bgPr>
        <a:solidFill>
          <a:srgbClr val="666666"/>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Font typeface="Roboto Thin"/>
              <a:buNone/>
              <a:defRPr sz="6000" b="0">
                <a:latin typeface="Roboto Thin"/>
                <a:ea typeface="Roboto Thin"/>
                <a:cs typeface="Roboto Thin"/>
                <a:sym typeface="Roboto Thin"/>
              </a:defRPr>
            </a:lvl1pPr>
            <a:lvl2pPr lvl="1" algn="ctr" rtl="0">
              <a:spcBef>
                <a:spcPts val="0"/>
              </a:spcBef>
              <a:spcAft>
                <a:spcPts val="0"/>
              </a:spcAft>
              <a:buClr>
                <a:srgbClr val="434343"/>
              </a:buClr>
              <a:buSzPts val="3600"/>
              <a:buNone/>
              <a:defRPr sz="3600">
                <a:solidFill>
                  <a:srgbClr val="434343"/>
                </a:solidFill>
              </a:defRPr>
            </a:lvl2pPr>
            <a:lvl3pPr lvl="2" algn="ctr" rtl="0">
              <a:spcBef>
                <a:spcPts val="0"/>
              </a:spcBef>
              <a:spcAft>
                <a:spcPts val="0"/>
              </a:spcAft>
              <a:buClr>
                <a:srgbClr val="434343"/>
              </a:buClr>
              <a:buSzPts val="3600"/>
              <a:buNone/>
              <a:defRPr sz="3600">
                <a:solidFill>
                  <a:srgbClr val="434343"/>
                </a:solidFill>
              </a:defRPr>
            </a:lvl3pPr>
            <a:lvl4pPr lvl="3" algn="ctr" rtl="0">
              <a:spcBef>
                <a:spcPts val="0"/>
              </a:spcBef>
              <a:spcAft>
                <a:spcPts val="0"/>
              </a:spcAft>
              <a:buClr>
                <a:srgbClr val="434343"/>
              </a:buClr>
              <a:buSzPts val="3600"/>
              <a:buNone/>
              <a:defRPr sz="3600">
                <a:solidFill>
                  <a:srgbClr val="434343"/>
                </a:solidFill>
              </a:defRPr>
            </a:lvl4pPr>
            <a:lvl5pPr lvl="4" algn="ctr" rtl="0">
              <a:spcBef>
                <a:spcPts val="0"/>
              </a:spcBef>
              <a:spcAft>
                <a:spcPts val="0"/>
              </a:spcAft>
              <a:buClr>
                <a:srgbClr val="434343"/>
              </a:buClr>
              <a:buSzPts val="3600"/>
              <a:buNone/>
              <a:defRPr sz="3600">
                <a:solidFill>
                  <a:srgbClr val="434343"/>
                </a:solidFill>
              </a:defRPr>
            </a:lvl5pPr>
            <a:lvl6pPr lvl="5" algn="ctr" rtl="0">
              <a:spcBef>
                <a:spcPts val="0"/>
              </a:spcBef>
              <a:spcAft>
                <a:spcPts val="0"/>
              </a:spcAft>
              <a:buClr>
                <a:srgbClr val="434343"/>
              </a:buClr>
              <a:buSzPts val="3600"/>
              <a:buNone/>
              <a:defRPr sz="3600">
                <a:solidFill>
                  <a:srgbClr val="434343"/>
                </a:solidFill>
              </a:defRPr>
            </a:lvl6pPr>
            <a:lvl7pPr lvl="6" algn="ctr" rtl="0">
              <a:spcBef>
                <a:spcPts val="0"/>
              </a:spcBef>
              <a:spcAft>
                <a:spcPts val="0"/>
              </a:spcAft>
              <a:buClr>
                <a:srgbClr val="434343"/>
              </a:buClr>
              <a:buSzPts val="3600"/>
              <a:buNone/>
              <a:defRPr sz="3600">
                <a:solidFill>
                  <a:srgbClr val="434343"/>
                </a:solidFill>
              </a:defRPr>
            </a:lvl7pPr>
            <a:lvl8pPr lvl="7" algn="ctr" rtl="0">
              <a:spcBef>
                <a:spcPts val="0"/>
              </a:spcBef>
              <a:spcAft>
                <a:spcPts val="0"/>
              </a:spcAft>
              <a:buClr>
                <a:srgbClr val="434343"/>
              </a:buClr>
              <a:buSzPts val="3600"/>
              <a:buNone/>
              <a:defRPr sz="3600">
                <a:solidFill>
                  <a:srgbClr val="434343"/>
                </a:solidFill>
              </a:defRPr>
            </a:lvl8pPr>
            <a:lvl9pPr lvl="8" algn="ctr" rtl="0">
              <a:spcBef>
                <a:spcPts val="0"/>
              </a:spcBef>
              <a:spcAft>
                <a:spcPts val="0"/>
              </a:spcAft>
              <a:buClr>
                <a:srgbClr val="434343"/>
              </a:buClr>
              <a:buSzPts val="3600"/>
              <a:buNone/>
              <a:defRPr sz="3600">
                <a:solidFill>
                  <a:srgbClr val="434343"/>
                </a:solidFill>
              </a:defRPr>
            </a:lvl9pPr>
          </a:lstStyle>
          <a:p>
            <a:endParaRPr/>
          </a:p>
        </p:txBody>
      </p:sp>
      <p:sp>
        <p:nvSpPr>
          <p:cNvPr id="23" name="Google Shape;23;p4"/>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1pPr>
            <a:lvl2pPr lvl="1"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2pPr>
            <a:lvl3pPr lvl="2"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3pPr>
            <a:lvl4pPr lvl="3"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4pPr>
            <a:lvl5pPr lvl="4"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5pPr>
            <a:lvl6pPr lvl="5"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6pPr>
            <a:lvl7pPr lvl="6"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7pPr>
            <a:lvl8pPr lvl="7"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8pPr>
            <a:lvl9pPr lvl="8" algn="ctr" rtl="0">
              <a:lnSpc>
                <a:spcPct val="100000"/>
              </a:lnSpc>
              <a:spcBef>
                <a:spcPts val="0"/>
              </a:spcBef>
              <a:spcAft>
                <a:spcPts val="0"/>
              </a:spcAft>
              <a:buSzPts val="3000"/>
              <a:buFont typeface="Roboto Thin"/>
              <a:buNone/>
              <a:defRPr sz="3000">
                <a:latin typeface="Roboto Thin"/>
                <a:ea typeface="Roboto Thin"/>
                <a:cs typeface="Roboto Thin"/>
                <a:sym typeface="Roboto Thin"/>
              </a:defRPr>
            </a:lvl9pPr>
          </a:lstStyle>
          <a:p>
            <a:endParaRPr/>
          </a:p>
        </p:txBody>
      </p:sp>
      <p:sp>
        <p:nvSpPr>
          <p:cNvPr id="24" name="Google Shape;24;p4"/>
          <p:cNvSpPr txBox="1">
            <a:spLocks noGrp="1"/>
          </p:cNvSpPr>
          <p:nvPr>
            <p:ph type="subTitle" idx="2"/>
          </p:nvPr>
        </p:nvSpPr>
        <p:spPr>
          <a:xfrm>
            <a:off x="3200400" y="3353563"/>
            <a:ext cx="5486400" cy="6858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000"/>
              <a:buFont typeface="Roboto Light"/>
              <a:buNone/>
              <a:defRPr>
                <a:latin typeface="Roboto Light"/>
                <a:ea typeface="Roboto Light"/>
                <a:cs typeface="Roboto Light"/>
                <a:sym typeface="Roboto Light"/>
              </a:defRPr>
            </a:lvl1pPr>
            <a:lvl2pPr lvl="1"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2pPr>
            <a:lvl3pPr lvl="2"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3pPr>
            <a:lvl4pPr lvl="3"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4pPr>
            <a:lvl5pPr lvl="4"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5pPr>
            <a:lvl6pPr lvl="5"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6pPr>
            <a:lvl7pPr lvl="6"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7pPr>
            <a:lvl8pPr lvl="7"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8pPr>
            <a:lvl9pPr lvl="8" algn="r" rtl="0">
              <a:lnSpc>
                <a:spcPct val="100000"/>
              </a:lnSpc>
              <a:spcBef>
                <a:spcPts val="0"/>
              </a:spcBef>
              <a:spcAft>
                <a:spcPts val="0"/>
              </a:spcAft>
              <a:buSzPts val="3000"/>
              <a:buFont typeface="Roboto Thin"/>
              <a:buNone/>
              <a:defRPr sz="3000">
                <a:latin typeface="Roboto Thin"/>
                <a:ea typeface="Roboto Thin"/>
                <a:cs typeface="Roboto Thin"/>
                <a:sym typeface="Roboto Thin"/>
              </a:defRPr>
            </a:lvl9pPr>
          </a:lstStyle>
          <a:p>
            <a:endParaRPr/>
          </a:p>
        </p:txBody>
      </p:sp>
      <p:sp>
        <p:nvSpPr>
          <p:cNvPr id="25" name="Google Shape;25;p4"/>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sz="40000">
              <a:solidFill>
                <a:srgbClr val="B7B7B7"/>
              </a:solidFill>
              <a:latin typeface="Roboto"/>
              <a:ea typeface="Roboto"/>
              <a:cs typeface="Roboto"/>
              <a:sym typeface="Robot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efault">
  <p:cSld name="CUSTOM_2_4">
    <p:spTree>
      <p:nvGrpSpPr>
        <p:cNvPr id="1" name="Shape 26"/>
        <p:cNvGrpSpPr/>
        <p:nvPr/>
      </p:nvGrpSpPr>
      <p:grpSpPr>
        <a:xfrm>
          <a:off x="0" y="0"/>
          <a:ext cx="0" cy="0"/>
          <a:chOff x="0" y="0"/>
          <a:chExt cx="0" cy="0"/>
        </a:xfrm>
      </p:grpSpPr>
      <p:sp>
        <p:nvSpPr>
          <p:cNvPr id="27" name="Google Shape;27;p5"/>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29" name="Google Shape;29;p5"/>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0" name="Google Shape;30;p5"/>
          <p:cNvSpPr txBox="1">
            <a:spLocks noGrp="1"/>
          </p:cNvSpPr>
          <p:nvPr>
            <p:ph type="subTitle" idx="1"/>
          </p:nvPr>
        </p:nvSpPr>
        <p:spPr>
          <a:xfrm>
            <a:off x="182880" y="667512"/>
            <a:ext cx="5486400" cy="402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31" name="Google Shape;31;p5"/>
          <p:cNvSpPr txBox="1">
            <a:spLocks noGrp="1"/>
          </p:cNvSpPr>
          <p:nvPr>
            <p:ph type="body" idx="3"/>
          </p:nvPr>
        </p:nvSpPr>
        <p:spPr>
          <a:xfrm>
            <a:off x="182880" y="1069848"/>
            <a:ext cx="5486400" cy="38952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sz="1000"/>
            </a:lvl1pPr>
            <a:lvl2pPr marL="914400" lvl="1" indent="-292100" rtl="0">
              <a:spcBef>
                <a:spcPts val="800"/>
              </a:spcBef>
              <a:spcAft>
                <a:spcPts val="0"/>
              </a:spcAft>
              <a:buSzPts val="1000"/>
              <a:buChar char="○"/>
              <a:defRPr sz="1000"/>
            </a:lvl2pPr>
            <a:lvl3pPr marL="1371600" lvl="2" indent="-292100" rtl="0">
              <a:spcBef>
                <a:spcPts val="800"/>
              </a:spcBef>
              <a:spcAft>
                <a:spcPts val="0"/>
              </a:spcAft>
              <a:buSzPts val="1000"/>
              <a:buChar char="■"/>
              <a:defRPr sz="1000"/>
            </a:lvl3pPr>
            <a:lvl4pPr marL="1828800" lvl="3" indent="-292100" rtl="0">
              <a:spcBef>
                <a:spcPts val="800"/>
              </a:spcBef>
              <a:spcAft>
                <a:spcPts val="0"/>
              </a:spcAft>
              <a:buSzPts val="1000"/>
              <a:buChar char="●"/>
              <a:defRPr sz="1000"/>
            </a:lvl4pPr>
            <a:lvl5pPr marL="2286000" lvl="4" indent="-292100" rtl="0">
              <a:spcBef>
                <a:spcPts val="800"/>
              </a:spcBef>
              <a:spcAft>
                <a:spcPts val="0"/>
              </a:spcAft>
              <a:buSzPts val="1000"/>
              <a:buChar char="○"/>
              <a:defRPr sz="1000"/>
            </a:lvl5pPr>
            <a:lvl6pPr marL="2743200" lvl="5" indent="-292100" rtl="0">
              <a:spcBef>
                <a:spcPts val="800"/>
              </a:spcBef>
              <a:spcAft>
                <a:spcPts val="0"/>
              </a:spcAft>
              <a:buSzPts val="1000"/>
              <a:buChar char="■"/>
              <a:defRPr sz="1000"/>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sz="1000"/>
            </a:lvl8pPr>
            <a:lvl9pPr marL="4114800" lvl="8" indent="-292100" rtl="0">
              <a:spcBef>
                <a:spcPts val="800"/>
              </a:spcBef>
              <a:spcAft>
                <a:spcPts val="800"/>
              </a:spcAft>
              <a:buSzPts val="1000"/>
              <a:buChar char="■"/>
              <a:defRPr sz="1000"/>
            </a:lvl9pPr>
          </a:lstStyle>
          <a:p>
            <a:endParaRPr/>
          </a:p>
        </p:txBody>
      </p:sp>
      <p:sp>
        <p:nvSpPr>
          <p:cNvPr id="32" name="Google Shape;32;p5"/>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LO's" userDrawn="1">
  <p:cSld name="CUSTOM_2_3_1">
    <p:spTree>
      <p:nvGrpSpPr>
        <p:cNvPr id="1" name="Shape 33"/>
        <p:cNvGrpSpPr/>
        <p:nvPr/>
      </p:nvGrpSpPr>
      <p:grpSpPr>
        <a:xfrm>
          <a:off x="0" y="0"/>
          <a:ext cx="0" cy="0"/>
          <a:chOff x="0" y="0"/>
          <a:chExt cx="0" cy="0"/>
        </a:xfrm>
      </p:grpSpPr>
      <p:sp>
        <p:nvSpPr>
          <p:cNvPr id="34" name="Google Shape;34;p6"/>
          <p:cNvSpPr/>
          <p:nvPr/>
        </p:nvSpPr>
        <p:spPr>
          <a:xfrm>
            <a:off x="0" y="571460"/>
            <a:ext cx="9144000" cy="4938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6"/>
          <p:cNvSpPr/>
          <p:nvPr/>
        </p:nvSpPr>
        <p:spPr>
          <a:xfrm>
            <a:off x="0" y="0"/>
            <a:ext cx="9144000" cy="5727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6"/>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7" name="Google Shape;37;p6"/>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9" name="Google Shape;39;p6"/>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40" name="Google Shape;40;p6"/>
          <p:cNvSpPr txBox="1">
            <a:spLocks noGrp="1"/>
          </p:cNvSpPr>
          <p:nvPr>
            <p:ph type="title" idx="4"/>
          </p:nvPr>
        </p:nvSpPr>
        <p:spPr>
          <a:xfrm>
            <a:off x="68250" y="576000"/>
            <a:ext cx="8397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3600">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1" name="Google Shape;41;p6"/>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900" i="1">
                <a:solidFill>
                  <a:srgbClr val="FFFFFF"/>
                </a:solidFill>
              </a:defRPr>
            </a:lvl1pPr>
            <a:lvl2pPr lvl="1" rtl="0">
              <a:spcBef>
                <a:spcPts val="0"/>
              </a:spcBef>
              <a:spcAft>
                <a:spcPts val="0"/>
              </a:spcAft>
              <a:buNone/>
              <a:defRPr>
                <a:solidFill>
                  <a:srgbClr val="FFFFFF"/>
                </a:solidFill>
              </a:defRPr>
            </a:lvl2pPr>
            <a:lvl3pPr lvl="2" rtl="0">
              <a:spcBef>
                <a:spcPts val="0"/>
              </a:spcBef>
              <a:spcAft>
                <a:spcPts val="0"/>
              </a:spcAft>
              <a:buNone/>
              <a:defRPr>
                <a:solidFill>
                  <a:srgbClr val="FFFFFF"/>
                </a:solidFill>
              </a:defRPr>
            </a:lvl3pPr>
            <a:lvl4pPr lvl="3" rtl="0">
              <a:spcBef>
                <a:spcPts val="0"/>
              </a:spcBef>
              <a:spcAft>
                <a:spcPts val="0"/>
              </a:spcAft>
              <a:buNone/>
              <a:defRPr>
                <a:solidFill>
                  <a:srgbClr val="FFFFFF"/>
                </a:solidFill>
              </a:defRPr>
            </a:lvl4pPr>
            <a:lvl5pPr lvl="4" rtl="0">
              <a:spcBef>
                <a:spcPts val="0"/>
              </a:spcBef>
              <a:spcAft>
                <a:spcPts val="0"/>
              </a:spcAft>
              <a:buNone/>
              <a:defRPr>
                <a:solidFill>
                  <a:srgbClr val="FFFFFF"/>
                </a:solidFill>
              </a:defRPr>
            </a:lvl5pPr>
            <a:lvl6pPr lvl="5" rtl="0">
              <a:spcBef>
                <a:spcPts val="0"/>
              </a:spcBef>
              <a:spcAft>
                <a:spcPts val="0"/>
              </a:spcAft>
              <a:buNone/>
              <a:defRPr>
                <a:solidFill>
                  <a:srgbClr val="FFFFFF"/>
                </a:solidFill>
              </a:defRPr>
            </a:lvl6pPr>
            <a:lvl7pPr lvl="6" rtl="0">
              <a:spcBef>
                <a:spcPts val="0"/>
              </a:spcBef>
              <a:spcAft>
                <a:spcPts val="0"/>
              </a:spcAft>
              <a:buNone/>
              <a:defRPr>
                <a:solidFill>
                  <a:srgbClr val="FFFFFF"/>
                </a:solidFill>
              </a:defRPr>
            </a:lvl7pPr>
            <a:lvl8pPr lvl="7" rtl="0">
              <a:spcBef>
                <a:spcPts val="0"/>
              </a:spcBef>
              <a:spcAft>
                <a:spcPts val="0"/>
              </a:spcAft>
              <a:buNone/>
              <a:defRPr>
                <a:solidFill>
                  <a:srgbClr val="FFFFFF"/>
                </a:solidFill>
              </a:defRPr>
            </a:lvl8pPr>
            <a:lvl9pPr lvl="8" rtl="0">
              <a:spcBef>
                <a:spcPts val="0"/>
              </a:spcBef>
              <a:spcAft>
                <a:spcPts val="0"/>
              </a:spcAft>
              <a:buNone/>
              <a:defRPr>
                <a:solidFill>
                  <a:srgbClr val="FFFFFF"/>
                </a:solidFill>
              </a:defRPr>
            </a:lvl9pPr>
          </a:lstStyle>
          <a:p>
            <a:endParaRPr/>
          </a:p>
        </p:txBody>
      </p:sp>
      <p:sp>
        <p:nvSpPr>
          <p:cNvPr id="42" name="Google Shape;42;p6"/>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lvl1pPr lvl="0" rtl="0">
              <a:spcBef>
                <a:spcPts val="0"/>
              </a:spcBef>
              <a:spcAft>
                <a:spcPts val="0"/>
              </a:spcAft>
              <a:buNone/>
              <a:defRPr sz="1200"/>
            </a:lvl1pPr>
            <a:lvl2pPr lvl="1" rtl="0">
              <a:spcBef>
                <a:spcPts val="0"/>
              </a:spcBef>
              <a:spcAft>
                <a:spcPts val="0"/>
              </a:spcAft>
              <a:buNone/>
              <a:defRPr sz="900"/>
            </a:lvl2pPr>
            <a:lvl3pPr lvl="2" rtl="0">
              <a:spcBef>
                <a:spcPts val="0"/>
              </a:spcBef>
              <a:spcAft>
                <a:spcPts val="0"/>
              </a:spcAft>
              <a:buNone/>
              <a:defRPr sz="900"/>
            </a:lvl3pPr>
            <a:lvl4pPr lvl="3" rtl="0">
              <a:spcBef>
                <a:spcPts val="0"/>
              </a:spcBef>
              <a:spcAft>
                <a:spcPts val="0"/>
              </a:spcAft>
              <a:buNone/>
              <a:defRPr sz="900"/>
            </a:lvl4pPr>
            <a:lvl5pPr lvl="4" rtl="0">
              <a:spcBef>
                <a:spcPts val="0"/>
              </a:spcBef>
              <a:spcAft>
                <a:spcPts val="0"/>
              </a:spcAft>
              <a:buNone/>
              <a:defRPr sz="900"/>
            </a:lvl5pPr>
            <a:lvl6pPr lvl="5" rtl="0">
              <a:spcBef>
                <a:spcPts val="0"/>
              </a:spcBef>
              <a:spcAft>
                <a:spcPts val="0"/>
              </a:spcAft>
              <a:buNone/>
              <a:defRPr sz="900"/>
            </a:lvl6pPr>
            <a:lvl7pPr lvl="6" rtl="0">
              <a:spcBef>
                <a:spcPts val="0"/>
              </a:spcBef>
              <a:spcAft>
                <a:spcPts val="0"/>
              </a:spcAft>
              <a:buNone/>
              <a:defRPr sz="900"/>
            </a:lvl7pPr>
            <a:lvl8pPr lvl="7" rtl="0">
              <a:spcBef>
                <a:spcPts val="0"/>
              </a:spcBef>
              <a:spcAft>
                <a:spcPts val="0"/>
              </a:spcAft>
              <a:buNone/>
              <a:defRPr sz="900"/>
            </a:lvl8pPr>
            <a:lvl9pPr lvl="8" rtl="0">
              <a:spcBef>
                <a:spcPts val="0"/>
              </a:spcBef>
              <a:spcAft>
                <a:spcPts val="0"/>
              </a:spcAft>
              <a:buNone/>
              <a:defRPr sz="9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3"/>
        <p:cNvGrpSpPr/>
        <p:nvPr/>
      </p:nvGrpSpPr>
      <p:grpSpPr>
        <a:xfrm>
          <a:off x="0" y="0"/>
          <a:ext cx="0" cy="0"/>
          <a:chOff x="0" y="0"/>
          <a:chExt cx="0" cy="0"/>
        </a:xfrm>
      </p:grpSpPr>
      <p:sp>
        <p:nvSpPr>
          <p:cNvPr id="84" name="Google Shape;84;p11"/>
          <p:cNvSpPr/>
          <p:nvPr/>
        </p:nvSpPr>
        <p:spPr>
          <a:xfrm>
            <a:off x="3108960" y="-1200"/>
            <a:ext cx="6035100" cy="51435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b="1"/>
          </a:p>
        </p:txBody>
      </p:sp>
      <p:sp>
        <p:nvSpPr>
          <p:cNvPr id="85" name="Google Shape;85;p11"/>
          <p:cNvSpPr txBox="1">
            <a:spLocks noGrp="1"/>
          </p:cNvSpPr>
          <p:nvPr>
            <p:ph type="title"/>
          </p:nvPr>
        </p:nvSpPr>
        <p:spPr>
          <a:xfrm>
            <a:off x="265500" y="308799"/>
            <a:ext cx="4045200" cy="15519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3800"/>
              <a:buNone/>
              <a:defRPr sz="3800"/>
            </a:lvl2pPr>
            <a:lvl3pPr lvl="2" algn="ctr" rtl="0">
              <a:spcBef>
                <a:spcPts val="0"/>
              </a:spcBef>
              <a:spcAft>
                <a:spcPts val="0"/>
              </a:spcAft>
              <a:buSzPts val="3800"/>
              <a:buNone/>
              <a:defRPr sz="3800"/>
            </a:lvl3pPr>
            <a:lvl4pPr lvl="3" algn="ctr" rtl="0">
              <a:spcBef>
                <a:spcPts val="0"/>
              </a:spcBef>
              <a:spcAft>
                <a:spcPts val="0"/>
              </a:spcAft>
              <a:buSzPts val="3800"/>
              <a:buNone/>
              <a:defRPr sz="3800"/>
            </a:lvl4pPr>
            <a:lvl5pPr lvl="4" algn="ctr" rtl="0">
              <a:spcBef>
                <a:spcPts val="0"/>
              </a:spcBef>
              <a:spcAft>
                <a:spcPts val="0"/>
              </a:spcAft>
              <a:buSzPts val="3800"/>
              <a:buNone/>
              <a:defRPr sz="3800"/>
            </a:lvl5pPr>
            <a:lvl6pPr lvl="5" algn="ctr" rtl="0">
              <a:spcBef>
                <a:spcPts val="0"/>
              </a:spcBef>
              <a:spcAft>
                <a:spcPts val="0"/>
              </a:spcAft>
              <a:buSzPts val="3800"/>
              <a:buNone/>
              <a:defRPr sz="3800"/>
            </a:lvl6pPr>
            <a:lvl7pPr lvl="6" algn="ctr" rtl="0">
              <a:spcBef>
                <a:spcPts val="0"/>
              </a:spcBef>
              <a:spcAft>
                <a:spcPts val="0"/>
              </a:spcAft>
              <a:buSzPts val="3800"/>
              <a:buNone/>
              <a:defRPr sz="3800"/>
            </a:lvl7pPr>
            <a:lvl8pPr lvl="7" algn="ctr" rtl="0">
              <a:spcBef>
                <a:spcPts val="0"/>
              </a:spcBef>
              <a:spcAft>
                <a:spcPts val="0"/>
              </a:spcAft>
              <a:buSzPts val="3800"/>
              <a:buNone/>
              <a:defRPr sz="3800"/>
            </a:lvl8pPr>
            <a:lvl9pPr lvl="8" algn="ctr" rtl="0">
              <a:spcBef>
                <a:spcPts val="0"/>
              </a:spcBef>
              <a:spcAft>
                <a:spcPts val="0"/>
              </a:spcAft>
              <a:buSzPts val="3800"/>
              <a:buNone/>
              <a:defRPr sz="3800"/>
            </a:lvl9pPr>
          </a:lstStyle>
          <a:p>
            <a:endParaRPr/>
          </a:p>
        </p:txBody>
      </p:sp>
      <p:sp>
        <p:nvSpPr>
          <p:cNvPr id="86" name="Google Shape;86;p11"/>
          <p:cNvSpPr txBox="1">
            <a:spLocks noGrp="1"/>
          </p:cNvSpPr>
          <p:nvPr>
            <p:ph type="subTitle" idx="1"/>
          </p:nvPr>
        </p:nvSpPr>
        <p:spPr>
          <a:xfrm>
            <a:off x="265500" y="1860700"/>
            <a:ext cx="4045200" cy="30129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000"/>
              <a:buNone/>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
        <p:nvSpPr>
          <p:cNvPr id="87" name="Google Shape;87;p11"/>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292100" rtl="0">
              <a:spcBef>
                <a:spcPts val="0"/>
              </a:spcBef>
              <a:spcAft>
                <a:spcPts val="0"/>
              </a:spcAft>
              <a:buClr>
                <a:schemeClr val="lt1"/>
              </a:buClr>
              <a:buSzPts val="1000"/>
              <a:buChar char="●"/>
              <a:defRPr>
                <a:solidFill>
                  <a:schemeClr val="lt1"/>
                </a:solidFill>
              </a:defRPr>
            </a:lvl1pPr>
            <a:lvl2pPr marL="914400" lvl="1" indent="-292100" rtl="0">
              <a:spcBef>
                <a:spcPts val="800"/>
              </a:spcBef>
              <a:spcAft>
                <a:spcPts val="0"/>
              </a:spcAft>
              <a:buClr>
                <a:schemeClr val="lt1"/>
              </a:buClr>
              <a:buSzPts val="1000"/>
              <a:buChar char="○"/>
              <a:defRPr>
                <a:solidFill>
                  <a:schemeClr val="lt1"/>
                </a:solidFill>
              </a:defRPr>
            </a:lvl2pPr>
            <a:lvl3pPr marL="1371600" lvl="2" indent="-292100" rtl="0">
              <a:spcBef>
                <a:spcPts val="800"/>
              </a:spcBef>
              <a:spcAft>
                <a:spcPts val="0"/>
              </a:spcAft>
              <a:buClr>
                <a:schemeClr val="lt1"/>
              </a:buClr>
              <a:buSzPts val="1000"/>
              <a:buChar char="■"/>
              <a:defRPr>
                <a:solidFill>
                  <a:schemeClr val="lt1"/>
                </a:solidFill>
              </a:defRPr>
            </a:lvl3pPr>
            <a:lvl4pPr marL="1828800" lvl="3" indent="-292100" rtl="0">
              <a:spcBef>
                <a:spcPts val="800"/>
              </a:spcBef>
              <a:spcAft>
                <a:spcPts val="0"/>
              </a:spcAft>
              <a:buClr>
                <a:schemeClr val="lt1"/>
              </a:buClr>
              <a:buSzPts val="1000"/>
              <a:buChar char="●"/>
              <a:defRPr>
                <a:solidFill>
                  <a:schemeClr val="lt1"/>
                </a:solidFill>
              </a:defRPr>
            </a:lvl4pPr>
            <a:lvl5pPr marL="2286000" lvl="4" indent="-292100" rtl="0">
              <a:spcBef>
                <a:spcPts val="800"/>
              </a:spcBef>
              <a:spcAft>
                <a:spcPts val="0"/>
              </a:spcAft>
              <a:buClr>
                <a:schemeClr val="lt1"/>
              </a:buClr>
              <a:buSzPts val="1000"/>
              <a:buChar char="○"/>
              <a:defRPr>
                <a:solidFill>
                  <a:schemeClr val="lt1"/>
                </a:solidFill>
              </a:defRPr>
            </a:lvl5pPr>
            <a:lvl6pPr marL="2743200" lvl="5" indent="-292100" rtl="0">
              <a:spcBef>
                <a:spcPts val="800"/>
              </a:spcBef>
              <a:spcAft>
                <a:spcPts val="0"/>
              </a:spcAft>
              <a:buClr>
                <a:schemeClr val="lt1"/>
              </a:buClr>
              <a:buSzPts val="1000"/>
              <a:buChar char="■"/>
              <a:defRPr>
                <a:solidFill>
                  <a:schemeClr val="lt1"/>
                </a:solidFill>
              </a:defRPr>
            </a:lvl6pPr>
            <a:lvl7pPr marL="3200400" lvl="6" indent="-292100" rtl="0">
              <a:spcBef>
                <a:spcPts val="800"/>
              </a:spcBef>
              <a:spcAft>
                <a:spcPts val="0"/>
              </a:spcAft>
              <a:buClr>
                <a:schemeClr val="lt1"/>
              </a:buClr>
              <a:buSzPts val="1000"/>
              <a:buChar char="●"/>
              <a:defRPr>
                <a:solidFill>
                  <a:schemeClr val="lt1"/>
                </a:solidFill>
              </a:defRPr>
            </a:lvl7pPr>
            <a:lvl8pPr marL="3657600" lvl="7" indent="-292100" rtl="0">
              <a:spcBef>
                <a:spcPts val="800"/>
              </a:spcBef>
              <a:spcAft>
                <a:spcPts val="0"/>
              </a:spcAft>
              <a:buClr>
                <a:schemeClr val="lt1"/>
              </a:buClr>
              <a:buSzPts val="1000"/>
              <a:buChar char="○"/>
              <a:defRPr>
                <a:solidFill>
                  <a:schemeClr val="lt1"/>
                </a:solidFill>
              </a:defRPr>
            </a:lvl8pPr>
            <a:lvl9pPr marL="4114800" lvl="8" indent="-292100" rtl="0">
              <a:spcBef>
                <a:spcPts val="800"/>
              </a:spcBef>
              <a:spcAft>
                <a:spcPts val="800"/>
              </a:spcAft>
              <a:buClr>
                <a:schemeClr val="lt1"/>
              </a:buClr>
              <a:buSzPts val="1000"/>
              <a:buChar char="■"/>
              <a:defRPr>
                <a:solidFill>
                  <a:schemeClr val="lt1"/>
                </a:solidFill>
              </a:defRPr>
            </a:lvl9pPr>
          </a:lstStyle>
          <a:p>
            <a:endParaRPr/>
          </a:p>
        </p:txBody>
      </p:sp>
      <p:sp>
        <p:nvSpPr>
          <p:cNvPr id="88" name="Google Shape;88;p11"/>
          <p:cNvSpPr txBox="1">
            <a:spLocks noGrp="1"/>
          </p:cNvSpPr>
          <p:nvPr>
            <p:ph type="sldNum" idx="12"/>
          </p:nvPr>
        </p:nvSpPr>
        <p:spPr>
          <a:xfrm>
            <a:off x="90450" y="4873575"/>
            <a:ext cx="548700" cy="2697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Weeks">
  <p:cSld name="Weeks">
    <p:spTree>
      <p:nvGrpSpPr>
        <p:cNvPr id="1" name="Shape 45"/>
        <p:cNvGrpSpPr/>
        <p:nvPr/>
      </p:nvGrpSpPr>
      <p:grpSpPr>
        <a:xfrm>
          <a:off x="0" y="0"/>
          <a:ext cx="0" cy="0"/>
          <a:chOff x="0" y="0"/>
          <a:chExt cx="0" cy="0"/>
        </a:xfrm>
      </p:grpSpPr>
      <p:sp>
        <p:nvSpPr>
          <p:cNvPr id="46" name="Google Shape;46;p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47" name="Google Shape;47;p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48" name="Google Shape;48;p7"/>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49" name="Google Shape;49;p7"/>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0" name="Google Shape;50;p7"/>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52" name="Google Shape;52;p7"/>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53" name="Google Shape;53;p7"/>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extLst>
      <p:ext uri="{BB962C8B-B14F-4D97-AF65-F5344CB8AC3E}">
        <p14:creationId xmlns:p14="http://schemas.microsoft.com/office/powerpoint/2010/main" val="181183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Feedback Slides">
  <p:cSld name="Feedback Slides">
    <p:bg>
      <p:bgPr>
        <a:solidFill>
          <a:srgbClr val="134F5C"/>
        </a:solidFill>
        <a:effectLst/>
      </p:bgPr>
    </p:bg>
    <p:spTree>
      <p:nvGrpSpPr>
        <p:cNvPr id="1" name="Shape 65"/>
        <p:cNvGrpSpPr/>
        <p:nvPr/>
      </p:nvGrpSpPr>
      <p:grpSpPr>
        <a:xfrm>
          <a:off x="0" y="0"/>
          <a:ext cx="0" cy="0"/>
          <a:chOff x="0" y="0"/>
          <a:chExt cx="0" cy="0"/>
        </a:xfrm>
      </p:grpSpPr>
      <p:sp>
        <p:nvSpPr>
          <p:cNvPr id="66" name="Google Shape;66;p9"/>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67" name="Google Shape;67;p9"/>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68" name="Google Shape;68;p9"/>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9"/>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70" name="Google Shape;70;p9"/>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71" name="Google Shape;71;p9"/>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Tree>
    <p:extLst>
      <p:ext uri="{BB962C8B-B14F-4D97-AF65-F5344CB8AC3E}">
        <p14:creationId xmlns:p14="http://schemas.microsoft.com/office/powerpoint/2010/main" val="2237386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Week 4 goals">
  <p:cSld name="Week 4 goals">
    <p:spTree>
      <p:nvGrpSpPr>
        <p:cNvPr id="1" name="Shape 54"/>
        <p:cNvGrpSpPr/>
        <p:nvPr/>
      </p:nvGrpSpPr>
      <p:grpSpPr>
        <a:xfrm>
          <a:off x="0" y="0"/>
          <a:ext cx="0" cy="0"/>
          <a:chOff x="0" y="0"/>
          <a:chExt cx="0" cy="0"/>
        </a:xfrm>
      </p:grpSpPr>
      <p:sp>
        <p:nvSpPr>
          <p:cNvPr id="55" name="Google Shape;55;p8"/>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6" name="Google Shape;56;p8"/>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57" name="Google Shape;57;p8"/>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58" name="Google Shape;58;p8"/>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
        <p:nvSpPr>
          <p:cNvPr id="59" name="Google Shape;59;p8"/>
          <p:cNvSpPr/>
          <p:nvPr/>
        </p:nvSpPr>
        <p:spPr>
          <a:xfrm>
            <a:off x="0" y="0"/>
            <a:ext cx="9144000" cy="576000"/>
          </a:xfrm>
          <a:prstGeom prst="rect">
            <a:avLst/>
          </a:prstGeom>
          <a:solidFill>
            <a:srgbClr val="EC781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8"/>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1" name="Google Shape;61;p8"/>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None/>
              <a:defRPr sz="4800">
                <a:solidFill>
                  <a:schemeClr val="lt1"/>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2" name="Google Shape;62;p8"/>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lvl1pPr lvl="0" algn="r" rtl="0">
              <a:spcBef>
                <a:spcPts val="0"/>
              </a:spcBef>
              <a:spcAft>
                <a:spcPts val="0"/>
              </a:spcAft>
              <a:buNone/>
              <a:defRPr sz="14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63" name="Google Shape;63;p8"/>
          <p:cNvSpPr txBox="1">
            <a:spLocks noGrp="1"/>
          </p:cNvSpPr>
          <p:nvPr>
            <p:ph type="body" idx="7"/>
          </p:nvPr>
        </p:nvSpPr>
        <p:spPr>
          <a:xfrm>
            <a:off x="4663450" y="3172148"/>
            <a:ext cx="4297800" cy="1625700"/>
          </a:xfrm>
          <a:prstGeom prst="rect">
            <a:avLst/>
          </a:prstGeom>
        </p:spPr>
        <p:txBody>
          <a:bodyPr spcFirstLastPara="1" wrap="square" lIns="91425" tIns="91425" rIns="91425" bIns="91425" anchor="t" anchorCtr="0">
            <a:noAutofit/>
          </a:bodyPr>
          <a:lstStyle>
            <a:lvl1pPr marL="457200" lvl="0" indent="-292100" rtl="0">
              <a:spcBef>
                <a:spcPts val="0"/>
              </a:spcBef>
              <a:spcAft>
                <a:spcPts val="0"/>
              </a:spcAft>
              <a:buSzPts val="1000"/>
              <a:buChar char="●"/>
              <a:defRPr/>
            </a:lvl1pPr>
            <a:lvl2pPr marL="914400" lvl="1" indent="-292100" rtl="0">
              <a:spcBef>
                <a:spcPts val="800"/>
              </a:spcBef>
              <a:spcAft>
                <a:spcPts val="0"/>
              </a:spcAft>
              <a:buSzPts val="1000"/>
              <a:buChar char="○"/>
              <a:defRPr/>
            </a:lvl2pPr>
            <a:lvl3pPr marL="1371600" lvl="2" indent="-292100" rtl="0">
              <a:spcBef>
                <a:spcPts val="800"/>
              </a:spcBef>
              <a:spcAft>
                <a:spcPts val="0"/>
              </a:spcAft>
              <a:buSzPts val="1000"/>
              <a:buChar char="■"/>
              <a:defRPr/>
            </a:lvl3pPr>
            <a:lvl4pPr marL="1828800" lvl="3" indent="-292100" rtl="0">
              <a:spcBef>
                <a:spcPts val="800"/>
              </a:spcBef>
              <a:spcAft>
                <a:spcPts val="0"/>
              </a:spcAft>
              <a:buSzPts val="1000"/>
              <a:buChar char="●"/>
              <a:defRPr/>
            </a:lvl4pPr>
            <a:lvl5pPr marL="2286000" lvl="4" indent="-292100" rtl="0">
              <a:spcBef>
                <a:spcPts val="800"/>
              </a:spcBef>
              <a:spcAft>
                <a:spcPts val="0"/>
              </a:spcAft>
              <a:buSzPts val="1000"/>
              <a:buChar char="○"/>
              <a:defRPr/>
            </a:lvl5pPr>
            <a:lvl6pPr marL="2743200" lvl="5" indent="-292100" rtl="0">
              <a:spcBef>
                <a:spcPts val="800"/>
              </a:spcBef>
              <a:spcAft>
                <a:spcPts val="0"/>
              </a:spcAft>
              <a:buSzPts val="1000"/>
              <a:buChar char="■"/>
              <a:defRPr/>
            </a:lvl6pPr>
            <a:lvl7pPr marL="3200400" lvl="6" indent="-292100" rtl="0">
              <a:spcBef>
                <a:spcPts val="800"/>
              </a:spcBef>
              <a:spcAft>
                <a:spcPts val="0"/>
              </a:spcAft>
              <a:buSzPts val="1000"/>
              <a:buChar char="●"/>
              <a:defRPr/>
            </a:lvl7pPr>
            <a:lvl8pPr marL="3657600" lvl="7" indent="-292100" rtl="0">
              <a:spcBef>
                <a:spcPts val="800"/>
              </a:spcBef>
              <a:spcAft>
                <a:spcPts val="0"/>
              </a:spcAft>
              <a:buSzPts val="1000"/>
              <a:buChar char="○"/>
              <a:defRPr/>
            </a:lvl8pPr>
            <a:lvl9pPr marL="4114800" lvl="8" indent="-292100" rtl="0">
              <a:spcBef>
                <a:spcPts val="800"/>
              </a:spcBef>
              <a:spcAft>
                <a:spcPts val="800"/>
              </a:spcAft>
              <a:buSzPts val="1000"/>
              <a:buChar char="■"/>
              <a:defRPr/>
            </a:lvl9pPr>
          </a:lstStyle>
          <a:p>
            <a:endParaRPr/>
          </a:p>
        </p:txBody>
      </p:sp>
      <p:sp>
        <p:nvSpPr>
          <p:cNvPr id="64" name="Google Shape;64;p8"/>
          <p:cNvSpPr txBox="1">
            <a:spLocks noGrp="1"/>
          </p:cNvSpPr>
          <p:nvPr>
            <p:ph type="subTitle" idx="8"/>
          </p:nvPr>
        </p:nvSpPr>
        <p:spPr>
          <a:xfrm>
            <a:off x="4663440" y="2778402"/>
            <a:ext cx="4297800" cy="393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400" b="1"/>
            </a:lvl1pPr>
            <a:lvl2pPr lvl="1" rtl="0">
              <a:spcBef>
                <a:spcPts val="800"/>
              </a:spcBef>
              <a:spcAft>
                <a:spcPts val="0"/>
              </a:spcAft>
              <a:buNone/>
              <a:defRPr/>
            </a:lvl2pPr>
            <a:lvl3pPr lvl="2" rtl="0">
              <a:spcBef>
                <a:spcPts val="800"/>
              </a:spcBef>
              <a:spcAft>
                <a:spcPts val="0"/>
              </a:spcAft>
              <a:buNone/>
              <a:defRPr/>
            </a:lvl3pPr>
            <a:lvl4pPr lvl="3" rtl="0">
              <a:spcBef>
                <a:spcPts val="800"/>
              </a:spcBef>
              <a:spcAft>
                <a:spcPts val="0"/>
              </a:spcAft>
              <a:buNone/>
              <a:defRPr/>
            </a:lvl4pPr>
            <a:lvl5pPr lvl="4" rtl="0">
              <a:spcBef>
                <a:spcPts val="800"/>
              </a:spcBef>
              <a:spcAft>
                <a:spcPts val="0"/>
              </a:spcAft>
              <a:buNone/>
              <a:defRPr/>
            </a:lvl5pPr>
            <a:lvl6pPr lvl="5" rtl="0">
              <a:spcBef>
                <a:spcPts val="800"/>
              </a:spcBef>
              <a:spcAft>
                <a:spcPts val="0"/>
              </a:spcAft>
              <a:buNone/>
              <a:defRPr/>
            </a:lvl6pPr>
            <a:lvl7pPr lvl="6" rtl="0">
              <a:spcBef>
                <a:spcPts val="800"/>
              </a:spcBef>
              <a:spcAft>
                <a:spcPts val="0"/>
              </a:spcAft>
              <a:buNone/>
              <a:defRPr/>
            </a:lvl7pPr>
            <a:lvl8pPr lvl="7" rtl="0">
              <a:spcBef>
                <a:spcPts val="800"/>
              </a:spcBef>
              <a:spcAft>
                <a:spcPts val="0"/>
              </a:spcAft>
              <a:buNone/>
              <a:defRPr/>
            </a:lvl8pPr>
            <a:lvl9pPr lvl="8" rtl="0">
              <a:spcBef>
                <a:spcPts val="800"/>
              </a:spcBef>
              <a:spcAft>
                <a:spcPts val="800"/>
              </a:spcAft>
              <a:buNone/>
              <a:defRPr/>
            </a:lvl9pPr>
          </a:lstStyle>
          <a:p>
            <a:endParaRPr/>
          </a:p>
        </p:txBody>
      </p:sp>
    </p:spTree>
    <p:extLst>
      <p:ext uri="{BB962C8B-B14F-4D97-AF65-F5344CB8AC3E}">
        <p14:creationId xmlns:p14="http://schemas.microsoft.com/office/powerpoint/2010/main" val="3212919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ameday">
    <p:bg>
      <p:bgPr>
        <a:solidFill>
          <a:srgbClr val="66666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64025"/>
            <a:ext cx="85206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rgbClr val="FFFFFF"/>
              </a:buClr>
              <a:buSzPts val="2000"/>
              <a:buFont typeface="Roboto Light"/>
              <a:buNone/>
              <a:defRPr sz="2000">
                <a:solidFill>
                  <a:srgbClr val="FFFFFF"/>
                </a:solidFill>
                <a:latin typeface="Roboto Light"/>
                <a:ea typeface="Roboto Light"/>
                <a:cs typeface="Roboto Light"/>
                <a:sym typeface="Roboto Light"/>
              </a:defRPr>
            </a:lvl1pPr>
            <a:lvl2pPr lvl="1">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2pPr>
            <a:lvl3pPr lvl="2">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3pPr>
            <a:lvl4pPr lvl="3">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4pPr>
            <a:lvl5pPr lvl="4">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5pPr>
            <a:lvl6pPr lvl="5">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6pPr>
            <a:lvl7pPr lvl="6">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7pPr>
            <a:lvl8pPr lvl="7">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8pPr>
            <a:lvl9pPr lvl="8">
              <a:spcBef>
                <a:spcPts val="0"/>
              </a:spcBef>
              <a:spcAft>
                <a:spcPts val="0"/>
              </a:spcAft>
              <a:buClr>
                <a:srgbClr val="EC781C"/>
              </a:buClr>
              <a:buSzPts val="2400"/>
              <a:buFont typeface="Alfa Slab One"/>
              <a:buNone/>
              <a:defRPr sz="2400">
                <a:solidFill>
                  <a:srgbClr val="EC781C"/>
                </a:solidFill>
                <a:latin typeface="Alfa Slab One"/>
                <a:ea typeface="Alfa Slab One"/>
                <a:cs typeface="Alfa Slab One"/>
                <a:sym typeface="Alfa Slab One"/>
              </a:defRPr>
            </a:lvl9pPr>
          </a:lstStyle>
          <a:p>
            <a:endParaRPr/>
          </a:p>
        </p:txBody>
      </p:sp>
      <p:sp>
        <p:nvSpPr>
          <p:cNvPr id="7" name="Google Shape;7;p1"/>
          <p:cNvSpPr txBox="1">
            <a:spLocks noGrp="1"/>
          </p:cNvSpPr>
          <p:nvPr>
            <p:ph type="body" idx="1"/>
          </p:nvPr>
        </p:nvSpPr>
        <p:spPr>
          <a:xfrm>
            <a:off x="311700" y="636725"/>
            <a:ext cx="8520600" cy="3932100"/>
          </a:xfrm>
          <a:prstGeom prst="rect">
            <a:avLst/>
          </a:prstGeom>
          <a:noFill/>
          <a:ln>
            <a:noFill/>
          </a:ln>
        </p:spPr>
        <p:txBody>
          <a:bodyPr spcFirstLastPara="1" wrap="square" lIns="91425" tIns="91425" rIns="91425" bIns="91425" anchor="t" anchorCtr="0">
            <a:noAutofit/>
          </a:bodyPr>
          <a:lstStyle>
            <a:lvl1pPr marL="457200" lvl="0" indent="-292100">
              <a:lnSpc>
                <a:spcPct val="104000"/>
              </a:lnSpc>
              <a:spcBef>
                <a:spcPts val="0"/>
              </a:spcBef>
              <a:spcAft>
                <a:spcPts val="0"/>
              </a:spcAft>
              <a:buClr>
                <a:srgbClr val="FFFFFF"/>
              </a:buClr>
              <a:buSzPts val="1000"/>
              <a:buFont typeface="Roboto"/>
              <a:buChar char="●"/>
              <a:defRPr sz="1000">
                <a:solidFill>
                  <a:srgbClr val="FFFFFF"/>
                </a:solidFill>
                <a:latin typeface="Roboto"/>
                <a:ea typeface="Roboto"/>
                <a:cs typeface="Roboto"/>
                <a:sym typeface="Roboto"/>
              </a:defRPr>
            </a:lvl1pPr>
            <a:lvl2pPr marL="914400" lvl="1"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2pPr>
            <a:lvl3pPr marL="1371600" lvl="2" indent="-292100">
              <a:lnSpc>
                <a:spcPct val="104000"/>
              </a:lnSpc>
              <a:spcBef>
                <a:spcPts val="800"/>
              </a:spcBef>
              <a:spcAft>
                <a:spcPts val="0"/>
              </a:spcAft>
              <a:buClr>
                <a:srgbClr val="FFFFFF"/>
              </a:buClr>
              <a:buSzPts val="1000"/>
              <a:buFont typeface="Roboto"/>
              <a:buChar char="■"/>
              <a:defRPr sz="1000" u="sng">
                <a:solidFill>
                  <a:srgbClr val="FFFFFF"/>
                </a:solidFill>
                <a:latin typeface="Roboto"/>
                <a:ea typeface="Roboto"/>
                <a:cs typeface="Roboto"/>
                <a:sym typeface="Roboto"/>
              </a:defRPr>
            </a:lvl3pPr>
            <a:lvl4pPr marL="1828800" lvl="3" indent="-292100">
              <a:lnSpc>
                <a:spcPct val="104000"/>
              </a:lnSpc>
              <a:spcBef>
                <a:spcPts val="800"/>
              </a:spcBef>
              <a:spcAft>
                <a:spcPts val="0"/>
              </a:spcAft>
              <a:buClr>
                <a:srgbClr val="FFFFFF"/>
              </a:buClr>
              <a:buSzPts val="1000"/>
              <a:buFont typeface="Roboto"/>
              <a:buChar char="●"/>
              <a:defRPr sz="1000">
                <a:solidFill>
                  <a:srgbClr val="FFFFFF"/>
                </a:solidFill>
                <a:latin typeface="Roboto"/>
                <a:ea typeface="Roboto"/>
                <a:cs typeface="Roboto"/>
                <a:sym typeface="Roboto"/>
              </a:defRPr>
            </a:lvl4pPr>
            <a:lvl5pPr marL="2286000" lvl="4"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5pPr>
            <a:lvl6pPr marL="2743200" lvl="5" indent="-292100">
              <a:lnSpc>
                <a:spcPct val="104000"/>
              </a:lnSpc>
              <a:spcBef>
                <a:spcPts val="800"/>
              </a:spcBef>
              <a:spcAft>
                <a:spcPts val="0"/>
              </a:spcAft>
              <a:buClr>
                <a:srgbClr val="FFFFFF"/>
              </a:buClr>
              <a:buSzPts val="1000"/>
              <a:buFont typeface="Roboto"/>
              <a:buChar char="■"/>
              <a:defRPr sz="1000" u="sng">
                <a:solidFill>
                  <a:srgbClr val="FFFFFF"/>
                </a:solidFill>
                <a:latin typeface="Roboto"/>
                <a:ea typeface="Roboto"/>
                <a:cs typeface="Roboto"/>
                <a:sym typeface="Roboto"/>
              </a:defRPr>
            </a:lvl6pPr>
            <a:lvl7pPr marL="3200400" lvl="6" indent="-292100">
              <a:lnSpc>
                <a:spcPct val="104000"/>
              </a:lnSpc>
              <a:spcBef>
                <a:spcPts val="800"/>
              </a:spcBef>
              <a:spcAft>
                <a:spcPts val="0"/>
              </a:spcAft>
              <a:buClr>
                <a:srgbClr val="FFFFFF"/>
              </a:buClr>
              <a:buSzPts val="1000"/>
              <a:buFont typeface="Roboto"/>
              <a:buChar char="●"/>
              <a:defRPr sz="1000">
                <a:solidFill>
                  <a:srgbClr val="FFFFFF"/>
                </a:solidFill>
                <a:latin typeface="Roboto"/>
                <a:ea typeface="Roboto"/>
                <a:cs typeface="Roboto"/>
                <a:sym typeface="Roboto"/>
              </a:defRPr>
            </a:lvl7pPr>
            <a:lvl8pPr marL="3657600" lvl="7" indent="-292100">
              <a:lnSpc>
                <a:spcPct val="104000"/>
              </a:lnSpc>
              <a:spcBef>
                <a:spcPts val="800"/>
              </a:spcBef>
              <a:spcAft>
                <a:spcPts val="0"/>
              </a:spcAft>
              <a:buClr>
                <a:srgbClr val="FFFFFF"/>
              </a:buClr>
              <a:buSzPts val="1000"/>
              <a:buFont typeface="Roboto"/>
              <a:buChar char="○"/>
              <a:defRPr sz="1000" i="1">
                <a:solidFill>
                  <a:srgbClr val="FFFFFF"/>
                </a:solidFill>
                <a:latin typeface="Roboto"/>
                <a:ea typeface="Roboto"/>
                <a:cs typeface="Roboto"/>
                <a:sym typeface="Roboto"/>
              </a:defRPr>
            </a:lvl8pPr>
            <a:lvl9pPr marL="4114800" lvl="8" indent="-292100">
              <a:lnSpc>
                <a:spcPct val="104000"/>
              </a:lnSpc>
              <a:spcBef>
                <a:spcPts val="800"/>
              </a:spcBef>
              <a:spcAft>
                <a:spcPts val="800"/>
              </a:spcAft>
              <a:buClr>
                <a:srgbClr val="FFFFFF"/>
              </a:buClr>
              <a:buSzPts val="1000"/>
              <a:buFont typeface="Roboto"/>
              <a:buChar char="■"/>
              <a:defRPr sz="1000" u="sng">
                <a:solidFill>
                  <a:srgbClr val="FFFFFF"/>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90450" y="4873575"/>
            <a:ext cx="548700" cy="2697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7" r:id="rId6"/>
    <p:sldLayoutId id="2147483659" r:id="rId7"/>
    <p:sldLayoutId id="2147483660" r:id="rId8"/>
    <p:sldLayoutId id="2147483661"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BredaUniversityADSAI/2024-25c-fai1-adsai-MohammadaliJaberi244437/blob/main/Self-Assessment_Rubric-Y1C_2024-25_ADSAI%20(1).xlsx"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BredaUniversityADSAI/2024-25-y1d-personal-MohammadaliJaberi244437/tree/main/Week%201/Friday"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BredaUniversityADSAI/2024-25-y1d-personal-MohammadaliJaberi244437/blob/main/Week%202/Tuesday/Manipulating%20time%20series%20data%20in%20python.pdf"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BredaUniversityADSAI/2024-25-y1d-personal-MohammadaliJaberi244437/blob/main/TimeSeries_Template%2020.ipynb" TargetMode="External"/><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BredaUniversityADSAI/2024-25-y1d-teamwork-group-13/blob/feature/eda/Deliverables/ILO4/ProjectProposal_Team13.pdf" TargetMode="External"/><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BredaUniversityADSAI/2024-25-y1d-teamwork-group-13/blob/Feature/xgboost-modeling/Deliverables/extra/Xgboost%20and%20random%20forest/09-06%20BKNG.ipynb" TargetMode="External"/><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BredaUniversityADSAI/2024-25-y1d-teamwork-group-13/blob/Feature/xgboost-modeling/Deliverables/extra/Xgboost%20and%20random%20forest/09-06%20BKNG.ipynb" TargetMode="External"/><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BredaUniversityADSAI/2024-25-y1d-teamwork-group-13/blob/main/Deliverables/ILO4/Team13-FinalPresentation.pdf" TargetMode="External"/><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hyperlink" Target="https://edubuas.sharepoint.com/:p:/t/Generalstudyinformation-ADSAI/ERiYYoxNX-BKsOj2_KXbAMgBIAfpxKrSoA3D47Vyn14vOg?e=qQDTHp" TargetMode="External"/><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BredaUniversityADSAI/2024-25-y1d-personal-MohammadaliJaberi244437/blob/main/WorkLog2024-25Y1D_Template%20Mohammadali%20Jaberi%20244437.xlsx" TargetMode="External"/><Relationship Id="rId7" Type="http://schemas.openxmlformats.org/officeDocument/2006/relationships/hyperlink" Target="https://trello.com/b/PjLm3z0j/kanban-group-13" TargetMode="External"/><Relationship Id="rId2" Type="http://schemas.openxmlformats.org/officeDocument/2006/relationships/notesSlide" Target="../notesSlides/notesSlide25.xml"/><Relationship Id="rId1" Type="http://schemas.openxmlformats.org/officeDocument/2006/relationships/slideLayout" Target="../slideLayouts/slideLayout5.xml"/><Relationship Id="rId6" Type="http://schemas.openxmlformats.org/officeDocument/2006/relationships/hyperlink" Target="https://github.com/BredaUniversityADSAI/2024-25-y1d-teamwork-group-13/blob/main/Deliverables/ILO1/AgendaMinutes_Team13.pdf" TargetMode="External"/><Relationship Id="rId5" Type="http://schemas.openxmlformats.org/officeDocument/2006/relationships/hyperlink" Target="https://github.com/BredaUniversityADSAI/2024-25-y1d-teamwork-group-13/blob/main/Deliverables/ILO1/Meeting_Log_Team13.xlsx" TargetMode="External"/><Relationship Id="rId4" Type="http://schemas.openxmlformats.org/officeDocument/2006/relationships/hyperlink" Target="https://github.com/BredaUniversityADSAI/2024-25-y1d-personal-MohammadaliJaberi244437/blob/main/SelfAssessmentRubric2024-25Y1D_Template%20Mohammadali%20Jaberi.xlsx"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BredaUniversityADSAI/2024-25-y1d-personal-MohammadaliJaberi244437/blob/main/WorkLog2024-25Y1D_Template%20Mohammadali%20Jaberi%20244437.xlsx" TargetMode="External"/><Relationship Id="rId2" Type="http://schemas.openxmlformats.org/officeDocument/2006/relationships/notesSlide" Target="../notesSlides/notesSlide27.xml"/><Relationship Id="rId1" Type="http://schemas.openxmlformats.org/officeDocument/2006/relationships/slideLayout" Target="../slideLayouts/slideLayout5.xml"/><Relationship Id="rId6" Type="http://schemas.openxmlformats.org/officeDocument/2006/relationships/slide" Target="slide21.xml"/><Relationship Id="rId5" Type="http://schemas.openxmlformats.org/officeDocument/2006/relationships/hyperlink" Target="https://github.com/BredaUniversityADSAI/2024-25-y1d-personal-MohammadaliJaberi244437/tree/main/Peer%20feedback" TargetMode="External"/><Relationship Id="rId4" Type="http://schemas.openxmlformats.org/officeDocument/2006/relationships/hyperlink" Target="https://github.com/BredaUniversityADSAI/2024-25-y1d-personal-MohammadaliJaberi244437/blob/main/SelfAssessmentRubric2024-25Y1D_Template%20Mohammadali%20Jaberi.xlsx" TargetMode="Externa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BredaUniversityADSAI/2024-25-y1d-teamwork-group-13/blob/main/Deliverables/GroupTasksContributions_Team13.xlsx" TargetMode="External"/><Relationship Id="rId2" Type="http://schemas.openxmlformats.org/officeDocument/2006/relationships/notesSlide" Target="../notesSlides/notesSlide29.xml"/><Relationship Id="rId1" Type="http://schemas.openxmlformats.org/officeDocument/2006/relationships/slideLayout" Target="../slideLayouts/slideLayout5.xml"/><Relationship Id="rId5" Type="http://schemas.openxmlformats.org/officeDocument/2006/relationships/hyperlink" Target="https://github.com/BredaUniversityADSAI/2024-25-y1d-personal-MohammadaliJaberi244437/blob/main/FinalReportILO3_Template.docx" TargetMode="External"/><Relationship Id="rId4" Type="http://schemas.openxmlformats.org/officeDocument/2006/relationships/hyperlink" Target="https://github.com/BredaUniversityADSAI/2024-25-y1d-teamwork-group-13/blob/main/Deliverables/ILO3/FinalReportILO3_Team13.pdf"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hyperlink" Target="https://github.com/BredaUniversityADSAI/2024-25-y1d-teamwork-group-13/blob/main/Deliverables/GroupTasksContributions_Team13.xlsx" TargetMode="External"/><Relationship Id="rId2" Type="http://schemas.openxmlformats.org/officeDocument/2006/relationships/notesSlide" Target="../notesSlides/notesSlide31.xml"/><Relationship Id="rId1" Type="http://schemas.openxmlformats.org/officeDocument/2006/relationships/slideLayout" Target="../slideLayouts/slideLayout5.xml"/><Relationship Id="rId6" Type="http://schemas.openxmlformats.org/officeDocument/2006/relationships/hyperlink" Target="https://github.com/BredaUniversityADSAI/2024-25-y1d-teamwork-group-13/blob/main/Deliverables/ILO4/Team13-FinalPresentation.pdf" TargetMode="External"/><Relationship Id="rId5" Type="http://schemas.openxmlformats.org/officeDocument/2006/relationships/hyperlink" Target="https://github.com/BredaUniversityADSAI/2024-25-y1d-teamwork-group-13/blob/main/Deliverables/ILO4/ProjectProposal_Team13.pdf" TargetMode="External"/><Relationship Id="rId4" Type="http://schemas.openxmlformats.org/officeDocument/2006/relationships/hyperlink" Target="https://github.com/BredaUniversityADSAI/2024-25-y1d-personal-MohammadaliJaberi244437/blob/main/AI%20Business%20Model%20Canvas.docx"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hyperlink" Target="https://github.com/BredaUniversityADSAI/2024-25-y1d-teamwork-group-13/blob/main/Deliverables/GroupTasksContributions_Team13.xlsx" TargetMode="External"/><Relationship Id="rId7" Type="http://schemas.openxmlformats.org/officeDocument/2006/relationships/hyperlink" Target="https://github.com/BredaUniversityADSAI/2024-25-y1d-teamwork-group-13/blob/main/Deliverables/project/src/project/FinalProject_Team13.ipynb" TargetMode="External"/><Relationship Id="rId2" Type="http://schemas.openxmlformats.org/officeDocument/2006/relationships/notesSlide" Target="../notesSlides/notesSlide33.xml"/><Relationship Id="rId1" Type="http://schemas.openxmlformats.org/officeDocument/2006/relationships/slideLayout" Target="../slideLayouts/slideLayout5.xml"/><Relationship Id="rId6" Type="http://schemas.openxmlformats.org/officeDocument/2006/relationships/hyperlink" Target="https://github.com/BredaUniversityADSAI/2024-25-y1d-teamwork-group-13/blob/main/Deliverables/project/README.md" TargetMode="External"/><Relationship Id="rId5" Type="http://schemas.openxmlformats.org/officeDocument/2006/relationships/hyperlink" Target="https://github.com/BredaUniversityADSAI/2024-25-y1d-teamwork-group-13/blob/fix/sql-script/Deliverables/ILO6/data-warehouse/warehouse-creation.sql" TargetMode="External"/><Relationship Id="rId4" Type="http://schemas.openxmlformats.org/officeDocument/2006/relationships/hyperlink" Target="https://github.com/BredaUniversityADSAI/2024-25-y1d-personal-MohammadaliJaberi244437/tree/main/Week%201/Friday"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hyperlink" Target="https://github.com/BredaUniversityADSAI/2024-25-y1d-teamwork-group-13/blob/main/Deliverables/GroupTasksContributions_Team13.xlsx" TargetMode="External"/><Relationship Id="rId2" Type="http://schemas.openxmlformats.org/officeDocument/2006/relationships/notesSlide" Target="../notesSlides/notesSlide35.xml"/><Relationship Id="rId1" Type="http://schemas.openxmlformats.org/officeDocument/2006/relationships/slideLayout" Target="../slideLayouts/slideLayout5.xml"/><Relationship Id="rId5" Type="http://schemas.openxmlformats.org/officeDocument/2006/relationships/hyperlink" Target="https://github.com/BredaUniversityADSAI/2024-25-y1d-teamwork-group-13/blob/main/Deliverables/project/src/project/FinalProject_Team13.ipynb" TargetMode="External"/><Relationship Id="rId4" Type="http://schemas.openxmlformats.org/officeDocument/2006/relationships/hyperlink" Target="https://github.com/BredaUniversityAaDSAI/2024-25-y1d-personal-MohammadaliJaberi244437/blob/main/TimeSeries_Template%20Mohammadali%20Jaberi%20244437.ipynb" TargetMode="Externa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hyperlink" Target="https://github.com/BredaUniversityADSAI/2024-25-y1d-teamwork-group-13/blob/main/Deliverables/GroupTasksContributions_Team13.xlsx" TargetMode="External"/><Relationship Id="rId2" Type="http://schemas.openxmlformats.org/officeDocument/2006/relationships/notesSlide" Target="../notesSlides/notesSlide37.xml"/><Relationship Id="rId1" Type="http://schemas.openxmlformats.org/officeDocument/2006/relationships/slideLayout" Target="../slideLayouts/slideLayout5.xml"/><Relationship Id="rId4" Type="http://schemas.openxmlformats.org/officeDocument/2006/relationships/hyperlink" Target="https://github.com/BredaUniversityADSAI/2024-25-y1d-teamwork-group-13/blob/main/Deliverables/ILO9/mlops/MLOps_Team13.ipynb"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4.sv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image" Target="../media/image4.sv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2"/>
          <p:cNvSpPr txBox="1">
            <a:spLocks noGrp="1"/>
          </p:cNvSpPr>
          <p:nvPr>
            <p:ph type="ctrTitle"/>
          </p:nvPr>
        </p:nvSpPr>
        <p:spPr>
          <a:xfrm>
            <a:off x="3152899" y="548650"/>
            <a:ext cx="5700156" cy="32643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br>
              <a:rPr lang="en" dirty="0">
                <a:solidFill>
                  <a:srgbClr val="FFFFFF"/>
                </a:solidFill>
                <a:latin typeface="Roboto"/>
                <a:ea typeface="Roboto"/>
                <a:cs typeface="Roboto"/>
                <a:sym typeface="Roboto"/>
              </a:rPr>
            </a:br>
            <a:r>
              <a:rPr lang="en" dirty="0">
                <a:latin typeface="Roboto"/>
                <a:ea typeface="Roboto"/>
                <a:cs typeface="Roboto"/>
                <a:sym typeface="Roboto"/>
              </a:rPr>
              <a:t>Data Science Lifecycle Management</a:t>
            </a:r>
            <a:br>
              <a:rPr lang="en" dirty="0">
                <a:latin typeface="Roboto"/>
                <a:ea typeface="Roboto"/>
                <a:cs typeface="Roboto"/>
                <a:sym typeface="Roboto"/>
              </a:rPr>
            </a:br>
            <a:r>
              <a:rPr lang="en" sz="1400" dirty="0">
                <a:latin typeface="Roboto"/>
                <a:ea typeface="Roboto"/>
                <a:cs typeface="Roboto"/>
                <a:sym typeface="Roboto"/>
              </a:rPr>
              <a:t>Uncovering Market Intelligence: A NASDAQ-100 Data Challenge</a:t>
            </a:r>
            <a:br>
              <a:rPr lang="en" sz="1500" dirty="0">
                <a:latin typeface="Roboto"/>
                <a:ea typeface="Roboto"/>
                <a:cs typeface="Roboto"/>
                <a:sym typeface="Roboto"/>
              </a:rPr>
            </a:br>
            <a:br>
              <a:rPr lang="en" dirty="0">
                <a:latin typeface="Roboto"/>
                <a:ea typeface="Roboto"/>
                <a:cs typeface="Roboto"/>
                <a:sym typeface="Roboto"/>
              </a:rPr>
            </a:br>
            <a:r>
              <a:rPr lang="en" dirty="0">
                <a:solidFill>
                  <a:srgbClr val="FFFFFF"/>
                </a:solidFill>
                <a:latin typeface="Roboto"/>
                <a:ea typeface="Roboto"/>
                <a:cs typeface="Roboto"/>
                <a:sym typeface="Roboto"/>
              </a:rPr>
              <a:t>«Mohammadali Jaberi»</a:t>
            </a:r>
            <a:endParaRPr dirty="0">
              <a:solidFill>
                <a:srgbClr val="FFFFFF"/>
              </a:solidFill>
              <a:latin typeface="Roboto"/>
              <a:ea typeface="Roboto"/>
              <a:cs typeface="Roboto"/>
              <a:sym typeface="Roboto"/>
            </a:endParaRPr>
          </a:p>
          <a:p>
            <a:pPr marL="0" lvl="0" indent="0" algn="l" rtl="0">
              <a:spcBef>
                <a:spcPts val="0"/>
              </a:spcBef>
              <a:spcAft>
                <a:spcPts val="0"/>
              </a:spcAft>
              <a:buNone/>
            </a:pPr>
            <a:r>
              <a:rPr lang="en" dirty="0">
                <a:solidFill>
                  <a:srgbClr val="FFFFFF"/>
                </a:solidFill>
                <a:latin typeface="Roboto"/>
                <a:ea typeface="Roboto"/>
                <a:cs typeface="Roboto"/>
                <a:sym typeface="Roboto"/>
              </a:rPr>
              <a:t>«244437»</a:t>
            </a:r>
            <a:endParaRPr dirty="0">
              <a:solidFill>
                <a:srgbClr val="FFFFFF"/>
              </a:solidFill>
              <a:latin typeface="Roboto"/>
              <a:ea typeface="Roboto"/>
              <a:cs typeface="Roboto"/>
              <a:sym typeface="Roboto"/>
            </a:endParaRPr>
          </a:p>
        </p:txBody>
      </p:sp>
      <p:sp>
        <p:nvSpPr>
          <p:cNvPr id="94" name="Google Shape;94;p12" descr="Face" title="Face"/>
          <p:cNvSpPr/>
          <p:nvPr/>
        </p:nvSpPr>
        <p:spPr>
          <a:xfrm>
            <a:off x="3749050" y="640075"/>
            <a:ext cx="1371600" cy="1371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[photo]</a:t>
            </a:r>
            <a:endParaRPr/>
          </a:p>
        </p:txBody>
      </p:sp>
      <p:sp>
        <p:nvSpPr>
          <p:cNvPr id="95" name="Google Shape;95;p12"/>
          <p:cNvSpPr txBox="1">
            <a:spLocks noGrp="1"/>
          </p:cNvSpPr>
          <p:nvPr>
            <p:ph type="subTitle" idx="1"/>
          </p:nvPr>
        </p:nvSpPr>
        <p:spPr>
          <a:xfrm>
            <a:off x="548650" y="2571750"/>
            <a:ext cx="2011800" cy="1406525"/>
          </a:xfrm>
          <a:prstGeom prst="rect">
            <a:avLst/>
          </a:prstGeom>
        </p:spPr>
        <p:txBody>
          <a:bodyPr spcFirstLastPara="1" wrap="square" lIns="91425" tIns="91425" rIns="91425" bIns="91425" anchor="b" anchorCtr="0">
            <a:noAutofit/>
          </a:bodyPr>
          <a:lstStyle/>
          <a:p>
            <a:pPr marL="0" indent="0">
              <a:lnSpc>
                <a:spcPct val="104000"/>
              </a:lnSpc>
            </a:pPr>
            <a:r>
              <a:rPr lang="en" sz="1800" dirty="0">
                <a:solidFill>
                  <a:srgbClr val="434343"/>
                </a:solidFill>
              </a:rPr>
              <a:t>Learning Log</a:t>
            </a:r>
            <a:r>
              <a:rPr lang="en" dirty="0">
                <a:solidFill>
                  <a:srgbClr val="434343"/>
                </a:solidFill>
              </a:rPr>
              <a:t> </a:t>
            </a:r>
            <a:endParaRPr sz="1800" dirty="0">
              <a:solidFill>
                <a:srgbClr val="434343"/>
              </a:solidFill>
            </a:endParaRPr>
          </a:p>
          <a:p>
            <a:pPr marL="0" indent="0">
              <a:lnSpc>
                <a:spcPct val="104000"/>
              </a:lnSpc>
              <a:spcBef>
                <a:spcPts val="800"/>
              </a:spcBef>
              <a:spcAft>
                <a:spcPts val="800"/>
              </a:spcAft>
            </a:pPr>
            <a:r>
              <a:rPr lang="en" dirty="0">
                <a:solidFill>
                  <a:srgbClr val="434343"/>
                </a:solidFill>
              </a:rPr>
              <a:t>Year  </a:t>
            </a:r>
            <a:r>
              <a:rPr lang="en-NL" dirty="0">
                <a:solidFill>
                  <a:srgbClr val="434343"/>
                </a:solidFill>
              </a:rPr>
              <a:t>1</a:t>
            </a:r>
            <a:endParaRPr lang="en" dirty="0">
              <a:solidFill>
                <a:srgbClr val="434343"/>
              </a:solidFill>
            </a:endParaRPr>
          </a:p>
          <a:p>
            <a:pPr marL="0" indent="0">
              <a:lnSpc>
                <a:spcPct val="104000"/>
              </a:lnSpc>
              <a:spcBef>
                <a:spcPts val="800"/>
              </a:spcBef>
              <a:spcAft>
                <a:spcPts val="800"/>
              </a:spcAft>
            </a:pPr>
            <a:r>
              <a:rPr lang="en" dirty="0">
                <a:solidFill>
                  <a:srgbClr val="434343"/>
                </a:solidFill>
              </a:rPr>
              <a:t>Block  </a:t>
            </a:r>
            <a:r>
              <a:rPr lang="en-NL" dirty="0">
                <a:solidFill>
                  <a:srgbClr val="434343"/>
                </a:solidFill>
              </a:rPr>
              <a:t>D</a:t>
            </a:r>
            <a:endParaRPr sz="1800" dirty="0">
              <a:solidFill>
                <a:srgbClr val="434343"/>
              </a:solidFill>
            </a:endParaRPr>
          </a:p>
        </p:txBody>
      </p:sp>
      <p:sp>
        <p:nvSpPr>
          <p:cNvPr id="4" name="Google Shape;16;p2">
            <a:extLst>
              <a:ext uri="{FF2B5EF4-FFF2-40B4-BE49-F238E27FC236}">
                <a16:creationId xmlns:a16="http://schemas.microsoft.com/office/drawing/2014/main" id="{8758BBB5-F7B4-27C5-E103-E7FBDED4DBC2}"/>
              </a:ext>
            </a:extLst>
          </p:cNvPr>
          <p:cNvSpPr txBox="1"/>
          <p:nvPr/>
        </p:nvSpPr>
        <p:spPr>
          <a:xfrm>
            <a:off x="3036677" y="4408319"/>
            <a:ext cx="5944414" cy="232252"/>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NL" sz="700" b="1">
                <a:solidFill>
                  <a:srgbClr val="999999"/>
                </a:solidFill>
                <a:latin typeface="Helvetica Neue"/>
                <a:ea typeface="Roboto"/>
                <a:cs typeface="Roboto"/>
                <a:sym typeface="Helvetica Neue"/>
              </a:rPr>
              <a:t>Hyperlink</a:t>
            </a:r>
            <a:endParaRPr>
              <a:latin typeface="Roboto"/>
              <a:ea typeface="Roboto"/>
              <a:cs typeface="Roboto"/>
              <a:sym typeface="Roboto"/>
            </a:endParaRPr>
          </a:p>
        </p:txBody>
      </p:sp>
      <p:sp>
        <p:nvSpPr>
          <p:cNvPr id="5" name="Google Shape;16;p2">
            <a:extLst>
              <a:ext uri="{FF2B5EF4-FFF2-40B4-BE49-F238E27FC236}">
                <a16:creationId xmlns:a16="http://schemas.microsoft.com/office/drawing/2014/main" id="{91019EC5-1870-195F-7F9F-5AA97F189468}"/>
              </a:ext>
            </a:extLst>
          </p:cNvPr>
          <p:cNvSpPr txBox="1"/>
          <p:nvPr/>
        </p:nvSpPr>
        <p:spPr>
          <a:xfrm>
            <a:off x="3036676" y="4625059"/>
            <a:ext cx="5944414" cy="232252"/>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NL" sz="700" b="1">
                <a:solidFill>
                  <a:srgbClr val="999999"/>
                </a:solidFill>
                <a:latin typeface="Helvetica Neue"/>
                <a:ea typeface="Roboto"/>
                <a:cs typeface="Roboto"/>
                <a:sym typeface="Helvetica Neue"/>
              </a:rPr>
              <a:t>Hyperlink</a:t>
            </a:r>
            <a:endParaRPr>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3"/>
          <p:cNvSpPr txBox="1">
            <a:spLocks noGrp="1"/>
          </p:cNvSpPr>
          <p:nvPr>
            <p:ph type="title"/>
          </p:nvPr>
        </p:nvSpPr>
        <p:spPr>
          <a:xfrm>
            <a:off x="182880" y="2926080"/>
            <a:ext cx="2743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How To Use</a:t>
            </a:r>
            <a:endParaRPr/>
          </a:p>
          <a:p>
            <a:pPr marL="0" lvl="0" indent="0" algn="ctr" rtl="0">
              <a:spcBef>
                <a:spcPts val="0"/>
              </a:spcBef>
              <a:spcAft>
                <a:spcPts val="0"/>
              </a:spcAft>
              <a:buNone/>
            </a:pPr>
            <a:r>
              <a:rPr lang="en"/>
              <a:t>This Template</a:t>
            </a:r>
            <a:endParaRPr/>
          </a:p>
        </p:txBody>
      </p:sp>
      <p:sp>
        <p:nvSpPr>
          <p:cNvPr id="102" name="Google Shape;102;p13"/>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As a student at Breda University of Applied Sciences studying to become a professional, you are required to provide evidence that demonstrates your professional learning and growth during the block. This template is intended to provide you with a well-structured and </a:t>
            </a:r>
            <a:r>
              <a:rPr lang="en" err="1"/>
              <a:t>organised</a:t>
            </a:r>
            <a:r>
              <a:rPr lang="en"/>
              <a:t> format for doing this effectively. Keep in mind that certain competencies may require you to update your evidence every week, and others may have only be relevant during a particular week or two.</a:t>
            </a:r>
            <a:endParaRPr/>
          </a:p>
          <a:p>
            <a:pPr marL="0" lvl="0" indent="0" algn="l" rtl="0">
              <a:spcBef>
                <a:spcPts val="800"/>
              </a:spcBef>
              <a:spcAft>
                <a:spcPts val="0"/>
              </a:spcAft>
              <a:buNone/>
            </a:pPr>
            <a:endParaRPr/>
          </a:p>
          <a:p>
            <a:pPr marL="0" lvl="0" indent="0" algn="l" rtl="0">
              <a:spcBef>
                <a:spcPts val="800"/>
              </a:spcBef>
              <a:spcAft>
                <a:spcPts val="0"/>
              </a:spcAft>
              <a:buNone/>
            </a:pPr>
            <a:r>
              <a:rPr lang="en"/>
              <a:t>With the evidence you present here teachers should get a clear and comprehensive overview of your progress, how you’ve engaged with feedback, as well as your general attitude and performance as a student and as an aspiring professional developer.</a:t>
            </a:r>
            <a:endParaRPr/>
          </a:p>
          <a:p>
            <a:pPr marL="0" lvl="0" indent="0" algn="l" rtl="0">
              <a:spcBef>
                <a:spcPts val="800"/>
              </a:spcBef>
              <a:spcAft>
                <a:spcPts val="0"/>
              </a:spcAft>
              <a:buNone/>
            </a:pPr>
            <a:endParaRPr/>
          </a:p>
          <a:p>
            <a:pPr marL="0" lvl="0" indent="0" algn="l" rtl="0">
              <a:spcBef>
                <a:spcPts val="800"/>
              </a:spcBef>
              <a:spcAft>
                <a:spcPts val="0"/>
              </a:spcAft>
              <a:buNone/>
            </a:pPr>
            <a:r>
              <a:rPr lang="en"/>
              <a:t>Note that number and size of text boxes and how they are organized on each slide may be modified as needed. It is up to you to decide what layout is most effective for the content you are providing. You may also add slides if needed, but try to be as economical as possible, i.e. quality over quantity. Focus on the things that are the most significant and meaningful.</a:t>
            </a:r>
            <a:endParaRPr/>
          </a:p>
          <a:p>
            <a:pPr marL="0" lvl="0" indent="0" algn="l" rtl="0">
              <a:spcBef>
                <a:spcPts val="800"/>
              </a:spcBef>
              <a:spcAft>
                <a:spcPts val="0"/>
              </a:spcAft>
              <a:buNone/>
            </a:pPr>
            <a:endParaRPr/>
          </a:p>
          <a:p>
            <a:pPr marL="0" lvl="0" indent="0" algn="l" rtl="0">
              <a:spcBef>
                <a:spcPts val="800"/>
              </a:spcBef>
              <a:spcAft>
                <a:spcPts val="800"/>
              </a:spcAft>
              <a:buNone/>
            </a:pPr>
            <a:r>
              <a:rPr lang="en"/>
              <a:t>You are also free to stylise this template to improve the graphic design and visual appeal, but please remember its purpose: to provide evidence of your progress towards becoming a professional developer. Changes should only enhance and extend the information, and may never subtract. I.e. do not delete anything or change the order of things. If in doubt, seek approval from your teachers!</a:t>
            </a:r>
            <a:endParaRPr/>
          </a:p>
        </p:txBody>
      </p:sp>
      <p:pic>
        <p:nvPicPr>
          <p:cNvPr id="1026" name="Picture 2" descr="Artificial intelligence brain">
            <a:extLst>
              <a:ext uri="{FF2B5EF4-FFF2-40B4-BE49-F238E27FC236}">
                <a16:creationId xmlns:a16="http://schemas.microsoft.com/office/drawing/2014/main" id="{31E76062-B307-B28D-6D09-6AB7455F1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4" y="453863"/>
            <a:ext cx="3102126" cy="16152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4"/>
          <p:cNvSpPr txBox="1">
            <a:spLocks noGrp="1"/>
          </p:cNvSpPr>
          <p:nvPr>
            <p:ph type="title"/>
          </p:nvPr>
        </p:nvSpPr>
        <p:spPr>
          <a:xfrm>
            <a:off x="274320" y="308799"/>
            <a:ext cx="2560200" cy="1551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Learning Log</a:t>
            </a:r>
            <a:endParaRPr/>
          </a:p>
          <a:p>
            <a:pPr marL="0" lvl="0" indent="0" algn="ctr" rtl="0">
              <a:spcBef>
                <a:spcPts val="0"/>
              </a:spcBef>
              <a:spcAft>
                <a:spcPts val="0"/>
              </a:spcAft>
              <a:buNone/>
            </a:pPr>
            <a:r>
              <a:rPr lang="en"/>
              <a:t>Structure</a:t>
            </a:r>
            <a:endParaRPr/>
          </a:p>
        </p:txBody>
      </p:sp>
      <p:sp>
        <p:nvSpPr>
          <p:cNvPr id="109" name="Google Shape;109;p14"/>
          <p:cNvSpPr txBox="1">
            <a:spLocks noGrp="1"/>
          </p:cNvSpPr>
          <p:nvPr>
            <p:ph type="subTitle" idx="1"/>
          </p:nvPr>
        </p:nvSpPr>
        <p:spPr>
          <a:xfrm>
            <a:off x="274320" y="1860700"/>
            <a:ext cx="2560200" cy="301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a:t>Section A</a:t>
            </a:r>
            <a:endParaRPr sz="1400"/>
          </a:p>
          <a:p>
            <a:pPr marL="182880" lvl="0" indent="-180340" algn="l" rtl="0">
              <a:spcBef>
                <a:spcPts val="0"/>
              </a:spcBef>
              <a:spcAft>
                <a:spcPts val="0"/>
              </a:spcAft>
              <a:buSzPts val="1400"/>
              <a:buChar char="●"/>
            </a:pPr>
            <a:r>
              <a:rPr lang="en" sz="1400"/>
              <a:t>Starting this block</a:t>
            </a:r>
            <a:endParaRPr sz="1400"/>
          </a:p>
          <a:p>
            <a:pPr marL="182880" lvl="0" indent="-180340" algn="l" rtl="0">
              <a:spcBef>
                <a:spcPts val="0"/>
              </a:spcBef>
              <a:spcAft>
                <a:spcPts val="0"/>
              </a:spcAft>
              <a:buSzPts val="1400"/>
              <a:buChar char="●"/>
            </a:pPr>
            <a:r>
              <a:rPr lang="en" sz="1400"/>
              <a:t>Goals</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Section B </a:t>
            </a:r>
            <a:endParaRPr sz="1400"/>
          </a:p>
          <a:p>
            <a:pPr marL="182880" lvl="0" indent="-180340" algn="l" rtl="0">
              <a:spcBef>
                <a:spcPts val="0"/>
              </a:spcBef>
              <a:spcAft>
                <a:spcPts val="0"/>
              </a:spcAft>
              <a:buSzPts val="1400"/>
              <a:buChar char="●"/>
            </a:pPr>
            <a:r>
              <a:rPr lang="en" sz="1400"/>
              <a:t>ILO section</a:t>
            </a:r>
            <a:endParaRPr sz="1400"/>
          </a:p>
          <a:p>
            <a:pPr marL="182880" lvl="0" indent="-180340" algn="l" rtl="0">
              <a:spcBef>
                <a:spcPts val="0"/>
              </a:spcBef>
              <a:spcAft>
                <a:spcPts val="0"/>
              </a:spcAft>
              <a:buSzPts val="1400"/>
              <a:buChar char="●"/>
            </a:pPr>
            <a:r>
              <a:rPr lang="en" sz="1400"/>
              <a:t>Week log section</a:t>
            </a:r>
            <a:endParaRPr sz="1400"/>
          </a:p>
          <a:p>
            <a:pPr marL="0" lvl="0" indent="0" algn="l" rtl="0">
              <a:spcBef>
                <a:spcPts val="0"/>
              </a:spcBef>
              <a:spcAft>
                <a:spcPts val="0"/>
              </a:spcAft>
              <a:buNone/>
            </a:pPr>
            <a:endParaRPr sz="1400"/>
          </a:p>
          <a:p>
            <a:pPr marL="0" lvl="0" indent="0" algn="l" rtl="0">
              <a:spcBef>
                <a:spcPts val="0"/>
              </a:spcBef>
              <a:spcAft>
                <a:spcPts val="0"/>
              </a:spcAft>
              <a:buNone/>
            </a:pPr>
            <a:r>
              <a:rPr lang="en" sz="1400"/>
              <a:t>Section C</a:t>
            </a:r>
            <a:endParaRPr sz="1400"/>
          </a:p>
          <a:p>
            <a:pPr marL="182880" lvl="0" indent="-180340" algn="l" rtl="0">
              <a:spcBef>
                <a:spcPts val="0"/>
              </a:spcBef>
              <a:spcAft>
                <a:spcPts val="0"/>
              </a:spcAft>
              <a:buSzPts val="1400"/>
              <a:buChar char="●"/>
            </a:pPr>
            <a:r>
              <a:rPr lang="en" sz="1400"/>
              <a:t>Block reflection</a:t>
            </a:r>
            <a:endParaRPr sz="1400"/>
          </a:p>
        </p:txBody>
      </p:sp>
      <p:sp>
        <p:nvSpPr>
          <p:cNvPr id="110" name="Google Shape;110;p14"/>
          <p:cNvSpPr txBox="1">
            <a:spLocks noGrp="1"/>
          </p:cNvSpPr>
          <p:nvPr>
            <p:ph type="body" idx="2"/>
          </p:nvPr>
        </p:nvSpPr>
        <p:spPr>
          <a:xfrm>
            <a:off x="3383280" y="274320"/>
            <a:ext cx="5486400" cy="45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200" b="1" u="sng" dirty="0"/>
              <a:t>Section A - My Plan		</a:t>
            </a:r>
            <a:r>
              <a:rPr lang="en" i="1" dirty="0"/>
              <a:t>Must be completed in </a:t>
            </a:r>
            <a:r>
              <a:rPr lang="en" i="1" u="sng" dirty="0"/>
              <a:t>week 1</a:t>
            </a:r>
            <a:endParaRPr i="1" u="sng" dirty="0"/>
          </a:p>
          <a:p>
            <a:pPr marL="0" lvl="0" indent="0" algn="l" rtl="0">
              <a:spcBef>
                <a:spcPts val="800"/>
              </a:spcBef>
              <a:spcAft>
                <a:spcPts val="0"/>
              </a:spcAft>
              <a:buNone/>
            </a:pPr>
            <a:r>
              <a:rPr lang="en" dirty="0"/>
              <a:t>Your plan describes your goals for the block. Starting with where you are right now, where do you want to be at the end of the block? I.e. what role(s) will you take responsibility for, and how will you demonstrate progress relevant to the ILOs for this block? What tasks and deliverables are best aligned with your role and the project brief?</a:t>
            </a:r>
            <a:endParaRPr dirty="0"/>
          </a:p>
          <a:p>
            <a:pPr marL="0" lvl="0" indent="0" algn="l" rtl="0">
              <a:spcBef>
                <a:spcPts val="800"/>
              </a:spcBef>
              <a:spcAft>
                <a:spcPts val="0"/>
              </a:spcAft>
              <a:buNone/>
            </a:pPr>
            <a:r>
              <a:rPr lang="en" sz="1200" b="1" u="sng" dirty="0"/>
              <a:t>Section B - ILO’s		</a:t>
            </a:r>
            <a:r>
              <a:rPr lang="en" i="1" dirty="0"/>
              <a:t>Must be completed in </a:t>
            </a:r>
            <a:r>
              <a:rPr lang="en" i="1" u="sng" dirty="0"/>
              <a:t>week 8</a:t>
            </a:r>
            <a:r>
              <a:rPr lang="en" i="1" dirty="0"/>
              <a:t>, but should be updated </a:t>
            </a:r>
            <a:r>
              <a:rPr lang="en" i="1" u="sng" dirty="0"/>
              <a:t>regularly</a:t>
            </a:r>
            <a:endParaRPr i="1" u="sng" dirty="0"/>
          </a:p>
          <a:p>
            <a:pPr marL="0" lvl="0" indent="0" algn="l" rtl="0">
              <a:spcBef>
                <a:spcPts val="800"/>
              </a:spcBef>
              <a:spcAft>
                <a:spcPts val="0"/>
              </a:spcAft>
              <a:buNone/>
            </a:pPr>
            <a:r>
              <a:rPr lang="en" dirty="0"/>
              <a:t>This is where you link your evidence to each of the Intended Learning Outcomes of this block.</a:t>
            </a:r>
            <a:endParaRPr dirty="0"/>
          </a:p>
          <a:p>
            <a:pPr marL="0" lvl="0" indent="0" algn="l" rtl="0">
              <a:spcBef>
                <a:spcPts val="800"/>
              </a:spcBef>
              <a:spcAft>
                <a:spcPts val="0"/>
              </a:spcAft>
              <a:buNone/>
            </a:pPr>
            <a:r>
              <a:rPr lang="en" sz="1200" b="1" u="sng" dirty="0"/>
              <a:t>Section C - Weekly Log	</a:t>
            </a:r>
            <a:r>
              <a:rPr lang="en" i="1" dirty="0"/>
              <a:t>Must be updated </a:t>
            </a:r>
            <a:r>
              <a:rPr lang="en" i="1" u="sng" dirty="0"/>
              <a:t>every week</a:t>
            </a:r>
            <a:endParaRPr i="1" u="sng" dirty="0"/>
          </a:p>
          <a:p>
            <a:pPr marL="0" lvl="0" indent="0" algn="l" rtl="0">
              <a:spcBef>
                <a:spcPts val="800"/>
              </a:spcBef>
              <a:spcAft>
                <a:spcPts val="0"/>
              </a:spcAft>
              <a:buNone/>
            </a:pPr>
            <a:r>
              <a:rPr lang="en" dirty="0"/>
              <a:t>This is simply a log (journal) of what you do each day, and what you learn from it. It is your responsibility to update this regularly and frequently. Be sure to include working links to any specific evidence you are referencing (and make sure that you share your docs with the teaching team). Note: some of the required information may be captured in production documents such as your work log or peer reviews. </a:t>
            </a:r>
            <a:endParaRPr dirty="0"/>
          </a:p>
          <a:p>
            <a:pPr marL="0" lvl="0" indent="0" algn="l" rtl="0">
              <a:spcBef>
                <a:spcPts val="800"/>
              </a:spcBef>
              <a:spcAft>
                <a:spcPts val="0"/>
              </a:spcAft>
              <a:buNone/>
            </a:pPr>
            <a:r>
              <a:rPr lang="en" dirty="0"/>
              <a:t>In such cases, you simply need to provide links to those artifacts and may include any explanatory comment or reflection you feel is appropriate. </a:t>
            </a:r>
            <a:endParaRPr dirty="0"/>
          </a:p>
          <a:p>
            <a:pPr marL="0" lvl="0" indent="0" algn="l" rtl="0">
              <a:spcBef>
                <a:spcPts val="800"/>
              </a:spcBef>
              <a:spcAft>
                <a:spcPts val="0"/>
              </a:spcAft>
              <a:buNone/>
            </a:pPr>
            <a:r>
              <a:rPr lang="en" dirty="0"/>
              <a:t>(Some reflection is almost always a good idea as it provides the foundation for Section C.)</a:t>
            </a:r>
            <a:endParaRPr dirty="0"/>
          </a:p>
          <a:p>
            <a:pPr marL="0" lvl="0" indent="0" algn="l" rtl="0">
              <a:spcBef>
                <a:spcPts val="800"/>
              </a:spcBef>
              <a:spcAft>
                <a:spcPts val="0"/>
              </a:spcAft>
              <a:buNone/>
            </a:pPr>
            <a:r>
              <a:rPr lang="en" sz="1200" b="1" u="sng" dirty="0"/>
              <a:t>Section D - Reflection	</a:t>
            </a:r>
            <a:r>
              <a:rPr lang="en" i="1" dirty="0"/>
              <a:t>Must be completed in </a:t>
            </a:r>
            <a:r>
              <a:rPr lang="en" i="1" u="sng" dirty="0"/>
              <a:t>week 8</a:t>
            </a:r>
            <a:endParaRPr i="1" u="sng" dirty="0"/>
          </a:p>
          <a:p>
            <a:pPr marL="0" lvl="0" indent="0" algn="l" rtl="0">
              <a:spcBef>
                <a:spcPts val="800"/>
              </a:spcBef>
              <a:spcAft>
                <a:spcPts val="800"/>
              </a:spcAft>
              <a:buNone/>
            </a:pPr>
            <a:r>
              <a:rPr lang="en" dirty="0"/>
              <a:t>Summative reflection on your progress during the block including a critical assessment of everything you did and learned during the block. This is a comprehensive review of everything recorded in Section B, evaluated against the goals and planning laid out in Section A.</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a:t>
            </a:r>
            <a:endParaRPr sz="6000"/>
          </a:p>
        </p:txBody>
      </p:sp>
      <p:sp>
        <p:nvSpPr>
          <p:cNvPr id="154" name="Google Shape;154;p19"/>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3000"/>
              <a:t>Goal Setting</a:t>
            </a:r>
            <a:endParaRPr lang="en-US" sz="3000"/>
          </a:p>
        </p:txBody>
      </p:sp>
      <p:sp>
        <p:nvSpPr>
          <p:cNvPr id="155" name="Google Shape;155;p1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A</a:t>
            </a:r>
            <a:endParaRPr sz="40000">
              <a:solidFill>
                <a:srgbClr val="999999"/>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1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Where am I starting?</a:t>
            </a:r>
            <a:endParaRPr/>
          </a:p>
        </p:txBody>
      </p:sp>
      <p:sp>
        <p:nvSpPr>
          <p:cNvPr id="123" name="Google Shape;123;p16"/>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sz="1400"/>
              <a:t>1/</a:t>
            </a:r>
            <a:r>
              <a:rPr lang="en"/>
              <a:t>2</a:t>
            </a:r>
            <a:endParaRPr sz="1400"/>
          </a:p>
        </p:txBody>
      </p:sp>
      <p:sp>
        <p:nvSpPr>
          <p:cNvPr id="124" name="Google Shape;124;p16"/>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sp>
        <p:nvSpPr>
          <p:cNvPr id="125" name="Google Shape;125;p16"/>
          <p:cNvSpPr txBox="1">
            <a:spLocks noGrp="1"/>
          </p:cNvSpPr>
          <p:nvPr>
            <p:ph type="subTitle" idx="1"/>
          </p:nvPr>
        </p:nvSpPr>
        <p:spPr>
          <a:xfrm>
            <a:off x="182880" y="667512"/>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Feedback from previous assessment -								     Previous block’s grade</a:t>
            </a:r>
            <a:endParaRPr b="0" i="1" dirty="0"/>
          </a:p>
        </p:txBody>
      </p:sp>
      <p:sp>
        <p:nvSpPr>
          <p:cNvPr id="126" name="Google Shape;126;p16"/>
          <p:cNvSpPr txBox="1">
            <a:spLocks noGrp="1"/>
          </p:cNvSpPr>
          <p:nvPr>
            <p:ph type="body" idx="3"/>
          </p:nvPr>
        </p:nvSpPr>
        <p:spPr>
          <a:xfrm>
            <a:off x="182880" y="1069848"/>
            <a:ext cx="58521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dirty="0"/>
              <a:t>Take all the templates more serious and take care about my self beca</a:t>
            </a:r>
            <a:r>
              <a:rPr lang="en-US" dirty="0"/>
              <a:t>us</a:t>
            </a:r>
            <a:r>
              <a:rPr lang="en" dirty="0"/>
              <a:t>e I was sick most of the previous block that is why I was very behind of the context and also missed points from standup criteria.</a:t>
            </a:r>
            <a:endParaRPr dirty="0"/>
          </a:p>
          <a:p>
            <a:pPr marL="0" lvl="0" indent="0" algn="just" rtl="0">
              <a:spcBef>
                <a:spcPts val="800"/>
              </a:spcBef>
              <a:spcAft>
                <a:spcPts val="0"/>
              </a:spcAft>
              <a:buNone/>
            </a:pPr>
            <a:endParaRPr dirty="0"/>
          </a:p>
          <a:p>
            <a:pPr marL="0" lvl="0" indent="0" algn="just" rtl="0">
              <a:spcBef>
                <a:spcPts val="800"/>
              </a:spcBef>
              <a:spcAft>
                <a:spcPts val="0"/>
              </a:spcAft>
              <a:buNone/>
            </a:pPr>
            <a:r>
              <a:rPr lang="en" sz="1400" b="1" dirty="0"/>
              <a:t>My interpretation / key takeaways</a:t>
            </a:r>
            <a:endParaRPr sz="1400" b="1" dirty="0"/>
          </a:p>
          <a:p>
            <a:pPr marL="0" lvl="0" indent="0" algn="just" rtl="0">
              <a:spcBef>
                <a:spcPts val="800"/>
              </a:spcBef>
              <a:spcAft>
                <a:spcPts val="800"/>
              </a:spcAft>
              <a:buNone/>
            </a:pPr>
            <a:r>
              <a:rPr lang="en-US" dirty="0"/>
              <a:t>T</a:t>
            </a:r>
            <a:r>
              <a:rPr lang="en" dirty="0"/>
              <a:t>ake all the templates serious and do not missed any points.</a:t>
            </a:r>
            <a:endParaRPr dirty="0"/>
          </a:p>
        </p:txBody>
      </p:sp>
      <p:sp>
        <p:nvSpPr>
          <p:cNvPr id="127" name="Google Shape;127;p16"/>
          <p:cNvSpPr txBox="1"/>
          <p:nvPr/>
        </p:nvSpPr>
        <p:spPr>
          <a:xfrm>
            <a:off x="7918704" y="752900"/>
            <a:ext cx="914400" cy="64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b="1" dirty="0">
                <a:solidFill>
                  <a:srgbClr val="434343"/>
                </a:solidFill>
                <a:latin typeface="Roboto"/>
                <a:ea typeface="Roboto"/>
                <a:cs typeface="Roboto"/>
                <a:sym typeface="Roboto"/>
              </a:rPr>
              <a:t>7,2</a:t>
            </a:r>
            <a:endParaRPr sz="3600" b="1" dirty="0">
              <a:solidFill>
                <a:srgbClr val="434343"/>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is my plan?</a:t>
            </a:r>
            <a:endParaRPr/>
          </a:p>
        </p:txBody>
      </p:sp>
      <p:sp>
        <p:nvSpPr>
          <p:cNvPr id="133" name="Google Shape;133;p17"/>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34" name="Google Shape;134;p17"/>
          <p:cNvSpPr txBox="1">
            <a:spLocks noGrp="1"/>
          </p:cNvSpPr>
          <p:nvPr>
            <p:ph type="subTitle" idx="1"/>
          </p:nvPr>
        </p:nvSpPr>
        <p:spPr>
          <a:xfrm>
            <a:off x="182873" y="667500"/>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I learned last block -										     Previous block’s grade</a:t>
            </a:r>
            <a:endParaRPr/>
          </a:p>
        </p:txBody>
      </p:sp>
      <p:sp>
        <p:nvSpPr>
          <p:cNvPr id="135" name="Google Shape;135;p17"/>
          <p:cNvSpPr txBox="1">
            <a:spLocks noGrp="1"/>
          </p:cNvSpPr>
          <p:nvPr>
            <p:ph type="body" idx="3"/>
          </p:nvPr>
        </p:nvSpPr>
        <p:spPr>
          <a:xfrm>
            <a:off x="182880" y="1069848"/>
            <a:ext cx="58521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dirty="0"/>
              <a:t>I learned about neural networks and how to build a Convolutional Neural Network (CNN) model, which I found particularly interesting. It was exciting to see how CNNs can be used to process and analyze complex data, especially in image-related tasks. This topic deepened my understanding of deep learning and inspired me to explore more advanced neural network architectures in the future..</a:t>
            </a:r>
            <a:endParaRPr dirty="0"/>
          </a:p>
          <a:p>
            <a:pPr marL="0" lvl="0" indent="0" algn="just" rtl="0">
              <a:spcBef>
                <a:spcPts val="800"/>
              </a:spcBef>
              <a:spcAft>
                <a:spcPts val="0"/>
              </a:spcAft>
              <a:buNone/>
            </a:pPr>
            <a:endParaRPr dirty="0"/>
          </a:p>
          <a:p>
            <a:pPr marL="0" lvl="0" indent="0" algn="just" rtl="0">
              <a:spcBef>
                <a:spcPts val="800"/>
              </a:spcBef>
              <a:spcAft>
                <a:spcPts val="0"/>
              </a:spcAft>
              <a:buNone/>
            </a:pPr>
            <a:r>
              <a:rPr lang="en" sz="1400" b="1" dirty="0"/>
              <a:t>My current level of progress</a:t>
            </a:r>
            <a:endParaRPr sz="1400" b="1" dirty="0"/>
          </a:p>
          <a:p>
            <a:pPr marL="0" lvl="0" indent="0" algn="l" rtl="0">
              <a:spcBef>
                <a:spcPts val="800"/>
              </a:spcBef>
              <a:spcAft>
                <a:spcPts val="800"/>
              </a:spcAft>
              <a:buNone/>
            </a:pPr>
            <a:r>
              <a:rPr lang="en-US" dirty="0"/>
              <a:t>I hope to apply all the knowledge and skills I gained from Blocks B and C to this block, especially in areas like data preprocessing, model development, and teamwork. By building on what I’ve learned, I aim to contribute effectively and help my team develop a strong and accurate model for this project.</a:t>
            </a:r>
            <a:endParaRPr dirty="0"/>
          </a:p>
        </p:txBody>
      </p:sp>
      <p:sp>
        <p:nvSpPr>
          <p:cNvPr id="136" name="Google Shape;136;p17"/>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sp>
        <p:nvSpPr>
          <p:cNvPr id="137" name="Google Shape;137;p17"/>
          <p:cNvSpPr txBox="1"/>
          <p:nvPr/>
        </p:nvSpPr>
        <p:spPr>
          <a:xfrm>
            <a:off x="6217920" y="3594048"/>
            <a:ext cx="2743200" cy="1371000"/>
          </a:xfrm>
          <a:prstGeom prst="rect">
            <a:avLst/>
          </a:prstGeom>
          <a:solidFill>
            <a:srgbClr val="FFFFFF"/>
          </a:solidFill>
          <a:ln>
            <a:noFill/>
          </a:ln>
        </p:spPr>
        <p:txBody>
          <a:bodyPr spcFirstLastPara="1" wrap="square" lIns="91425" tIns="91425" rIns="91425" bIns="91425" anchor="t" anchorCtr="0">
            <a:noAutofit/>
          </a:bodyPr>
          <a:lstStyle/>
          <a:p>
            <a:pPr marL="0" lvl="0" indent="0" algn="l" rtl="0">
              <a:lnSpc>
                <a:spcPct val="104000"/>
              </a:lnSpc>
              <a:spcBef>
                <a:spcPts val="0"/>
              </a:spcBef>
              <a:spcAft>
                <a:spcPts val="0"/>
              </a:spcAft>
              <a:buNone/>
            </a:pPr>
            <a:r>
              <a:rPr lang="en" b="1" dirty="0">
                <a:solidFill>
                  <a:srgbClr val="434343"/>
                </a:solidFill>
                <a:latin typeface="Roboto"/>
                <a:ea typeface="Roboto"/>
                <a:cs typeface="Roboto"/>
                <a:sym typeface="Roboto"/>
                <a:hlinkClick r:id="rId3"/>
              </a:rPr>
              <a:t>Links</a:t>
            </a:r>
            <a:endParaRPr dirty="0">
              <a:solidFill>
                <a:srgbClr val="434343"/>
              </a:solidFill>
              <a:latin typeface="Roboto"/>
              <a:ea typeface="Roboto"/>
              <a:cs typeface="Roboto"/>
              <a:sym typeface="Roboto"/>
            </a:endParaRPr>
          </a:p>
          <a:p>
            <a:pPr marL="0" lvl="0" indent="0" algn="l" rtl="0">
              <a:lnSpc>
                <a:spcPct val="104000"/>
              </a:lnSpc>
              <a:spcBef>
                <a:spcPts val="800"/>
              </a:spcBef>
              <a:spcAft>
                <a:spcPts val="800"/>
              </a:spcAft>
              <a:buNone/>
            </a:pPr>
            <a:r>
              <a:rPr lang="en" sz="1000" dirty="0">
                <a:solidFill>
                  <a:srgbClr val="434343"/>
                </a:solidFill>
                <a:latin typeface="Roboto"/>
                <a:ea typeface="Roboto"/>
                <a:cs typeface="Roboto"/>
                <a:sym typeface="Roboto"/>
              </a:rPr>
              <a:t>...</a:t>
            </a:r>
            <a:endParaRPr sz="1000" dirty="0">
              <a:solidFill>
                <a:srgbClr val="434343"/>
              </a:solidFill>
              <a:latin typeface="Roboto"/>
              <a:ea typeface="Roboto"/>
              <a:cs typeface="Roboto"/>
              <a:sym typeface="Roboto"/>
            </a:endParaRPr>
          </a:p>
        </p:txBody>
      </p:sp>
      <p:sp>
        <p:nvSpPr>
          <p:cNvPr id="138" name="Google Shape;138;p17"/>
          <p:cNvSpPr txBox="1"/>
          <p:nvPr/>
        </p:nvSpPr>
        <p:spPr>
          <a:xfrm>
            <a:off x="7918704" y="752900"/>
            <a:ext cx="914400" cy="64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b="1" dirty="0">
                <a:solidFill>
                  <a:srgbClr val="434343"/>
                </a:solidFill>
                <a:latin typeface="Roboto"/>
                <a:ea typeface="Roboto"/>
                <a:cs typeface="Roboto"/>
                <a:sym typeface="Roboto"/>
              </a:rPr>
              <a:t>7,2</a:t>
            </a:r>
            <a:endParaRPr sz="3600" b="1" dirty="0">
              <a:solidFill>
                <a:srgbClr val="434343"/>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18"/>
          <p:cNvSpPr txBox="1">
            <a:spLocks noGrp="1"/>
          </p:cNvSpPr>
          <p:nvPr>
            <p:ph type="body" idx="3"/>
          </p:nvPr>
        </p:nvSpPr>
        <p:spPr>
          <a:xfrm>
            <a:off x="3108950" y="1069812"/>
            <a:ext cx="4392230" cy="898473"/>
          </a:xfrm>
          <a:prstGeom prst="rect">
            <a:avLst/>
          </a:prstGeom>
        </p:spPr>
        <p:txBody>
          <a:bodyPr spcFirstLastPara="1" wrap="square" lIns="91425" tIns="91425" rIns="91425" bIns="91425" anchor="t" anchorCtr="0">
            <a:noAutofit/>
          </a:bodyPr>
          <a:lstStyle/>
          <a:p>
            <a:pPr marL="171450" indent="-171450"/>
            <a:r>
              <a:rPr lang="en-US" dirty="0"/>
              <a:t>Take responsibility for getting a good score:  50%</a:t>
            </a:r>
          </a:p>
          <a:p>
            <a:pPr marL="171450" indent="-171450"/>
            <a:r>
              <a:rPr lang="en-US" dirty="0"/>
              <a:t>	Aim to score better than Block B, and if possible, better 	than Block.</a:t>
            </a:r>
          </a:p>
          <a:p>
            <a:pPr marL="171450" indent="-171450"/>
            <a:r>
              <a:rPr lang="en-US" dirty="0"/>
              <a:t>Improve programming skills.   30%</a:t>
            </a:r>
          </a:p>
          <a:p>
            <a:pPr marL="0" lvl="0" indent="0" algn="l" rtl="0">
              <a:spcBef>
                <a:spcPts val="0"/>
              </a:spcBef>
              <a:spcAft>
                <a:spcPts val="0"/>
              </a:spcAft>
              <a:buNone/>
            </a:pPr>
            <a:r>
              <a:rPr lang="en-US" dirty="0"/>
              <a:t>	Build a strong portfolio and CV.</a:t>
            </a:r>
          </a:p>
          <a:p>
            <a:pPr marL="0" lvl="0" indent="0" algn="l" rtl="0">
              <a:spcBef>
                <a:spcPts val="0"/>
              </a:spcBef>
              <a:spcAft>
                <a:spcPts val="0"/>
              </a:spcAft>
              <a:buNone/>
            </a:pPr>
            <a:r>
              <a:rPr lang="en-US" dirty="0"/>
              <a:t>	Prepare to find freelance work by the end of the year.</a:t>
            </a:r>
          </a:p>
          <a:p>
            <a:pPr marL="171450" indent="-171450"/>
            <a:r>
              <a:rPr lang="en-US" dirty="0"/>
              <a:t>Focus on improving lifestyle routine:      20%</a:t>
            </a:r>
          </a:p>
          <a:p>
            <a:pPr marL="0" lvl="0" indent="0" algn="l" rtl="0">
              <a:spcBef>
                <a:spcPts val="0"/>
              </a:spcBef>
              <a:spcAft>
                <a:spcPts val="0"/>
              </a:spcAft>
              <a:buNone/>
            </a:pPr>
            <a:r>
              <a:rPr lang="en-US" dirty="0"/>
              <a:t>	Return to previous healthy habits.</a:t>
            </a:r>
          </a:p>
          <a:p>
            <a:pPr marL="0" lvl="0" indent="0" algn="l" rtl="0">
              <a:spcBef>
                <a:spcPts val="0"/>
              </a:spcBef>
              <a:spcAft>
                <a:spcPts val="0"/>
              </a:spcAft>
              <a:buNone/>
            </a:pPr>
            <a:r>
              <a:rPr lang="en-US" dirty="0"/>
              <a:t>	Take workouts seriously.</a:t>
            </a:r>
          </a:p>
          <a:p>
            <a:pPr marL="0" lvl="0" indent="0" algn="l" rtl="0">
              <a:spcBef>
                <a:spcPts val="0"/>
              </a:spcBef>
              <a:spcAft>
                <a:spcPts val="0"/>
              </a:spcAft>
              <a:buNone/>
            </a:pPr>
            <a:r>
              <a:rPr lang="en-US" sz="1400" b="1" dirty="0"/>
              <a:t>Personal and professional development goals</a:t>
            </a:r>
          </a:p>
          <a:p>
            <a:pPr marL="0" lvl="0" indent="0" algn="just" rtl="0">
              <a:lnSpc>
                <a:spcPct val="100000"/>
              </a:lnSpc>
              <a:spcBef>
                <a:spcPts val="800"/>
              </a:spcBef>
              <a:spcAft>
                <a:spcPts val="800"/>
              </a:spcAft>
              <a:buNone/>
            </a:pPr>
            <a:r>
              <a:rPr lang="en-US" dirty="0"/>
              <a:t>Specific: I will resume going to the gym and aim to reduce my weight to 75 kg.</a:t>
            </a:r>
          </a:p>
          <a:p>
            <a:pPr marL="0" lvl="0" indent="0" algn="just" rtl="0">
              <a:lnSpc>
                <a:spcPct val="100000"/>
              </a:lnSpc>
              <a:spcBef>
                <a:spcPts val="800"/>
              </a:spcBef>
              <a:spcAft>
                <a:spcPts val="800"/>
              </a:spcAft>
              <a:buNone/>
            </a:pPr>
            <a:r>
              <a:rPr lang="en-US" dirty="0"/>
              <a:t>Measurable: I will work out at the gym at least twice a week and track my weight regularly.</a:t>
            </a:r>
          </a:p>
          <a:p>
            <a:pPr marL="0" lvl="0" indent="0" algn="just" rtl="0">
              <a:lnSpc>
                <a:spcPct val="100000"/>
              </a:lnSpc>
              <a:spcBef>
                <a:spcPts val="800"/>
              </a:spcBef>
              <a:spcAft>
                <a:spcPts val="800"/>
              </a:spcAft>
              <a:buNone/>
            </a:pPr>
            <a:r>
              <a:rPr lang="en-US" dirty="0"/>
              <a:t>Achievable: This goal is realistic, as I was previously 80 kg before coming to the Netherlands, so losing a few kilograms is within reach.</a:t>
            </a:r>
          </a:p>
          <a:p>
            <a:pPr marL="0" lvl="0" indent="0" algn="just" rtl="0">
              <a:lnSpc>
                <a:spcPct val="100000"/>
              </a:lnSpc>
              <a:spcBef>
                <a:spcPts val="800"/>
              </a:spcBef>
              <a:spcAft>
                <a:spcPts val="800"/>
              </a:spcAft>
              <a:buNone/>
            </a:pPr>
            <a:r>
              <a:rPr lang="en-US" dirty="0"/>
              <a:t>Relevant: This goal aligns with my personal commitment to improving my health and returning to a better lifestyle routine.</a:t>
            </a:r>
          </a:p>
          <a:p>
            <a:pPr marL="0" lvl="0" indent="0" algn="just" rtl="0">
              <a:lnSpc>
                <a:spcPct val="100000"/>
              </a:lnSpc>
              <a:spcBef>
                <a:spcPts val="800"/>
              </a:spcBef>
              <a:spcAft>
                <a:spcPts val="800"/>
              </a:spcAft>
              <a:buNone/>
            </a:pPr>
            <a:r>
              <a:rPr lang="en-US" dirty="0"/>
              <a:t>Time-bound: I will achieve this goal by the end of this block, which is approximately 1.5 months from now.</a:t>
            </a:r>
            <a:endParaRPr lang="en" dirty="0"/>
          </a:p>
        </p:txBody>
      </p:sp>
      <p:sp>
        <p:nvSpPr>
          <p:cNvPr id="144" name="Google Shape;144;p18"/>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are my goals?</a:t>
            </a:r>
            <a:endParaRPr/>
          </a:p>
        </p:txBody>
      </p:sp>
      <p:sp>
        <p:nvSpPr>
          <p:cNvPr id="145" name="Google Shape;145;p18"/>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1/1</a:t>
            </a:r>
            <a:endParaRPr/>
          </a:p>
        </p:txBody>
      </p:sp>
      <p:sp>
        <p:nvSpPr>
          <p:cNvPr id="146" name="Google Shape;146;p18"/>
          <p:cNvSpPr txBox="1">
            <a:spLocks noGrp="1"/>
          </p:cNvSpPr>
          <p:nvPr>
            <p:ph type="subTitle" idx="1"/>
          </p:nvPr>
        </p:nvSpPr>
        <p:spPr>
          <a:xfrm>
            <a:off x="3108960" y="667512"/>
            <a:ext cx="58521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I am taking responsibility for</a:t>
            </a:r>
            <a:r>
              <a:rPr lang="en" b="0" i="1" dirty="0"/>
              <a:t> (if multiple add in percentages)</a:t>
            </a:r>
            <a:endParaRPr b="0" i="1" dirty="0"/>
          </a:p>
        </p:txBody>
      </p:sp>
      <p:sp>
        <p:nvSpPr>
          <p:cNvPr id="147" name="Google Shape;147;p18"/>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a:t>
            </a:r>
            <a:endParaRPr/>
          </a:p>
        </p:txBody>
      </p:sp>
      <p:graphicFrame>
        <p:nvGraphicFramePr>
          <p:cNvPr id="148" name="Google Shape;148;p18"/>
          <p:cNvGraphicFramePr/>
          <p:nvPr>
            <p:extLst>
              <p:ext uri="{D42A27DB-BD31-4B8C-83A1-F6EECF244321}">
                <p14:modId xmlns:p14="http://schemas.microsoft.com/office/powerpoint/2010/main" val="2727034024"/>
              </p:ext>
            </p:extLst>
          </p:nvPr>
        </p:nvGraphicFramePr>
        <p:xfrm>
          <a:off x="182880" y="658368"/>
          <a:ext cx="2740000" cy="4297700"/>
        </p:xfrm>
        <a:graphic>
          <a:graphicData uri="http://schemas.openxmlformats.org/drawingml/2006/table">
            <a:tbl>
              <a:tblPr>
                <a:noFill/>
                <a:tableStyleId>{764D4AE7-FFBC-431D-9275-528F30A785D3}</a:tableStyleId>
              </a:tblPr>
              <a:tblGrid>
                <a:gridCol w="587150">
                  <a:extLst>
                    <a:ext uri="{9D8B030D-6E8A-4147-A177-3AD203B41FA5}">
                      <a16:colId xmlns:a16="http://schemas.microsoft.com/office/drawing/2014/main" val="20000"/>
                    </a:ext>
                  </a:extLst>
                </a:gridCol>
                <a:gridCol w="2152850">
                  <a:extLst>
                    <a:ext uri="{9D8B030D-6E8A-4147-A177-3AD203B41FA5}">
                      <a16:colId xmlns:a16="http://schemas.microsoft.com/office/drawing/2014/main" val="20001"/>
                    </a:ext>
                  </a:extLst>
                </a:gridCol>
              </a:tblGrid>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S</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C4125"/>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Specific:</a:t>
                      </a:r>
                      <a:r>
                        <a:rPr lang="en" sz="600">
                          <a:latin typeface="Roboto"/>
                          <a:ea typeface="Roboto"/>
                          <a:cs typeface="Roboto"/>
                          <a:sym typeface="Roboto"/>
                        </a:rPr>
                        <a:t> Be specific when determining your goal. The more specific the better. Putting a real figure to your goal helps make it measurable. When specific and measurable your subconscious mind cannot override your goals, they become achievable.</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0"/>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M</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E06666"/>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Measurable:</a:t>
                      </a:r>
                      <a:r>
                        <a:rPr lang="en" sz="600">
                          <a:latin typeface="Roboto"/>
                          <a:ea typeface="Roboto"/>
                          <a:cs typeface="Roboto"/>
                          <a:sym typeface="Roboto"/>
                        </a:rPr>
                        <a:t> This where you define a measurable and meaningful goal. It’s important to be able to track your progress. Without meaningful and measurable goals which you can track it’s easy to lose heart and focus.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1"/>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A</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6B26B"/>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Achievable:</a:t>
                      </a:r>
                      <a:r>
                        <a:rPr lang="en" sz="600">
                          <a:latin typeface="Roboto"/>
                          <a:ea typeface="Roboto"/>
                          <a:cs typeface="Roboto"/>
                          <a:sym typeface="Roboto"/>
                        </a:rPr>
                        <a:t> Choosing realistic and short-term goals helps them be more achievable. Long-term goals can be larger and take more time to achieve. Planning smaller short-term goals as steps to larger long-term goals assists in achieving them.</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2"/>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R</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FD966"/>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Relevant:</a:t>
                      </a:r>
                      <a:r>
                        <a:rPr lang="en" sz="600">
                          <a:latin typeface="Roboto"/>
                          <a:ea typeface="Roboto"/>
                          <a:cs typeface="Roboto"/>
                          <a:sym typeface="Roboto"/>
                        </a:rPr>
                        <a:t> Each goal you set must be in line with your core values and in harmony with what YOU want out of life. Contradictions in values and goals leads to frustration and loss of motivation. Designing your goals with the expectation of your personal success.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3"/>
                  </a:ext>
                </a:extLst>
              </a:tr>
              <a:tr h="586050">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T</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93C47D"/>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Time-Bound:</a:t>
                      </a:r>
                      <a:r>
                        <a:rPr lang="en" sz="600">
                          <a:latin typeface="Roboto"/>
                          <a:ea typeface="Roboto"/>
                          <a:cs typeface="Roboto"/>
                          <a:sym typeface="Roboto"/>
                        </a:rPr>
                        <a:t> Setting a time limit on achieving a goal makes it measurable. When a goal is measurable you can SEE your progress and support your motivation and commitment. Giving your goal a time limit assists you in holding yourself accountable to its completion.</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4"/>
                  </a:ext>
                </a:extLst>
              </a:tr>
              <a:tr h="683725">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E</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76A5AF"/>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Evaluate:</a:t>
                      </a:r>
                      <a:r>
                        <a:rPr lang="en" sz="600">
                          <a:latin typeface="Roboto"/>
                          <a:ea typeface="Roboto"/>
                          <a:cs typeface="Roboto"/>
                          <a:sym typeface="Roboto"/>
                        </a:rPr>
                        <a:t> By evaluating your goals on a regular basis you will be much more likely to achieve them. It is easy to forget about long-term goals if they are not revisited from time to time. This also helps you assess if the goal you are working on remains in line with your core values and helps you measure your progress.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5"/>
                  </a:ext>
                </a:extLst>
              </a:tr>
              <a:tr h="683725">
                <a:tc>
                  <a:txBody>
                    <a:bodyPr/>
                    <a:lstStyle/>
                    <a:p>
                      <a:pPr marL="0" lvl="0" indent="0" algn="ctr" rtl="0">
                        <a:lnSpc>
                          <a:spcPct val="115000"/>
                        </a:lnSpc>
                        <a:spcBef>
                          <a:spcPts val="0"/>
                        </a:spcBef>
                        <a:spcAft>
                          <a:spcPts val="0"/>
                        </a:spcAft>
                        <a:buNone/>
                      </a:pPr>
                      <a:r>
                        <a:rPr lang="en" sz="2400" b="1">
                          <a:solidFill>
                            <a:srgbClr val="FFFFFF"/>
                          </a:solidFill>
                          <a:latin typeface="Roboto"/>
                          <a:ea typeface="Roboto"/>
                          <a:cs typeface="Roboto"/>
                          <a:sym typeface="Roboto"/>
                        </a:rPr>
                        <a:t>R</a:t>
                      </a:r>
                      <a:endParaRPr sz="2400" b="1">
                        <a:solidFill>
                          <a:srgbClr val="FFFFFF"/>
                        </a:solidFill>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6D9EEB"/>
                    </a:solidFill>
                  </a:tcPr>
                </a:tc>
                <a:tc>
                  <a:txBody>
                    <a:bodyPr/>
                    <a:lstStyle/>
                    <a:p>
                      <a:pPr marL="0" lvl="0" indent="0" algn="l" rtl="0">
                        <a:lnSpc>
                          <a:spcPct val="115000"/>
                        </a:lnSpc>
                        <a:spcBef>
                          <a:spcPts val="0"/>
                        </a:spcBef>
                        <a:spcAft>
                          <a:spcPts val="0"/>
                        </a:spcAft>
                        <a:buNone/>
                      </a:pPr>
                      <a:r>
                        <a:rPr lang="en" sz="600" b="1">
                          <a:latin typeface="Roboto"/>
                          <a:ea typeface="Roboto"/>
                          <a:cs typeface="Roboto"/>
                          <a:sym typeface="Roboto"/>
                        </a:rPr>
                        <a:t>Readjust:</a:t>
                      </a:r>
                      <a:r>
                        <a:rPr lang="en" sz="600">
                          <a:latin typeface="Roboto"/>
                          <a:ea typeface="Roboto"/>
                          <a:cs typeface="Roboto"/>
                          <a:sym typeface="Roboto"/>
                        </a:rPr>
                        <a:t> Readjustments occur when goals are determined, through re-evaluation, to be misaligned with your values or long-term goals. This is especially helpful when you have been unable to achieve a goal in the time limits you set. This gives you the opportunity to modify your approach and increase your chances of success.</a:t>
                      </a:r>
                      <a:endParaRPr sz="600">
                        <a:latin typeface="Roboto"/>
                        <a:ea typeface="Roboto"/>
                        <a:cs typeface="Roboto"/>
                        <a:sym typeface="Roboto"/>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F3F3F3"/>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2D45B-F752-99E4-8806-79653330AFCB}"/>
              </a:ext>
            </a:extLst>
          </p:cNvPr>
          <p:cNvSpPr>
            <a:spLocks noGrp="1"/>
          </p:cNvSpPr>
          <p:nvPr>
            <p:ph type="ctrTitle"/>
          </p:nvPr>
        </p:nvSpPr>
        <p:spPr>
          <a:xfrm>
            <a:off x="3254644" y="224725"/>
            <a:ext cx="5540644" cy="3921071"/>
          </a:xfrm>
        </p:spPr>
        <p:txBody>
          <a:bodyPr/>
          <a:lstStyle/>
          <a:p>
            <a:pPr>
              <a:lnSpc>
                <a:spcPct val="150000"/>
              </a:lnSpc>
            </a:pPr>
            <a:r>
              <a:rPr lang="en-US" sz="1200" b="1" dirty="0"/>
              <a:t>Specific</a:t>
            </a:r>
            <a:r>
              <a:rPr lang="en-US" sz="1200" dirty="0"/>
              <a:t>: I will start reading Hands-On Machine Learning again to improve my understanding and confidence in the subject.</a:t>
            </a:r>
            <a:br>
              <a:rPr lang="en-US" sz="1200" dirty="0"/>
            </a:br>
            <a:r>
              <a:rPr lang="en-US" sz="1200" b="1" dirty="0"/>
              <a:t>Measurable</a:t>
            </a:r>
            <a:r>
              <a:rPr lang="en-US" sz="1200" dirty="0"/>
              <a:t>: I will read one chapter per week and complete the associated practice exercises and training provided in the book.</a:t>
            </a:r>
            <a:br>
              <a:rPr lang="en-US" sz="1200" dirty="0"/>
            </a:br>
            <a:r>
              <a:rPr lang="en-US" sz="1200" b="1" dirty="0"/>
              <a:t>Achievable</a:t>
            </a:r>
            <a:r>
              <a:rPr lang="en-US" sz="1200" dirty="0"/>
              <a:t>: This pace is manageable alongside my other responsibilities and will help reinforce my knowledge step by step.</a:t>
            </a:r>
            <a:br>
              <a:rPr lang="en-US" sz="1200" dirty="0"/>
            </a:br>
            <a:r>
              <a:rPr lang="en-US" sz="1200" b="1" dirty="0"/>
              <a:t>Relevant</a:t>
            </a:r>
            <a:r>
              <a:rPr lang="en-US" sz="1200" dirty="0"/>
              <a:t>: This goal is directly related to this block, where we are expected to run different models on the stock market.</a:t>
            </a:r>
            <a:br>
              <a:rPr lang="en-US" sz="1200" dirty="0"/>
            </a:br>
            <a:r>
              <a:rPr lang="en-US" sz="1200" b="1" dirty="0"/>
              <a:t>Time-bound</a:t>
            </a:r>
            <a:r>
              <a:rPr lang="en-US" sz="1200" dirty="0"/>
              <a:t>: I will complete each chapter weekly, keeping pace with the block schedule.</a:t>
            </a:r>
          </a:p>
        </p:txBody>
      </p:sp>
      <p:sp>
        <p:nvSpPr>
          <p:cNvPr id="3" name="Subtitle 2">
            <a:extLst>
              <a:ext uri="{FF2B5EF4-FFF2-40B4-BE49-F238E27FC236}">
                <a16:creationId xmlns:a16="http://schemas.microsoft.com/office/drawing/2014/main" id="{22BB66F5-868E-BB0E-7AA9-3299B6629C45}"/>
              </a:ext>
            </a:extLst>
          </p:cNvPr>
          <p:cNvSpPr>
            <a:spLocks noGrp="1"/>
          </p:cNvSpPr>
          <p:nvPr>
            <p:ph type="subTitle" idx="1"/>
          </p:nvPr>
        </p:nvSpPr>
        <p:spPr/>
        <p:txBody>
          <a:bodyPr/>
          <a:lstStyle/>
          <a:p>
            <a:r>
              <a:rPr lang="en-US" dirty="0"/>
              <a:t>Smart goal</a:t>
            </a:r>
          </a:p>
        </p:txBody>
      </p:sp>
    </p:spTree>
    <p:extLst>
      <p:ext uri="{BB962C8B-B14F-4D97-AF65-F5344CB8AC3E}">
        <p14:creationId xmlns:p14="http://schemas.microsoft.com/office/powerpoint/2010/main" val="1729459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9"/>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
              <a:t>B</a:t>
            </a:r>
            <a:endParaRPr sz="6000"/>
          </a:p>
        </p:txBody>
      </p:sp>
      <p:sp>
        <p:nvSpPr>
          <p:cNvPr id="154" name="Google Shape;154;p19"/>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Progress Log</a:t>
            </a:r>
            <a:endParaRPr lang="en-US" sz="3000"/>
          </a:p>
        </p:txBody>
      </p:sp>
      <p:sp>
        <p:nvSpPr>
          <p:cNvPr id="155" name="Google Shape;155;p1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 sz="40000">
                <a:solidFill>
                  <a:srgbClr val="999999"/>
                </a:solidFill>
                <a:latin typeface="Roboto"/>
                <a:ea typeface="Roboto"/>
                <a:cs typeface="Roboto"/>
                <a:sym typeface="Roboto"/>
              </a:rPr>
              <a:t>B</a:t>
            </a:r>
            <a:endParaRPr sz="40000">
              <a:solidFill>
                <a:srgbClr val="999999"/>
              </a:solidFill>
              <a:latin typeface="Roboto"/>
              <a:ea typeface="Roboto"/>
              <a:cs typeface="Roboto"/>
              <a:sym typeface="Roboto"/>
            </a:endParaRPr>
          </a:p>
        </p:txBody>
      </p:sp>
    </p:spTree>
    <p:extLst>
      <p:ext uri="{BB962C8B-B14F-4D97-AF65-F5344CB8AC3E}">
        <p14:creationId xmlns:p14="http://schemas.microsoft.com/office/powerpoint/2010/main" val="53072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r>
              <a:rPr lang="en"/>
              <a:t>Week 1 - Log</a:t>
            </a:r>
            <a:endParaRPr lang="en-US"/>
          </a:p>
        </p:txBody>
      </p:sp>
      <p:sp>
        <p:nvSpPr>
          <p:cNvPr id="161" name="Google Shape;161;p20"/>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162" name="Google Shape;162;p20"/>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163" name="Google Shape;163;p20"/>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US" dirty="0"/>
              <a:t>This week, I’m planning to get familiar with the block and understand what’s expected. I’ll start learning some SQL and try a few practice exercises to get the hang of it. I also want to go through the course materials, set up my working environment, and make a rough weekly plan so I can stay organized and on track.</a:t>
            </a:r>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 dirty="0"/>
              <a:t>What have you actually been able to do? </a:t>
            </a:r>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US" dirty="0"/>
              <a:t>This week, I found some useful videos on YouTube to help me get familiar with how the stock market works. I also spent some time practicing SQL to improve my basic skills.</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 dirty="0"/>
              <a:t>Showcase the evidence of your progress (production artifacts, short descriptions-links-pictures animated gifs, etc.)</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err="1">
                <a:hlinkClick r:id="rId3"/>
              </a:rPr>
              <a:t>Sql</a:t>
            </a:r>
            <a:r>
              <a:rPr lang="en-US" dirty="0">
                <a:hlinkClick r:id="rId3"/>
              </a:rPr>
              <a:t> exercises</a:t>
            </a:r>
            <a:endParaRPr lang="en-US" dirty="0"/>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US" dirty="0"/>
              <a:t>This link provide my SQL task which it was for first week </a:t>
            </a:r>
            <a:endParaRPr lang="en" dirty="0"/>
          </a:p>
        </p:txBody>
      </p:sp>
      <p:sp>
        <p:nvSpPr>
          <p:cNvPr id="164" name="Google Shape;164;p20"/>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This week went pretty well. I spent time going through SQL tutorials and practicing with different examples, which really helped me understand it better. I also watched videos and read some beginner-friendly material about how the stock market works. It gave me a clearer picture of the concepts we'll be using in this block. Overall, it felt like a productive start, and I feel more confident and ready for the upcoming tasks.</a:t>
            </a:r>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 dirty="0"/>
              <a:t>What went well? </a:t>
            </a:r>
          </a:p>
          <a:p>
            <a:pPr marL="27940" lvl="0" indent="0" algn="l" rtl="0">
              <a:spcBef>
                <a:spcPts val="0"/>
              </a:spcBef>
              <a:spcAft>
                <a:spcPts val="0"/>
              </a:spcAft>
              <a:buSzPts val="1000"/>
              <a:buNone/>
            </a:pPr>
            <a:r>
              <a:rPr lang="en-US" dirty="0"/>
              <a:t>Luckily, I was able to come up with my individual idea, and I’m really glad I figured it out this early.</a:t>
            </a:r>
          </a:p>
          <a:p>
            <a:pPr marL="27940" lvl="0" indent="0" algn="l" rtl="0">
              <a:spcBef>
                <a:spcPts val="0"/>
              </a:spcBef>
              <a:spcAft>
                <a:spcPts val="0"/>
              </a:spcAft>
              <a:buSzPts val="1000"/>
              <a:buNone/>
            </a:pPr>
            <a:r>
              <a:rPr lang="en" dirty="0"/>
              <a:t>What didn’t go so well? </a:t>
            </a:r>
          </a:p>
          <a:p>
            <a:pPr marL="27940" lvl="0" indent="0" algn="l" rtl="0">
              <a:spcBef>
                <a:spcPts val="0"/>
              </a:spcBef>
              <a:spcAft>
                <a:spcPts val="0"/>
              </a:spcAft>
              <a:buSzPts val="1000"/>
              <a:buNone/>
            </a:pPr>
            <a:r>
              <a:rPr lang="en-US" dirty="0"/>
              <a:t>Level 4 of the SQL section was a bit challenging for me, so I think I’ll need to spend some extra time practicing it to fully understand the concepts.</a:t>
            </a:r>
          </a:p>
          <a:p>
            <a:pPr marL="27940" lvl="0" indent="0" algn="l" rtl="0">
              <a:spcBef>
                <a:spcPts val="0"/>
              </a:spcBef>
              <a:spcAft>
                <a:spcPts val="0"/>
              </a:spcAft>
              <a:buSzPts val="1000"/>
              <a:buNone/>
            </a:pPr>
            <a:r>
              <a:rPr lang="en" dirty="0"/>
              <a:t>What did you learn? </a:t>
            </a:r>
          </a:p>
          <a:p>
            <a:pPr marL="27940" lvl="0" indent="0" algn="l" rtl="0">
              <a:spcBef>
                <a:spcPts val="0"/>
              </a:spcBef>
              <a:spcAft>
                <a:spcPts val="0"/>
              </a:spcAft>
              <a:buSzPts val="1000"/>
              <a:buNone/>
            </a:pPr>
            <a:r>
              <a:rPr lang="en-US" dirty="0"/>
              <a:t>In the first week, I started learning how to work with SQL and also built a basic understanding of how the stock market works. I think both of these will be really helpful as we move forward in this block.</a:t>
            </a:r>
          </a:p>
          <a:p>
            <a:pPr marL="27940" lvl="0" indent="0" algn="l" rtl="0">
              <a:spcBef>
                <a:spcPts val="0"/>
              </a:spcBef>
              <a:spcAft>
                <a:spcPts val="0"/>
              </a:spcAft>
              <a:buSzPts val="1000"/>
              <a:buNone/>
            </a:pPr>
            <a:r>
              <a:rPr lang="en" dirty="0"/>
              <a:t>What could be added as an Action point looking forward to next week?</a:t>
            </a:r>
          </a:p>
          <a:p>
            <a:pPr marL="27940" lvl="0" indent="0" algn="l" rtl="0">
              <a:spcBef>
                <a:spcPts val="0"/>
              </a:spcBef>
              <a:spcAft>
                <a:spcPts val="0"/>
              </a:spcAft>
              <a:buSzPts val="1000"/>
              <a:buNone/>
            </a:pPr>
            <a:r>
              <a:rPr lang="en-US" dirty="0"/>
              <a:t>For next week, my goal is to stay on track with the Data Lab tasks and make sure I don’t fall behind. I also want to focus on studying in a more efficient and structured way, so I can manage my time better and get the most out of each session.</a:t>
            </a:r>
            <a:endParaRPr dirty="0"/>
          </a:p>
        </p:txBody>
      </p:sp>
      <p:sp>
        <p:nvSpPr>
          <p:cNvPr id="165" name="Google Shape;165;p20"/>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166" name="Google Shape;166;p20"/>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167" name="Google Shape;167;p20"/>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1"/>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1 - Feedback</a:t>
            </a:r>
            <a:endParaRPr/>
          </a:p>
        </p:txBody>
      </p:sp>
      <p:sp>
        <p:nvSpPr>
          <p:cNvPr id="173" name="Google Shape;173;p21"/>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dirty="0"/>
              <a:t>Team, individual, peer, workshop feedback</a:t>
            </a:r>
            <a:endParaRPr dirty="0"/>
          </a:p>
        </p:txBody>
      </p:sp>
      <p:sp>
        <p:nvSpPr>
          <p:cNvPr id="174" name="Google Shape;174;p21"/>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endParaRPr dirty="0"/>
          </a:p>
          <a:p>
            <a:pPr marL="0" indent="0">
              <a:spcBef>
                <a:spcPts val="800"/>
              </a:spcBef>
              <a:spcAft>
                <a:spcPts val="800"/>
              </a:spcAft>
              <a:buNone/>
            </a:pPr>
            <a:r>
              <a:rPr lang="en" dirty="0"/>
              <a:t>Omar</a:t>
            </a:r>
          </a:p>
          <a:p>
            <a:pPr marL="0" indent="0">
              <a:spcBef>
                <a:spcPts val="800"/>
              </a:spcBef>
              <a:spcAft>
                <a:spcPts val="800"/>
              </a:spcAft>
              <a:buNone/>
            </a:pPr>
            <a:r>
              <a:rPr lang="en-US" dirty="0"/>
              <a:t>Your Week 1 log provides a solid and well-rounded start. You set clear goals to explore SQL, understand stock market basics, and get organized for the block — and you followed through with them effectively. It’s great that you used beginner-friendly resources like YouTube and practice exercises to build your foundation. Mentioning that Level 4 of SQL was challenging shows honest self-reflection and awareness of where to focus </a:t>
            </a:r>
            <a:r>
              <a:rPr lang="en-US" dirty="0" err="1"/>
              <a:t>next.Your</a:t>
            </a:r>
            <a:r>
              <a:rPr lang="en-US" dirty="0"/>
              <a:t> reflection on discovering your individual idea early is a strong point — it shows you're thinking ahead and engaging with the project direction. The plan to study more efficiently and stay on schedule in the following weeks also shows a good mindset for long-term success.</a:t>
            </a:r>
          </a:p>
        </p:txBody>
      </p:sp>
      <p:sp>
        <p:nvSpPr>
          <p:cNvPr id="175" name="Google Shape;175;p21"/>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176" name="Google Shape;176;p21"/>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1</a:t>
            </a:r>
            <a:endParaRPr/>
          </a:p>
        </p:txBody>
      </p:sp>
      <p:sp>
        <p:nvSpPr>
          <p:cNvPr id="2" name="TextBox 1">
            <a:extLst>
              <a:ext uri="{FF2B5EF4-FFF2-40B4-BE49-F238E27FC236}">
                <a16:creationId xmlns:a16="http://schemas.microsoft.com/office/drawing/2014/main" id="{7D431F1F-F634-7FA5-06F3-E9A2BA1F45DE}"/>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hlinkClick r:id="rId3"/>
              </a:rPr>
              <a:t>Click for feedback delivery techniques!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24"/>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2</a:t>
            </a:r>
            <a:r>
              <a:rPr lang="en"/>
              <a:t> - Log</a:t>
            </a:r>
            <a:endParaRPr/>
          </a:p>
        </p:txBody>
      </p:sp>
      <p:sp>
        <p:nvSpPr>
          <p:cNvPr id="203" name="Google Shape;203;p24"/>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04" name="Google Shape;204;p24"/>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05" name="Google Shape;205;p24"/>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US" dirty="0"/>
              <a:t>This week, I set a goal for myself to go through some courses on time series analysis and build a solid understanding of it. I’ve heard from many people that it’s both important and quite challenging, so I want to invest more time into learning it properly and making sure I really understand the key concepts.</a:t>
            </a:r>
          </a:p>
          <a:p>
            <a:pPr marL="27940" lvl="0" indent="0" algn="l" rtl="0">
              <a:spcBef>
                <a:spcPts val="0"/>
              </a:spcBef>
              <a:spcAft>
                <a:spcPts val="0"/>
              </a:spcAft>
              <a:buSzPts val="1000"/>
              <a:buNone/>
            </a:pPr>
            <a:r>
              <a:rPr lang="en" dirty="0"/>
              <a:t>What have you actually been able to do? </a:t>
            </a:r>
          </a:p>
          <a:p>
            <a:pPr marL="27940" lvl="0" indent="0" algn="l" rtl="0">
              <a:spcBef>
                <a:spcPts val="0"/>
              </a:spcBef>
              <a:spcAft>
                <a:spcPts val="0"/>
              </a:spcAft>
              <a:buSzPts val="1000"/>
              <a:buNone/>
            </a:pPr>
            <a:r>
              <a:rPr lang="en-US" dirty="0"/>
              <a:t>This week, I was fortunately able to complete two courses on time series through </a:t>
            </a:r>
            <a:r>
              <a:rPr lang="en-US" dirty="0" err="1"/>
              <a:t>DataCamp</a:t>
            </a:r>
            <a:r>
              <a:rPr lang="en-US" dirty="0"/>
              <a:t> and also practiced using the templates that Arash provided. I also spent some time researching the stock market to get a better understanding and develop a clearer direction for my individual idea project.</a:t>
            </a:r>
          </a:p>
          <a:p>
            <a:pPr marL="27940" lvl="0" indent="0" algn="l" rtl="0">
              <a:spcBef>
                <a:spcPts val="0"/>
              </a:spcBef>
              <a:spcAft>
                <a:spcPts val="0"/>
              </a:spcAft>
              <a:buSzPts val="1000"/>
              <a:buNone/>
            </a:pPr>
            <a:r>
              <a:rPr lang="en" dirty="0"/>
              <a:t>Showcase the evidence of your progress (production artifacts, short descriptions-links-pictures animated gifs, etc.)</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a:hlinkClick r:id="rId3"/>
              </a:rPr>
              <a:t>Time series</a:t>
            </a:r>
            <a:endParaRPr lang="en-US" dirty="0"/>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US" dirty="0"/>
              <a:t>This link provide the </a:t>
            </a:r>
            <a:r>
              <a:rPr lang="en-US" dirty="0" err="1"/>
              <a:t>Datacamp</a:t>
            </a:r>
            <a:r>
              <a:rPr lang="en-US" dirty="0"/>
              <a:t> course which I have done this for time series and using python.</a:t>
            </a:r>
            <a:endParaRPr dirty="0"/>
          </a:p>
        </p:txBody>
      </p:sp>
      <p:sp>
        <p:nvSpPr>
          <p:cNvPr id="206" name="Google Shape;206;p24"/>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This week went well — I managed to complete some time series courses and also spent time practicing the programming side of it. It really helped me understand the concepts better and feel more confident working with time series data.</a:t>
            </a:r>
          </a:p>
          <a:p>
            <a:pPr marL="27940" lvl="0" indent="0" algn="l" rtl="0">
              <a:spcBef>
                <a:spcPts val="0"/>
              </a:spcBef>
              <a:spcAft>
                <a:spcPts val="0"/>
              </a:spcAft>
              <a:buSzPts val="1000"/>
              <a:buNone/>
            </a:pPr>
            <a:r>
              <a:rPr lang="en" dirty="0"/>
              <a:t>What went well? </a:t>
            </a:r>
          </a:p>
          <a:p>
            <a:pPr marL="27940" lvl="0" indent="0" algn="l" rtl="0">
              <a:spcBef>
                <a:spcPts val="0"/>
              </a:spcBef>
              <a:spcAft>
                <a:spcPts val="0"/>
              </a:spcAft>
              <a:buSzPts val="1000"/>
              <a:buNone/>
            </a:pPr>
            <a:r>
              <a:rPr lang="en-US" dirty="0"/>
              <a:t>I came up with a good idea for my individual project, thanks to the research I did on YouTube about the stock market and time series. It really helped me understand how these topics connect and gave me a clearer direction.</a:t>
            </a:r>
          </a:p>
          <a:p>
            <a:pPr marL="27940" lvl="0" indent="0" algn="l" rtl="0">
              <a:spcBef>
                <a:spcPts val="0"/>
              </a:spcBef>
              <a:spcAft>
                <a:spcPts val="0"/>
              </a:spcAft>
              <a:buSzPts val="1000"/>
              <a:buNone/>
            </a:pPr>
            <a:r>
              <a:rPr lang="en" dirty="0"/>
              <a:t>What didn’t go so well? </a:t>
            </a:r>
          </a:p>
          <a:p>
            <a:pPr marL="27940" lvl="0" indent="0" algn="l" rtl="0">
              <a:spcBef>
                <a:spcPts val="0"/>
              </a:spcBef>
              <a:spcAft>
                <a:spcPts val="0"/>
              </a:spcAft>
              <a:buSzPts val="1000"/>
              <a:buNone/>
            </a:pPr>
            <a:r>
              <a:rPr lang="en-US" dirty="0"/>
              <a:t>I think I still need to practice SQL more to feel more comfortable with it. I also want to spend more time on the programming part in general to improve my skills.</a:t>
            </a:r>
          </a:p>
          <a:p>
            <a:pPr marL="27940" lvl="0" indent="0" algn="l" rtl="0">
              <a:spcBef>
                <a:spcPts val="0"/>
              </a:spcBef>
              <a:spcAft>
                <a:spcPts val="0"/>
              </a:spcAft>
              <a:buSzPts val="1000"/>
              <a:buNone/>
            </a:pPr>
            <a:r>
              <a:rPr lang="en" dirty="0"/>
              <a:t>What did you learn? </a:t>
            </a:r>
          </a:p>
          <a:p>
            <a:pPr marL="27940" lvl="0" indent="0" algn="l" rtl="0">
              <a:spcBef>
                <a:spcPts val="0"/>
              </a:spcBef>
              <a:spcAft>
                <a:spcPts val="0"/>
              </a:spcAft>
              <a:buSzPts val="1000"/>
              <a:buNone/>
            </a:pPr>
            <a:r>
              <a:rPr lang="en-US" dirty="0"/>
              <a:t>This week, I learned how to work with time series datasets and also how to use a data warehouse to extract useful information and reach final insights.</a:t>
            </a:r>
          </a:p>
          <a:p>
            <a:pPr marL="27940" lvl="0" indent="0" algn="l" rtl="0">
              <a:spcBef>
                <a:spcPts val="0"/>
              </a:spcBef>
              <a:spcAft>
                <a:spcPts val="0"/>
              </a:spcAft>
              <a:buSzPts val="1000"/>
              <a:buNone/>
            </a:pPr>
            <a:r>
              <a:rPr lang="en" dirty="0"/>
              <a:t>What could be added as an Action point looking forward to next week?</a:t>
            </a:r>
          </a:p>
          <a:p>
            <a:pPr marL="27940" lvl="0" indent="0" algn="l" rtl="0">
              <a:spcBef>
                <a:spcPts val="0"/>
              </a:spcBef>
              <a:spcAft>
                <a:spcPts val="0"/>
              </a:spcAft>
              <a:buSzPts val="1000"/>
              <a:buNone/>
            </a:pPr>
            <a:r>
              <a:rPr lang="en-US" dirty="0"/>
              <a:t>As an action point for next week, I’d like to spend more time on SQL and focus on practicing regularly so I can understand it better and feel more confident working with it.</a:t>
            </a:r>
            <a:endParaRPr lang="en" dirty="0"/>
          </a:p>
        </p:txBody>
      </p:sp>
      <p:sp>
        <p:nvSpPr>
          <p:cNvPr id="207" name="Google Shape;207;p24"/>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08" name="Google Shape;208;p24"/>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a:t>2</a:t>
            </a:r>
            <a:endParaRPr/>
          </a:p>
        </p:txBody>
      </p:sp>
      <p:sp>
        <p:nvSpPr>
          <p:cNvPr id="209" name="Google Shape;209;p24"/>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5"/>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2</a:t>
            </a:r>
            <a:r>
              <a:rPr lang="en"/>
              <a:t> - Feedback</a:t>
            </a:r>
            <a:endParaRPr/>
          </a:p>
        </p:txBody>
      </p:sp>
      <p:sp>
        <p:nvSpPr>
          <p:cNvPr id="215" name="Google Shape;215;p25"/>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16" name="Google Shape;216;p25"/>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endParaRPr dirty="0"/>
          </a:p>
          <a:p>
            <a:pPr marL="0" lvl="0" indent="0" algn="l" rtl="0">
              <a:spcBef>
                <a:spcPts val="800"/>
              </a:spcBef>
              <a:spcAft>
                <a:spcPts val="800"/>
              </a:spcAft>
              <a:buNone/>
            </a:pPr>
            <a:r>
              <a:rPr lang="en" dirty="0"/>
              <a:t>Erfan</a:t>
            </a:r>
          </a:p>
          <a:p>
            <a:pPr marL="0" lvl="0" indent="0" algn="l" rtl="0">
              <a:spcBef>
                <a:spcPts val="800"/>
              </a:spcBef>
              <a:spcAft>
                <a:spcPts val="800"/>
              </a:spcAft>
              <a:buNone/>
            </a:pPr>
            <a:r>
              <a:rPr lang="en-US" dirty="0"/>
              <a:t>Your Week 2 log demonstrates clear effort and focused learning. You successfully completed two time series courses and applied what you learned using the provided templates, which shows initiative and a solid grasp of the foundational concepts. Your reflection also highlights valuable self-assessment — especially in identifying the need for more SQL and programming practice. The way you connected your research on the stock market with your individual project idea shows you're thinking critically and making progress toward your final goal.</a:t>
            </a:r>
            <a:endParaRPr dirty="0"/>
          </a:p>
        </p:txBody>
      </p:sp>
      <p:sp>
        <p:nvSpPr>
          <p:cNvPr id="217" name="Google Shape;217;p25"/>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2/2</a:t>
            </a:r>
            <a:endParaRPr/>
          </a:p>
        </p:txBody>
      </p:sp>
      <p:sp>
        <p:nvSpPr>
          <p:cNvPr id="218" name="Google Shape;218;p25"/>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2</a:t>
            </a:r>
            <a:endParaRPr/>
          </a:p>
        </p:txBody>
      </p:sp>
      <p:sp>
        <p:nvSpPr>
          <p:cNvPr id="3" name="TextBox 2">
            <a:extLst>
              <a:ext uri="{FF2B5EF4-FFF2-40B4-BE49-F238E27FC236}">
                <a16:creationId xmlns:a16="http://schemas.microsoft.com/office/drawing/2014/main" id="{7D5AE459-3211-19C1-863E-F7D4FCF34B40}"/>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hlinkClick r:id="rId3"/>
              </a:rPr>
              <a:t>Click for feedback delivery techniques!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3</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US" dirty="0"/>
              <a:t>For this week, I set a goal to complete my individual project idea and create a Business Model Canvas for submission. I also plan to finish the first part of the time series template so I can be well prepared for the group project.</a:t>
            </a:r>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 dirty="0"/>
              <a:t>What have you actually been able to do? </a:t>
            </a:r>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US" dirty="0"/>
              <a:t>Fortunately, I was able to come up with a solid idea for my individual project and also complete the time series template, including the second part that covers the machine learning section.</a:t>
            </a:r>
            <a:br>
              <a:rPr lang="en" dirty="0"/>
            </a:br>
            <a:endParaRPr dirty="0"/>
          </a:p>
          <a:p>
            <a:pPr marL="182880" lvl="0" indent="-154940" algn="l" rtl="0">
              <a:spcBef>
                <a:spcPts val="0"/>
              </a:spcBef>
              <a:spcAft>
                <a:spcPts val="0"/>
              </a:spcAft>
              <a:buSzPts val="1000"/>
              <a:buChar char="●"/>
            </a:pPr>
            <a:r>
              <a:rPr lang="en" dirty="0"/>
              <a:t>Showcase the evidence of your progress (production artifacts, short descriptions-links-pictures animated gifs, etc.)</a:t>
            </a:r>
          </a:p>
          <a:p>
            <a:pPr marL="182880" lvl="0" indent="-154940" algn="l" rtl="0">
              <a:spcBef>
                <a:spcPts val="0"/>
              </a:spcBef>
              <a:spcAft>
                <a:spcPts val="0"/>
              </a:spcAft>
              <a:buSzPts val="1000"/>
              <a:buChar char="●"/>
            </a:pPr>
            <a:endParaRPr lang="en" dirty="0"/>
          </a:p>
          <a:p>
            <a:pPr marL="27940" lvl="0" indent="0" algn="l" rtl="0">
              <a:spcBef>
                <a:spcPts val="0"/>
              </a:spcBef>
              <a:spcAft>
                <a:spcPts val="0"/>
              </a:spcAft>
              <a:buSzPts val="1000"/>
              <a:buNone/>
            </a:pPr>
            <a:r>
              <a:rPr lang="en-US" dirty="0">
                <a:hlinkClick r:id="rId3"/>
              </a:rPr>
              <a:t>Time series template</a:t>
            </a:r>
            <a:endParaRPr lang="en-US" dirty="0"/>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US" dirty="0"/>
              <a:t>This link shows my work on Time series template what I have done and learn about this part.</a:t>
            </a: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This week went well, especially because we were able to easily agree on a group project idea. Since our individual ideas were quite similar, it made sense to merge them, and the decision process was smooth.</a:t>
            </a:r>
          </a:p>
          <a:p>
            <a:pPr marL="27940" lvl="0" indent="0" algn="l" rtl="0">
              <a:spcBef>
                <a:spcPts val="0"/>
              </a:spcBef>
              <a:spcAft>
                <a:spcPts val="0"/>
              </a:spcAft>
              <a:buSzPts val="1000"/>
              <a:buNone/>
            </a:pPr>
            <a:r>
              <a:rPr lang="en" dirty="0"/>
              <a:t>What went well? </a:t>
            </a:r>
          </a:p>
          <a:p>
            <a:pPr marL="27940" lvl="0" indent="0" algn="l" rtl="0">
              <a:spcBef>
                <a:spcPts val="0"/>
              </a:spcBef>
              <a:spcAft>
                <a:spcPts val="0"/>
              </a:spcAft>
              <a:buSzPts val="1000"/>
              <a:buNone/>
            </a:pPr>
            <a:r>
              <a:rPr lang="en-US" dirty="0"/>
              <a:t>The preparation for my individual idea project and the time series template went well this week. I put a lot of effort into understanding the time series part properly, and fortunately, it paid off — it really helped me grasp the concepts more clearly.</a:t>
            </a:r>
          </a:p>
          <a:p>
            <a:pPr marL="27940" lvl="0" indent="0" algn="l" rtl="0">
              <a:spcBef>
                <a:spcPts val="0"/>
              </a:spcBef>
              <a:spcAft>
                <a:spcPts val="0"/>
              </a:spcAft>
              <a:buSzPts val="1000"/>
              <a:buNone/>
            </a:pPr>
            <a:r>
              <a:rPr lang="en" dirty="0"/>
              <a:t>What didn’t go so well? </a:t>
            </a:r>
          </a:p>
          <a:p>
            <a:pPr marL="27940" lvl="0" indent="0" algn="l" rtl="0">
              <a:spcBef>
                <a:spcPts val="0"/>
              </a:spcBef>
              <a:spcAft>
                <a:spcPts val="0"/>
              </a:spcAft>
              <a:buSzPts val="1000"/>
              <a:buNone/>
            </a:pPr>
            <a:r>
              <a:rPr lang="en-US" dirty="0"/>
              <a:t>I don’t think there’s anything I missed this week — I was able to complete everything I had planned.</a:t>
            </a:r>
          </a:p>
          <a:p>
            <a:pPr marL="27940" lvl="0" indent="0" algn="l" rtl="0">
              <a:spcBef>
                <a:spcPts val="0"/>
              </a:spcBef>
              <a:spcAft>
                <a:spcPts val="0"/>
              </a:spcAft>
              <a:buSzPts val="1000"/>
              <a:buNone/>
            </a:pPr>
            <a:r>
              <a:rPr lang="en" dirty="0"/>
              <a:t>What did you learn? </a:t>
            </a:r>
          </a:p>
          <a:p>
            <a:pPr marL="27940" lvl="0" indent="0" algn="l" rtl="0">
              <a:spcBef>
                <a:spcPts val="0"/>
              </a:spcBef>
              <a:spcAft>
                <a:spcPts val="0"/>
              </a:spcAft>
              <a:buSzPts val="1000"/>
              <a:buNone/>
            </a:pPr>
            <a:r>
              <a:rPr lang="en-US" dirty="0"/>
              <a:t>This week, I learned how to implement machine learning on time series data and became more aware of the important parameters to pay attention to. I also started getting ready to collaborate and work effectively as part of the group.</a:t>
            </a:r>
          </a:p>
          <a:p>
            <a:pPr marL="27940" lvl="0" indent="0" algn="l" rtl="0">
              <a:spcBef>
                <a:spcPts val="0"/>
              </a:spcBef>
              <a:spcAft>
                <a:spcPts val="0"/>
              </a:spcAft>
              <a:buSzPts val="1000"/>
              <a:buNone/>
            </a:pPr>
            <a:r>
              <a:rPr lang="en" dirty="0"/>
              <a:t>What could be added as an Action point looking forward to next week?</a:t>
            </a:r>
          </a:p>
          <a:p>
            <a:pPr marL="27940" lvl="0" indent="0" algn="l" rtl="0">
              <a:spcBef>
                <a:spcPts val="0"/>
              </a:spcBef>
              <a:spcAft>
                <a:spcPts val="0"/>
              </a:spcAft>
              <a:buSzPts val="1000"/>
              <a:buNone/>
            </a:pPr>
            <a:r>
              <a:rPr lang="en-US" dirty="0"/>
              <a:t>As an action point for next week, I want to participate more actively and effectively in the group work to contribute better and help achieve a higher overall grade.</a:t>
            </a: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3</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endParaRPr dirty="0"/>
          </a:p>
          <a:p>
            <a:pPr marL="0" lvl="0" indent="0" algn="l" rtl="0">
              <a:spcBef>
                <a:spcPts val="800"/>
              </a:spcBef>
              <a:spcAft>
                <a:spcPts val="800"/>
              </a:spcAft>
              <a:buNone/>
            </a:pPr>
            <a:r>
              <a:rPr lang="en" dirty="0"/>
              <a:t>Ceren </a:t>
            </a:r>
          </a:p>
          <a:p>
            <a:pPr marL="0" lvl="0" indent="0" algn="l" rtl="0">
              <a:spcBef>
                <a:spcPts val="800"/>
              </a:spcBef>
              <a:spcAft>
                <a:spcPts val="800"/>
              </a:spcAft>
              <a:buNone/>
            </a:pPr>
            <a:r>
              <a:rPr lang="en-US" dirty="0"/>
              <a:t>You showed great progress this week by completing all your goals, including finalizing your individual idea, finishing the time series template, and preparing for group collaboration. Your reflection highlights both technical learning (machine learning on time series) and teamwork. It’s clear you’re building a strong foundation in both areas. To make your reflection even stronger, you could briefly mention the tools or models you used. Overall, a very solid and well-balanced week.</a:t>
            </a: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3</a:t>
            </a:r>
            <a:endParaRPr/>
          </a:p>
        </p:txBody>
      </p:sp>
      <p:sp>
        <p:nvSpPr>
          <p:cNvPr id="4" name="TextBox 3">
            <a:extLst>
              <a:ext uri="{FF2B5EF4-FFF2-40B4-BE49-F238E27FC236}">
                <a16:creationId xmlns:a16="http://schemas.microsoft.com/office/drawing/2014/main" id="{B57E298E-ACB0-12CF-E259-08EB25F8A491}"/>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hlinkClick r:id="rId3"/>
              </a:rPr>
              <a:t>Click for feedback delivery techniques!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4</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US" dirty="0"/>
              <a:t>For this week, I set a goal to finalize our team project idea and make it clearer and more well-defined. At the same time, I also planned to take the next step by starting the database creation process.</a:t>
            </a:r>
          </a:p>
          <a:p>
            <a:pPr marL="27940" lvl="0" indent="0" algn="l" rtl="0">
              <a:spcBef>
                <a:spcPts val="0"/>
              </a:spcBef>
              <a:spcAft>
                <a:spcPts val="0"/>
              </a:spcAft>
              <a:buSzPts val="1000"/>
              <a:buNone/>
            </a:pPr>
            <a:r>
              <a:rPr lang="en" dirty="0"/>
              <a:t>What have you actually been able to do? </a:t>
            </a:r>
          </a:p>
          <a:p>
            <a:pPr marL="27940" lvl="0" indent="0" algn="l" rtl="0">
              <a:spcBef>
                <a:spcPts val="0"/>
              </a:spcBef>
              <a:spcAft>
                <a:spcPts val="0"/>
              </a:spcAft>
              <a:buSzPts val="1000"/>
              <a:buNone/>
            </a:pPr>
            <a:r>
              <a:rPr lang="en-US" dirty="0"/>
              <a:t>This week, I was able to finalize the project idea and started working on the database. I focused on getting it ready so we can begin implementing the model on it soon.</a:t>
            </a:r>
          </a:p>
          <a:p>
            <a:pPr marL="27940" lvl="0" indent="0" algn="l" rtl="0">
              <a:spcBef>
                <a:spcPts val="0"/>
              </a:spcBef>
              <a:spcAft>
                <a:spcPts val="0"/>
              </a:spcAft>
              <a:buSzPts val="1000"/>
              <a:buNone/>
            </a:pPr>
            <a:r>
              <a:rPr lang="en" dirty="0"/>
              <a:t>Showcase the evidence of your progress (production artifacts, short descriptions-links-pictures animated gifs, etc.)</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a:hlinkClick r:id="rId3"/>
              </a:rPr>
              <a:t>Final project Idea</a:t>
            </a:r>
            <a:endParaRPr lang="en-US" dirty="0"/>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The week went well. Fortunately, we were able to quickly come up with a team project idea and then move on to working on the database creation.</a:t>
            </a:r>
          </a:p>
          <a:p>
            <a:pPr marL="27940" lvl="0" indent="0" algn="l" rtl="0">
              <a:spcBef>
                <a:spcPts val="0"/>
              </a:spcBef>
              <a:spcAft>
                <a:spcPts val="0"/>
              </a:spcAft>
              <a:buSzPts val="1000"/>
              <a:buNone/>
            </a:pPr>
            <a:r>
              <a:rPr lang="en" dirty="0"/>
              <a:t>What went well?</a:t>
            </a:r>
          </a:p>
          <a:p>
            <a:pPr marL="27940" lvl="0" indent="0" algn="l" rtl="0">
              <a:spcBef>
                <a:spcPts val="0"/>
              </a:spcBef>
              <a:spcAft>
                <a:spcPts val="0"/>
              </a:spcAft>
              <a:buSzPts val="1000"/>
              <a:buNone/>
            </a:pPr>
            <a:r>
              <a:rPr lang="en-US" dirty="0"/>
              <a:t>The week went well. Fortunately, we were able to quickly agree on a team project idea, which made it easy to get started. After finalizing the idea, we began working on the database creation by organizing the structure, defining the tables, and preparing it for future data analysis and model implementation.</a:t>
            </a:r>
          </a:p>
          <a:p>
            <a:pPr marL="27940" lvl="0" indent="0" algn="l" rtl="0">
              <a:spcBef>
                <a:spcPts val="0"/>
              </a:spcBef>
              <a:spcAft>
                <a:spcPts val="0"/>
              </a:spcAft>
              <a:buSzPts val="1000"/>
              <a:buNone/>
            </a:pPr>
            <a:r>
              <a:rPr lang="en" dirty="0"/>
              <a:t>What didn’t go so well? </a:t>
            </a:r>
          </a:p>
          <a:p>
            <a:pPr marL="27940" lvl="0" indent="0" algn="l" rtl="0">
              <a:spcBef>
                <a:spcPts val="0"/>
              </a:spcBef>
              <a:spcAft>
                <a:spcPts val="0"/>
              </a:spcAft>
              <a:buSzPts val="1000"/>
              <a:buNone/>
            </a:pPr>
            <a:r>
              <a:rPr lang="en-US" dirty="0"/>
              <a:t>Nothing in particular — I think everything went well this week. It's also great that we’re one step ahead, which gives us a bit more flexibility moving forward.</a:t>
            </a:r>
          </a:p>
          <a:p>
            <a:pPr marL="27940" lvl="0" indent="0" algn="l" rtl="0">
              <a:spcBef>
                <a:spcPts val="0"/>
              </a:spcBef>
              <a:spcAft>
                <a:spcPts val="0"/>
              </a:spcAft>
              <a:buSzPts val="1000"/>
              <a:buNone/>
            </a:pPr>
            <a:r>
              <a:rPr lang="en" dirty="0"/>
              <a:t>What did you learn? </a:t>
            </a:r>
          </a:p>
          <a:p>
            <a:pPr marL="27940" lvl="0" indent="0" algn="l" rtl="0">
              <a:spcBef>
                <a:spcPts val="0"/>
              </a:spcBef>
              <a:spcAft>
                <a:spcPts val="0"/>
              </a:spcAft>
              <a:buSzPts val="1000"/>
              <a:buNone/>
            </a:pPr>
            <a:r>
              <a:rPr lang="en-US" dirty="0"/>
              <a:t>To merge our ideas and come up with a final project idea as a group.</a:t>
            </a:r>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 dirty="0"/>
              <a:t>What could be added as an Action point looking forward to next week?</a:t>
            </a:r>
          </a:p>
          <a:p>
            <a:pPr marL="27940" lvl="0" indent="0" algn="l" rtl="0">
              <a:spcBef>
                <a:spcPts val="0"/>
              </a:spcBef>
              <a:spcAft>
                <a:spcPts val="0"/>
              </a:spcAft>
              <a:buSzPts val="1000"/>
              <a:buNone/>
            </a:pPr>
            <a:r>
              <a:rPr lang="en-US" dirty="0"/>
              <a:t>If we manage to finish the database this week, then next week we can start implementing the model on it. That will allow us to evaluate its accuracy and other performance metrics.</a:t>
            </a: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4</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99973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4</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 dirty="0"/>
              <a:t>Nika </a:t>
            </a:r>
            <a:endParaRPr dirty="0"/>
          </a:p>
          <a:p>
            <a:pPr marL="0" lvl="0" indent="0" algn="l" rtl="0">
              <a:spcBef>
                <a:spcPts val="800"/>
              </a:spcBef>
              <a:spcAft>
                <a:spcPts val="800"/>
              </a:spcAft>
              <a:buNone/>
            </a:pPr>
            <a:r>
              <a:rPr lang="en-US" dirty="0"/>
              <a:t>You showed strong planning and teamwork in Week 4 by finalizing the group project idea and starting the database creation process. Your reflection highlights smooth collaboration and a good understanding of how to merge ideas effectively. Starting early on the technical setup shows that your group is ahead and well-organized. One small suggestion would be to include what tools or platforms you used for the database to better reflect your technical contribution. Overall, great progress and a solid week of focused work.</a:t>
            </a: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4</a:t>
            </a:r>
            <a:endParaRPr/>
          </a:p>
        </p:txBody>
      </p:sp>
      <p:sp>
        <p:nvSpPr>
          <p:cNvPr id="4" name="TextBox 3">
            <a:extLst>
              <a:ext uri="{FF2B5EF4-FFF2-40B4-BE49-F238E27FC236}">
                <a16:creationId xmlns:a16="http://schemas.microsoft.com/office/drawing/2014/main" id="{341C5D24-F975-BDE2-7D7B-0ECA5573EF8A}"/>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hlinkClick r:id="rId3"/>
              </a:rPr>
              <a:t>Click for feedback delivery techniques!</a:t>
            </a:r>
          </a:p>
        </p:txBody>
      </p:sp>
    </p:spTree>
    <p:extLst>
      <p:ext uri="{BB962C8B-B14F-4D97-AF65-F5344CB8AC3E}">
        <p14:creationId xmlns:p14="http://schemas.microsoft.com/office/powerpoint/2010/main" val="3366952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5</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US" dirty="0"/>
              <a:t>The main goal for this week was to apply and test different machine learning models on our dataset to compare their performance and identify which one gives the most accurate and reliable results.</a:t>
            </a:r>
          </a:p>
          <a:p>
            <a:pPr marL="27940" lvl="0" indent="0" algn="l" rtl="0">
              <a:spcBef>
                <a:spcPts val="0"/>
              </a:spcBef>
              <a:spcAft>
                <a:spcPts val="0"/>
              </a:spcAft>
              <a:buSzPts val="1000"/>
              <a:buNone/>
            </a:pPr>
            <a:r>
              <a:rPr lang="en" dirty="0"/>
              <a:t>What have you actually been able to do? </a:t>
            </a:r>
          </a:p>
          <a:p>
            <a:pPr marL="27940" lvl="0" indent="0" algn="l" rtl="0">
              <a:spcBef>
                <a:spcPts val="0"/>
              </a:spcBef>
              <a:spcAft>
                <a:spcPts val="0"/>
              </a:spcAft>
              <a:buSzPts val="1000"/>
              <a:buNone/>
            </a:pPr>
            <a:r>
              <a:rPr lang="en-US" dirty="0"/>
              <a:t>This week, I successfully implemented </a:t>
            </a:r>
            <a:r>
              <a:rPr lang="en-US" dirty="0" err="1"/>
              <a:t>XGBoost</a:t>
            </a:r>
            <a:r>
              <a:rPr lang="en-US" dirty="0"/>
              <a:t> and Random Forest models on our dataset. I’ve been experimenting with different hyperparameters to optimize their performance and achieve better accuracy. It’s been a valuable step in understanding how model tuning affects results.</a:t>
            </a:r>
          </a:p>
          <a:p>
            <a:pPr marL="27940" lvl="0" indent="0" algn="l" rtl="0">
              <a:spcBef>
                <a:spcPts val="0"/>
              </a:spcBef>
              <a:spcAft>
                <a:spcPts val="0"/>
              </a:spcAft>
              <a:buSzPts val="1000"/>
              <a:buNone/>
            </a:pPr>
            <a:r>
              <a:rPr lang="en" dirty="0"/>
              <a:t>Showcase the evidence of your progress (production artifacts, short descriptions-links-pictures animated gifs, etc.)</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a:hlinkClick r:id="rId3"/>
              </a:rPr>
              <a:t>Implement modeling</a:t>
            </a:r>
            <a:endParaRPr lang="en-US" dirty="0"/>
          </a:p>
          <a:p>
            <a:pPr marL="27940" lvl="0" indent="0" algn="l" rtl="0">
              <a:spcBef>
                <a:spcPts val="0"/>
              </a:spcBef>
              <a:spcAft>
                <a:spcPts val="0"/>
              </a:spcAft>
              <a:buSzPts val="1000"/>
              <a:buNone/>
            </a:pPr>
            <a:r>
              <a:rPr lang="en-US" dirty="0"/>
              <a:t>This link show you that I implement 3 model on our data set random forest and XG boost and also decision tree.</a:t>
            </a: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Overall, this week went smoothly. I managed to implement multiple models, and even though we had to switch our stock market dataset unexpectedly, it didn’t cause much trouble. The new dataset had a similar format, so the main task was just to adjust the parameters accordingly.</a:t>
            </a:r>
          </a:p>
          <a:p>
            <a:pPr marL="27940" lvl="0" indent="0" algn="l" rtl="0">
              <a:spcBef>
                <a:spcPts val="0"/>
              </a:spcBef>
              <a:spcAft>
                <a:spcPts val="0"/>
              </a:spcAft>
              <a:buSzPts val="1000"/>
              <a:buNone/>
            </a:pPr>
            <a:r>
              <a:rPr lang="en" dirty="0"/>
              <a:t>What went well? </a:t>
            </a:r>
          </a:p>
          <a:p>
            <a:pPr marL="27940" lvl="0" indent="0" algn="l" rtl="0">
              <a:spcBef>
                <a:spcPts val="0"/>
              </a:spcBef>
              <a:spcAft>
                <a:spcPts val="0"/>
              </a:spcAft>
              <a:buSzPts val="1000"/>
              <a:buNone/>
            </a:pPr>
            <a:r>
              <a:rPr lang="en-US" dirty="0"/>
              <a:t>The Random Forest model performed better than </a:t>
            </a:r>
            <a:r>
              <a:rPr lang="en-US" dirty="0" err="1"/>
              <a:t>XGBoost</a:t>
            </a:r>
            <a:r>
              <a:rPr lang="en-US" dirty="0"/>
              <a:t> in terms of accuracy, which was great to see. Now I’m planning to work more on it to improve the results even further.</a:t>
            </a:r>
          </a:p>
          <a:p>
            <a:pPr marL="27940" lvl="0" indent="0" algn="l" rtl="0">
              <a:spcBef>
                <a:spcPts val="0"/>
              </a:spcBef>
              <a:spcAft>
                <a:spcPts val="0"/>
              </a:spcAft>
              <a:buSzPts val="1000"/>
              <a:buNone/>
            </a:pPr>
            <a:r>
              <a:rPr lang="en" dirty="0"/>
              <a:t>What didn’t go so well? </a:t>
            </a:r>
          </a:p>
          <a:p>
            <a:pPr marL="27940" lvl="0" indent="0" algn="l" rtl="0">
              <a:spcBef>
                <a:spcPts val="0"/>
              </a:spcBef>
              <a:spcAft>
                <a:spcPts val="0"/>
              </a:spcAft>
              <a:buSzPts val="1000"/>
              <a:buNone/>
            </a:pPr>
            <a:r>
              <a:rPr lang="en-US" dirty="0"/>
              <a:t>Because our target variable is imbalanced, I realized that I need to apply some techniques to address this issue—otherwise, there’s a risk of overfitting. I’m considering methods like resampling (oversampling or </a:t>
            </a:r>
            <a:r>
              <a:rPr lang="en-US" dirty="0" err="1"/>
              <a:t>undersampling</a:t>
            </a:r>
            <a:r>
              <a:rPr lang="en-US" dirty="0"/>
              <a:t>) or using class weights to help the model learn more effectively.</a:t>
            </a:r>
          </a:p>
          <a:p>
            <a:pPr marL="27940" lvl="0" indent="0" algn="l" rtl="0">
              <a:spcBef>
                <a:spcPts val="0"/>
              </a:spcBef>
              <a:spcAft>
                <a:spcPts val="0"/>
              </a:spcAft>
              <a:buSzPts val="1000"/>
              <a:buNone/>
            </a:pPr>
            <a:r>
              <a:rPr lang="en" dirty="0"/>
              <a:t>What did you learn? </a:t>
            </a:r>
          </a:p>
          <a:p>
            <a:pPr marL="27940" lvl="0" indent="0" algn="l" rtl="0">
              <a:spcBef>
                <a:spcPts val="0"/>
              </a:spcBef>
              <a:spcAft>
                <a:spcPts val="0"/>
              </a:spcAft>
              <a:buSzPts val="1000"/>
              <a:buNone/>
            </a:pPr>
            <a:r>
              <a:rPr lang="en-US" dirty="0"/>
              <a:t>L</a:t>
            </a:r>
            <a:r>
              <a:rPr lang="en" dirty="0"/>
              <a:t>earning what step should I take when our target is imbalanced.</a:t>
            </a:r>
            <a:endParaRPr dirty="0"/>
          </a:p>
          <a:p>
            <a:pPr marL="182880" lvl="0" indent="-154940" algn="l" rtl="0">
              <a:spcBef>
                <a:spcPts val="0"/>
              </a:spcBef>
              <a:spcAft>
                <a:spcPts val="0"/>
              </a:spcAft>
              <a:buSzPts val="1000"/>
              <a:buChar char="●"/>
            </a:pPr>
            <a:r>
              <a:rPr lang="en" dirty="0"/>
              <a:t>What could be added as an Action point looking forward to next week?</a:t>
            </a:r>
          </a:p>
          <a:p>
            <a:pPr marL="27940" lvl="0" indent="0" algn="l" rtl="0">
              <a:spcBef>
                <a:spcPts val="0"/>
              </a:spcBef>
              <a:spcAft>
                <a:spcPts val="0"/>
              </a:spcAft>
              <a:buSzPts val="1000"/>
              <a:buNone/>
            </a:pPr>
            <a:r>
              <a:rPr lang="en-US" sz="800" dirty="0"/>
              <a:t>The action point for next week is to perform hyperparameter tuning on our model using tools like </a:t>
            </a:r>
            <a:r>
              <a:rPr lang="en-US" sz="800" dirty="0" err="1"/>
              <a:t>GridSearchCV</a:t>
            </a:r>
            <a:r>
              <a:rPr lang="en-US" sz="800" dirty="0"/>
              <a:t> or </a:t>
            </a:r>
            <a:r>
              <a:rPr lang="en-US" sz="800" dirty="0" err="1"/>
              <a:t>RandomizedSearchCV</a:t>
            </a:r>
            <a:r>
              <a:rPr lang="en-US" sz="800" dirty="0"/>
              <a:t>, and to apply techniques such as SMOTE (Synthetic Minority Over-sampling Technique) or class weighting to handle the imbalance in our target variable. This should help improve the model’s performance and reduce the risk of bias toward the majority class.</a:t>
            </a:r>
            <a:endParaRPr sz="800"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5</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31408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5</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p>
          <a:p>
            <a:pPr marL="27940" lvl="0" indent="0" algn="l" rtl="0">
              <a:spcBef>
                <a:spcPts val="0"/>
              </a:spcBef>
              <a:spcAft>
                <a:spcPts val="0"/>
              </a:spcAft>
              <a:buSzPts val="1000"/>
              <a:buNone/>
            </a:pPr>
            <a:r>
              <a:rPr lang="en" dirty="0"/>
              <a:t>Hris</a:t>
            </a:r>
            <a:endParaRPr dirty="0"/>
          </a:p>
          <a:p>
            <a:pPr marL="0" lvl="0" indent="0" algn="l" rtl="0">
              <a:spcBef>
                <a:spcPts val="800"/>
              </a:spcBef>
              <a:spcAft>
                <a:spcPts val="800"/>
              </a:spcAft>
              <a:buNone/>
            </a:pPr>
            <a:r>
              <a:rPr lang="en-US" dirty="0"/>
              <a:t>Your Week 5 log is well-structured and shows clear progress. You defined a meaningful goal — testing different machine learning models — and successfully implemented both </a:t>
            </a:r>
            <a:r>
              <a:rPr lang="en-US" dirty="0" err="1"/>
              <a:t>XGBoost</a:t>
            </a:r>
            <a:r>
              <a:rPr lang="en-US" dirty="0"/>
              <a:t> and Random Forest. It’s clear you took the time to evaluate their performance and considered how to improve the results further. Your handling of the dataset change was smooth, and your reflection shows that you remained focused despite the shift. It’s also good to see that you are aware of the class imbalance issue and already planning techniques (like resampling or class weighting) to address </a:t>
            </a:r>
            <a:r>
              <a:rPr lang="en-US" dirty="0" err="1"/>
              <a:t>it.Your</a:t>
            </a:r>
            <a:r>
              <a:rPr lang="en-US" dirty="0"/>
              <a:t> learning point about the risk of overfitting with imbalanced data is strong, and the action point for next week (hyperparameter tuning and applying balancing techniques) shows clear direction.</a:t>
            </a:r>
            <a:endParaRPr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5</a:t>
            </a:r>
            <a:endParaRPr/>
          </a:p>
        </p:txBody>
      </p:sp>
      <p:sp>
        <p:nvSpPr>
          <p:cNvPr id="4" name="TextBox 3">
            <a:extLst>
              <a:ext uri="{FF2B5EF4-FFF2-40B4-BE49-F238E27FC236}">
                <a16:creationId xmlns:a16="http://schemas.microsoft.com/office/drawing/2014/main" id="{99718CE5-D4B9-5703-2F5D-70C535C4D7E0}"/>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hlinkClick r:id="rId3"/>
              </a:rPr>
              <a:t>Click for feedback delivery techniques!</a:t>
            </a:r>
          </a:p>
        </p:txBody>
      </p:sp>
    </p:spTree>
    <p:extLst>
      <p:ext uri="{BB962C8B-B14F-4D97-AF65-F5344CB8AC3E}">
        <p14:creationId xmlns:p14="http://schemas.microsoft.com/office/powerpoint/2010/main" val="16006896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6</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US" dirty="0"/>
              <a:t>This week, my goal was to tune some model parameters to improve its performance and increase accuracy. I focused on experimenting with different settings to see what works best for our dataset.</a:t>
            </a:r>
          </a:p>
          <a:p>
            <a:pPr marL="27940" lvl="0" indent="0" algn="l" rtl="0">
              <a:spcBef>
                <a:spcPts val="0"/>
              </a:spcBef>
              <a:spcAft>
                <a:spcPts val="0"/>
              </a:spcAft>
              <a:buSzPts val="1000"/>
              <a:buNone/>
            </a:pPr>
            <a:r>
              <a:rPr lang="en" dirty="0"/>
              <a:t>What have you actually been able to do? </a:t>
            </a:r>
          </a:p>
          <a:p>
            <a:pPr marL="27940" lvl="0" indent="0" algn="l" rtl="0">
              <a:spcBef>
                <a:spcPts val="0"/>
              </a:spcBef>
              <a:spcAft>
                <a:spcPts val="0"/>
              </a:spcAft>
              <a:buSzPts val="1000"/>
              <a:buNone/>
            </a:pPr>
            <a:r>
              <a:rPr lang="en-US" dirty="0"/>
              <a:t>I was able to implement two different techniques — SMOTE and computed class weights — to balance our target variable. I also used Grid Search to improve the model's accuracy through hyperparameter tuning.</a:t>
            </a:r>
          </a:p>
          <a:p>
            <a:pPr marL="27940" lvl="0" indent="0" algn="l" rtl="0">
              <a:spcBef>
                <a:spcPts val="0"/>
              </a:spcBef>
              <a:spcAft>
                <a:spcPts val="0"/>
              </a:spcAft>
              <a:buSzPts val="1000"/>
              <a:buNone/>
            </a:pPr>
            <a:r>
              <a:rPr lang="en" dirty="0"/>
              <a:t>Showcase the evidence of your progress (production artifacts, short descriptions-links-pictures animated gifs, etc.)</a:t>
            </a:r>
          </a:p>
          <a:p>
            <a:pPr marL="27940" lvl="0" indent="0" algn="l" rtl="0">
              <a:spcBef>
                <a:spcPts val="0"/>
              </a:spcBef>
              <a:spcAft>
                <a:spcPts val="0"/>
              </a:spcAft>
              <a:buSzPts val="1000"/>
              <a:buNone/>
            </a:pPr>
            <a:endParaRPr lang="en" dirty="0"/>
          </a:p>
          <a:p>
            <a:pPr marL="27940" lvl="0" indent="0" algn="l" rtl="0">
              <a:spcBef>
                <a:spcPts val="0"/>
              </a:spcBef>
              <a:spcAft>
                <a:spcPts val="0"/>
              </a:spcAft>
              <a:buSzPts val="1000"/>
              <a:buNone/>
            </a:pPr>
            <a:r>
              <a:rPr lang="en-US" dirty="0">
                <a:hlinkClick r:id="rId3"/>
              </a:rPr>
              <a:t>Hypermeter tuning</a:t>
            </a:r>
            <a:endParaRPr lang="en-US" dirty="0"/>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US" dirty="0"/>
              <a:t>While in this file you can see that I did the grid search and do some hyper meter tuning and also I applied two different method for over sampling our data set.</a:t>
            </a:r>
            <a:endParaRPr dirty="0"/>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The week went well. The only challenge was that it took a lot of time to run each model with different techniques while performing Grid Search to improve accuracy.</a:t>
            </a:r>
          </a:p>
          <a:p>
            <a:pPr marL="27940" lvl="0" indent="0" algn="l" rtl="0">
              <a:spcBef>
                <a:spcPts val="0"/>
              </a:spcBef>
              <a:spcAft>
                <a:spcPts val="0"/>
              </a:spcAft>
              <a:buSzPts val="1000"/>
              <a:buNone/>
            </a:pPr>
            <a:r>
              <a:rPr lang="en" dirty="0"/>
              <a:t>What went well? </a:t>
            </a:r>
          </a:p>
          <a:p>
            <a:pPr marL="27940" lvl="0" indent="0" algn="l" rtl="0">
              <a:spcBef>
                <a:spcPts val="0"/>
              </a:spcBef>
              <a:spcAft>
                <a:spcPts val="0"/>
              </a:spcAft>
              <a:buSzPts val="1000"/>
              <a:buNone/>
            </a:pPr>
            <a:r>
              <a:rPr lang="en-US" dirty="0"/>
              <a:t>I tried using both SMOTE and computed class weights, which helped me learn something new. I was happy with the results, especially with the computed class weights — they seemed to work better for my model compared to the other techniques.</a:t>
            </a:r>
          </a:p>
          <a:p>
            <a:pPr marL="27940" lvl="0" indent="0" algn="l" rtl="0">
              <a:spcBef>
                <a:spcPts val="0"/>
              </a:spcBef>
              <a:spcAft>
                <a:spcPts val="0"/>
              </a:spcAft>
              <a:buSzPts val="1000"/>
              <a:buNone/>
            </a:pPr>
            <a:r>
              <a:rPr lang="en" dirty="0"/>
              <a:t>What didn’t go so well? </a:t>
            </a:r>
          </a:p>
          <a:p>
            <a:pPr marL="27940" lvl="0" indent="0" algn="l" rtl="0">
              <a:spcBef>
                <a:spcPts val="0"/>
              </a:spcBef>
              <a:spcAft>
                <a:spcPts val="0"/>
              </a:spcAft>
              <a:buSzPts val="1000"/>
              <a:buNone/>
            </a:pPr>
            <a:r>
              <a:rPr lang="en-US" dirty="0"/>
              <a:t>The SMOTE technique took a lot of time to run, but unfortunately, it didn’t work well with my model. At this point, I think SMOTE was the only part that didn’t go as </a:t>
            </a:r>
            <a:r>
              <a:rPr lang="en-US" dirty="0" err="1"/>
              <a:t>planned.I</a:t>
            </a:r>
            <a:r>
              <a:rPr lang="en-US" dirty="0"/>
              <a:t> also did some hyperparameter tuning on the LSTM model from Szymon's code, but since I couldn’t run it properly on my laptop, the experience wasn’t very successful.</a:t>
            </a:r>
          </a:p>
          <a:p>
            <a:pPr marL="27940" lvl="0" indent="0" algn="l" rtl="0">
              <a:spcBef>
                <a:spcPts val="0"/>
              </a:spcBef>
              <a:spcAft>
                <a:spcPts val="0"/>
              </a:spcAft>
              <a:buSzPts val="1000"/>
              <a:buNone/>
            </a:pPr>
            <a:r>
              <a:rPr lang="en" dirty="0"/>
              <a:t>What did you learn? </a:t>
            </a:r>
          </a:p>
          <a:p>
            <a:pPr marL="27940" lvl="0" indent="0" algn="l" rtl="0">
              <a:spcBef>
                <a:spcPts val="0"/>
              </a:spcBef>
              <a:spcAft>
                <a:spcPts val="0"/>
              </a:spcAft>
              <a:buSzPts val="1000"/>
              <a:buNone/>
            </a:pPr>
            <a:r>
              <a:rPr lang="en-US" dirty="0"/>
              <a:t>I learned how to manually assign different weights to different classes to make the model fairer, which I found really interesting. I had always thought I could only work with balanced data, so this was a valuable insight.</a:t>
            </a:r>
          </a:p>
          <a:p>
            <a:pPr marL="27940" lvl="0" indent="0" algn="l" rtl="0">
              <a:spcBef>
                <a:spcPts val="0"/>
              </a:spcBef>
              <a:spcAft>
                <a:spcPts val="0"/>
              </a:spcAft>
              <a:buSzPts val="1000"/>
              <a:buNone/>
            </a:pPr>
            <a:r>
              <a:rPr lang="en" dirty="0"/>
              <a:t>What could be added as an Action point looking forward to next week?</a:t>
            </a:r>
          </a:p>
          <a:p>
            <a:pPr marL="27940" lvl="0" indent="0" algn="l" rtl="0">
              <a:spcBef>
                <a:spcPts val="0"/>
              </a:spcBef>
              <a:spcAft>
                <a:spcPts val="0"/>
              </a:spcAft>
              <a:buSzPts val="1000"/>
              <a:buNone/>
            </a:pPr>
            <a:r>
              <a:rPr lang="en-US" sz="900" dirty="0"/>
              <a:t>For next week, I think we are done with the modeling phase. We chose the LSTM model as our final model because the stock market is complex and time-dependent, and LSTM gave us better accuracy compared to the other models we tested</a:t>
            </a:r>
            <a:r>
              <a:rPr lang="en-US" dirty="0"/>
              <a:t>.</a:t>
            </a:r>
            <a:endParaRPr dirty="0"/>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6</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31630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6</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p>
          <a:p>
            <a:pPr marL="27940" lvl="0" indent="0" algn="l" rtl="0">
              <a:spcBef>
                <a:spcPts val="0"/>
              </a:spcBef>
              <a:spcAft>
                <a:spcPts val="0"/>
              </a:spcAft>
              <a:buSzPts val="1000"/>
              <a:buNone/>
            </a:pPr>
            <a:r>
              <a:rPr lang="en" dirty="0"/>
              <a:t>Asma Moghimi</a:t>
            </a:r>
            <a:endParaRPr lang="en-US" dirty="0"/>
          </a:p>
          <a:p>
            <a:pPr marL="0" lvl="0" indent="0" algn="l" rtl="0">
              <a:spcBef>
                <a:spcPts val="800"/>
              </a:spcBef>
              <a:spcAft>
                <a:spcPts val="800"/>
              </a:spcAft>
              <a:buNone/>
            </a:pPr>
            <a:r>
              <a:rPr lang="en-US" dirty="0"/>
              <a:t>I think you had a really productive week. You set a clear goal to improve model performance through tuning, and it’s great that you actually implemented both SMOTE and computed class weights. I liked how you reflected on the results of both techniques and recognized that computed class weights worked better for your model — that shows you're critically evaluating what fits your data best. It's also good that you tried Grid Search and even explored an LSTM model, which shows you're going beyond the basics. You also explained your learning point well — understanding how class weights work is a big step forward in handling imbalanced data.</a:t>
            </a:r>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6</a:t>
            </a:r>
            <a:endParaRPr/>
          </a:p>
        </p:txBody>
      </p:sp>
      <p:sp>
        <p:nvSpPr>
          <p:cNvPr id="4" name="TextBox 3">
            <a:extLst>
              <a:ext uri="{FF2B5EF4-FFF2-40B4-BE49-F238E27FC236}">
                <a16:creationId xmlns:a16="http://schemas.microsoft.com/office/drawing/2014/main" id="{4AB08CE0-9533-DFE2-D89E-D9E289BD7CD8}"/>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hlinkClick r:id="rId3"/>
              </a:rPr>
              <a:t>Click for feedback delivery techniques!</a:t>
            </a:r>
          </a:p>
        </p:txBody>
      </p:sp>
    </p:spTree>
    <p:extLst>
      <p:ext uri="{BB962C8B-B14F-4D97-AF65-F5344CB8AC3E}">
        <p14:creationId xmlns:p14="http://schemas.microsoft.com/office/powerpoint/2010/main" val="2397875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6"/>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7</a:t>
            </a:r>
            <a:r>
              <a:rPr lang="en"/>
              <a:t> - Log</a:t>
            </a:r>
            <a:endParaRPr/>
          </a:p>
        </p:txBody>
      </p:sp>
      <p:sp>
        <p:nvSpPr>
          <p:cNvPr id="224" name="Google Shape;224;p26"/>
          <p:cNvSpPr txBox="1">
            <a:spLocks noGrp="1"/>
          </p:cNvSpPr>
          <p:nvPr>
            <p:ph type="subTitle" idx="4"/>
          </p:nvPr>
        </p:nvSpPr>
        <p:spPr>
          <a:xfrm>
            <a:off x="4663440" y="758952"/>
            <a:ext cx="42978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a:t>
            </a:r>
            <a:endParaRPr/>
          </a:p>
        </p:txBody>
      </p:sp>
      <p:sp>
        <p:nvSpPr>
          <p:cNvPr id="225" name="Google Shape;225;p26"/>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What did you do?</a:t>
            </a:r>
            <a:endParaRPr/>
          </a:p>
        </p:txBody>
      </p:sp>
      <p:sp>
        <p:nvSpPr>
          <p:cNvPr id="226" name="Google Shape;226;p26"/>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What goal(s) did you set for this week?</a:t>
            </a:r>
          </a:p>
          <a:p>
            <a:pPr marL="27940" lvl="0" indent="0" algn="l" rtl="0">
              <a:spcBef>
                <a:spcPts val="0"/>
              </a:spcBef>
              <a:spcAft>
                <a:spcPts val="0"/>
              </a:spcAft>
              <a:buSzPts val="1000"/>
              <a:buNone/>
            </a:pPr>
            <a:r>
              <a:rPr lang="en-US" dirty="0"/>
              <a:t>My goal for this week was to prepare everything for submission, create the presentation slides for the final presentation, and write my script for the oral part.</a:t>
            </a:r>
          </a:p>
          <a:p>
            <a:pPr marL="27940" lvl="0" indent="0" algn="l" rtl="0">
              <a:spcBef>
                <a:spcPts val="0"/>
              </a:spcBef>
              <a:spcAft>
                <a:spcPts val="0"/>
              </a:spcAft>
              <a:buSzPts val="1000"/>
              <a:buNone/>
            </a:pPr>
            <a:r>
              <a:rPr lang="en" dirty="0"/>
              <a:t>What have you actually been able to do? </a:t>
            </a:r>
          </a:p>
          <a:p>
            <a:pPr marL="27940" lvl="0" indent="0" algn="l" rtl="0">
              <a:spcBef>
                <a:spcPts val="0"/>
              </a:spcBef>
              <a:spcAft>
                <a:spcPts val="0"/>
              </a:spcAft>
              <a:buSzPts val="1000"/>
              <a:buNone/>
            </a:pPr>
            <a:r>
              <a:rPr lang="en-US" dirty="0"/>
              <a:t>I was able to review everything I had prepared and create a solid set of presentation slides. I also shared them with my peers and received some helpful feedback, which led me to make a few improvements.</a:t>
            </a:r>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US" dirty="0"/>
              <a:t>Showcase the evidence of your progress (production artifacts, short descriptions-links-pictures animated gifs, etc.)</a:t>
            </a:r>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US" dirty="0">
                <a:hlinkClick r:id="rId3"/>
              </a:rPr>
              <a:t>Presentation slides</a:t>
            </a:r>
            <a:endParaRPr lang="en-US" dirty="0"/>
          </a:p>
          <a:p>
            <a:pPr marL="27940" lvl="0" indent="0" algn="l" rtl="0">
              <a:spcBef>
                <a:spcPts val="0"/>
              </a:spcBef>
              <a:spcAft>
                <a:spcPts val="0"/>
              </a:spcAft>
              <a:buSzPts val="1000"/>
              <a:buNone/>
            </a:pPr>
            <a:endParaRPr lang="en-US" dirty="0"/>
          </a:p>
          <a:p>
            <a:pPr marL="27940" lvl="0" indent="0" algn="l" rtl="0">
              <a:spcBef>
                <a:spcPts val="0"/>
              </a:spcBef>
              <a:spcAft>
                <a:spcPts val="0"/>
              </a:spcAft>
              <a:buSzPts val="1000"/>
              <a:buNone/>
            </a:pPr>
            <a:r>
              <a:rPr lang="en-US" dirty="0"/>
              <a:t>This link shows what I have done for the presentation slides and what I have prepared based on the feedback that I got from my peers.</a:t>
            </a:r>
          </a:p>
        </p:txBody>
      </p:sp>
      <p:sp>
        <p:nvSpPr>
          <p:cNvPr id="227" name="Google Shape;227;p26"/>
          <p:cNvSpPr txBox="1">
            <a:spLocks noGrp="1"/>
          </p:cNvSpPr>
          <p:nvPr>
            <p:ph type="body" idx="3"/>
          </p:nvPr>
        </p:nvSpPr>
        <p:spPr>
          <a:xfrm>
            <a:off x="4663450" y="1152698"/>
            <a:ext cx="4297800" cy="16257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dirty="0"/>
              <a:t>How did the week go? </a:t>
            </a:r>
          </a:p>
          <a:p>
            <a:pPr marL="27940" lvl="0" indent="0" algn="l" rtl="0">
              <a:spcBef>
                <a:spcPts val="0"/>
              </a:spcBef>
              <a:spcAft>
                <a:spcPts val="0"/>
              </a:spcAft>
              <a:buSzPts val="1000"/>
              <a:buNone/>
            </a:pPr>
            <a:r>
              <a:rPr lang="en-US" dirty="0"/>
              <a:t>This week didn’t go well, as I had a hard time focusing on my tasks due to the war happening in my country. Despite the situation, I did my best to complete and submit everything that was required for this block.</a:t>
            </a:r>
          </a:p>
          <a:p>
            <a:pPr marL="27940" lvl="0" indent="0" algn="l" rtl="0">
              <a:spcBef>
                <a:spcPts val="0"/>
              </a:spcBef>
              <a:spcAft>
                <a:spcPts val="0"/>
              </a:spcAft>
              <a:buSzPts val="1000"/>
              <a:buNone/>
            </a:pPr>
            <a:r>
              <a:rPr lang="en" dirty="0"/>
              <a:t>What went well? </a:t>
            </a:r>
          </a:p>
          <a:p>
            <a:pPr marL="27940" lvl="0" indent="0" algn="l" rtl="0">
              <a:spcBef>
                <a:spcPts val="0"/>
              </a:spcBef>
              <a:spcAft>
                <a:spcPts val="0"/>
              </a:spcAft>
              <a:buSzPts val="1000"/>
              <a:buNone/>
            </a:pPr>
            <a:r>
              <a:rPr lang="en-US" dirty="0"/>
              <a:t>I’ve completed the presentation slides and all of my tasks, so I feel good about where things stand.</a:t>
            </a:r>
          </a:p>
          <a:p>
            <a:pPr marL="27940" lvl="0" indent="0" algn="l" rtl="0">
              <a:spcBef>
                <a:spcPts val="0"/>
              </a:spcBef>
              <a:spcAft>
                <a:spcPts val="0"/>
              </a:spcAft>
              <a:buSzPts val="1000"/>
              <a:buNone/>
            </a:pPr>
            <a:r>
              <a:rPr lang="en" dirty="0"/>
              <a:t>What didn’t go so well? </a:t>
            </a:r>
          </a:p>
          <a:p>
            <a:pPr marL="27940" lvl="0" indent="0" algn="l" rtl="0">
              <a:spcBef>
                <a:spcPts val="0"/>
              </a:spcBef>
              <a:spcAft>
                <a:spcPts val="0"/>
              </a:spcAft>
              <a:buSzPts val="1000"/>
              <a:buNone/>
            </a:pPr>
            <a:r>
              <a:rPr lang="en-US" dirty="0"/>
              <a:t>Nothing specific this week — my mental health wasn’t in a good place, so it was a bit difficult to stay fully focused.</a:t>
            </a:r>
          </a:p>
          <a:p>
            <a:pPr marL="27940" lvl="0" indent="0" algn="l" rtl="0">
              <a:spcBef>
                <a:spcPts val="0"/>
              </a:spcBef>
              <a:spcAft>
                <a:spcPts val="0"/>
              </a:spcAft>
              <a:buSzPts val="1000"/>
              <a:buNone/>
            </a:pPr>
            <a:r>
              <a:rPr lang="en" dirty="0"/>
              <a:t>What did you learn? </a:t>
            </a:r>
          </a:p>
          <a:p>
            <a:pPr marL="27940" lvl="0" indent="0" algn="l" rtl="0">
              <a:spcBef>
                <a:spcPts val="0"/>
              </a:spcBef>
              <a:spcAft>
                <a:spcPts val="0"/>
              </a:spcAft>
              <a:buSzPts val="1000"/>
              <a:buNone/>
            </a:pPr>
            <a:r>
              <a:rPr lang="en-US" dirty="0"/>
              <a:t>I learned how to work as a team and how to split tasks effectively, which was a really valuable experience for me.</a:t>
            </a:r>
          </a:p>
          <a:p>
            <a:pPr marL="27940" lvl="0" indent="0" algn="l" rtl="0">
              <a:spcBef>
                <a:spcPts val="0"/>
              </a:spcBef>
              <a:spcAft>
                <a:spcPts val="0"/>
              </a:spcAft>
              <a:buSzPts val="1000"/>
              <a:buNone/>
            </a:pPr>
            <a:r>
              <a:rPr lang="en" dirty="0"/>
              <a:t>What could be added as an Action point looking forward to next week?</a:t>
            </a:r>
          </a:p>
          <a:p>
            <a:pPr marL="27940" lvl="0" indent="0" algn="l" rtl="0">
              <a:spcBef>
                <a:spcPts val="0"/>
              </a:spcBef>
              <a:spcAft>
                <a:spcPts val="0"/>
              </a:spcAft>
              <a:buSzPts val="1000"/>
              <a:buNone/>
            </a:pPr>
            <a:r>
              <a:rPr lang="en-US" dirty="0"/>
              <a:t>For the next block, I plan to communicate more actively and take on more responsibilities to better prepare myself for teamwork — especially in case someone doesn’t show up or contribute.</a:t>
            </a:r>
          </a:p>
        </p:txBody>
      </p:sp>
      <p:sp>
        <p:nvSpPr>
          <p:cNvPr id="228" name="Google Shape;228;p26"/>
          <p:cNvSpPr txBox="1">
            <a:spLocks noGrp="1"/>
          </p:cNvSpPr>
          <p:nvPr>
            <p:ph type="title" idx="6"/>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a:t>
            </a:r>
            <a:r>
              <a:rPr lang="en-NL"/>
              <a:t>2</a:t>
            </a:r>
            <a:endParaRPr/>
          </a:p>
        </p:txBody>
      </p:sp>
      <p:sp>
        <p:nvSpPr>
          <p:cNvPr id="229" name="Google Shape;229;p26"/>
          <p:cNvSpPr txBox="1">
            <a:spLocks noGrp="1"/>
          </p:cNvSpPr>
          <p:nvPr>
            <p:ph type="title" idx="5"/>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7</a:t>
            </a:r>
            <a:endParaRPr/>
          </a:p>
        </p:txBody>
      </p:sp>
      <p:sp>
        <p:nvSpPr>
          <p:cNvPr id="230" name="Google Shape;230;p26"/>
          <p:cNvSpPr/>
          <p:nvPr/>
        </p:nvSpPr>
        <p:spPr>
          <a:xfrm>
            <a:off x="0" y="576072"/>
            <a:ext cx="9144000" cy="91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025466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7"/>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Week </a:t>
            </a:r>
            <a:r>
              <a:rPr lang="en-NL"/>
              <a:t>7</a:t>
            </a:r>
            <a:r>
              <a:rPr lang="en"/>
              <a:t> - Feedback</a:t>
            </a:r>
            <a:endParaRPr/>
          </a:p>
        </p:txBody>
      </p:sp>
      <p:sp>
        <p:nvSpPr>
          <p:cNvPr id="238" name="Google Shape;238;p27"/>
          <p:cNvSpPr txBox="1">
            <a:spLocks noGrp="1"/>
          </p:cNvSpPr>
          <p:nvPr>
            <p:ph type="subTitle" idx="1"/>
          </p:nvPr>
        </p:nvSpPr>
        <p:spPr>
          <a:xfrm>
            <a:off x="186167" y="758952"/>
            <a:ext cx="4294500" cy="3939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Team, individual, peer, workshop feedback</a:t>
            </a:r>
            <a:endParaRPr/>
          </a:p>
        </p:txBody>
      </p:sp>
      <p:sp>
        <p:nvSpPr>
          <p:cNvPr id="239" name="Google Shape;239;p27"/>
          <p:cNvSpPr txBox="1">
            <a:spLocks noGrp="1"/>
          </p:cNvSpPr>
          <p:nvPr>
            <p:ph type="body" idx="2"/>
          </p:nvPr>
        </p:nvSpPr>
        <p:spPr>
          <a:xfrm>
            <a:off x="182875" y="1152697"/>
            <a:ext cx="4294500" cy="3812400"/>
          </a:xfrm>
          <a:prstGeom prst="rect">
            <a:avLst/>
          </a:prstGeom>
        </p:spPr>
        <p:txBody>
          <a:bodyPr spcFirstLastPara="1" wrap="square" lIns="91425" tIns="91425" rIns="91425" bIns="91425" anchor="t" anchorCtr="0">
            <a:noAutofit/>
          </a:bodyPr>
          <a:lstStyle/>
          <a:p>
            <a:pPr marL="182880" lvl="0" indent="-154940" algn="l" rtl="0">
              <a:spcBef>
                <a:spcPts val="0"/>
              </a:spcBef>
              <a:spcAft>
                <a:spcPts val="0"/>
              </a:spcAft>
              <a:buSzPts val="1000"/>
              <a:buChar char="●"/>
            </a:pPr>
            <a:r>
              <a:rPr lang="en" b="1" dirty="0"/>
              <a:t>[Reviewer]</a:t>
            </a:r>
            <a:r>
              <a:rPr lang="en" dirty="0"/>
              <a:t> Feedback</a:t>
            </a:r>
          </a:p>
          <a:p>
            <a:pPr marL="27940" lvl="0" indent="0" algn="l" rtl="0">
              <a:spcBef>
                <a:spcPts val="0"/>
              </a:spcBef>
              <a:spcAft>
                <a:spcPts val="0"/>
              </a:spcAft>
              <a:buSzPts val="1000"/>
              <a:buNone/>
            </a:pPr>
            <a:r>
              <a:rPr lang="en" dirty="0"/>
              <a:t>Szymon </a:t>
            </a:r>
            <a:endParaRPr dirty="0"/>
          </a:p>
          <a:p>
            <a:pPr marL="0" lvl="0" indent="0" algn="l" rtl="0">
              <a:spcBef>
                <a:spcPts val="800"/>
              </a:spcBef>
              <a:spcAft>
                <a:spcPts val="800"/>
              </a:spcAft>
              <a:buNone/>
            </a:pPr>
            <a:r>
              <a:rPr lang="en-US" dirty="0"/>
              <a:t>Hey Mohammadali, I think you did a really good job this week. You clearly explained what your goals were and showed that you followed through with them, even though you were dealing with a really difficult situation. It’s impressive that you still managed to complete your tasks, finish your slides, and even get feedback from others to improve your work. I also liked your reflection on learning how to work in a team and split tasks — that’s something really important, and it’s great that you took that from this experience. Your action point for the next block shows that you’re thinking ahead and want to be even more involved. Overall, your work shows dedication and a strong mindset. Well done!</a:t>
            </a:r>
          </a:p>
          <a:p>
            <a:pPr marL="0" lvl="0" indent="0" algn="l" rtl="0">
              <a:spcBef>
                <a:spcPts val="800"/>
              </a:spcBef>
              <a:spcAft>
                <a:spcPts val="800"/>
              </a:spcAft>
              <a:buNone/>
            </a:pPr>
            <a:endParaRPr lang="en-US" dirty="0"/>
          </a:p>
        </p:txBody>
      </p:sp>
      <p:sp>
        <p:nvSpPr>
          <p:cNvPr id="240" name="Google Shape;240;p27"/>
          <p:cNvSpPr txBox="1">
            <a:spLocks noGrp="1"/>
          </p:cNvSpPr>
          <p:nvPr>
            <p:ph type="title" idx="4"/>
          </p:nvPr>
        </p:nvSpPr>
        <p:spPr>
          <a:xfrm>
            <a:off x="7068300" y="165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NL"/>
              <a:t>2</a:t>
            </a:r>
            <a:endParaRPr/>
          </a:p>
        </p:txBody>
      </p:sp>
      <p:sp>
        <p:nvSpPr>
          <p:cNvPr id="241" name="Google Shape;241;p27"/>
          <p:cNvSpPr txBox="1">
            <a:spLocks noGrp="1"/>
          </p:cNvSpPr>
          <p:nvPr>
            <p:ph type="title" idx="3"/>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7</a:t>
            </a:r>
            <a:endParaRPr/>
          </a:p>
        </p:txBody>
      </p:sp>
      <p:sp>
        <p:nvSpPr>
          <p:cNvPr id="4" name="TextBox 3">
            <a:extLst>
              <a:ext uri="{FF2B5EF4-FFF2-40B4-BE49-F238E27FC236}">
                <a16:creationId xmlns:a16="http://schemas.microsoft.com/office/drawing/2014/main" id="{8058A61B-E4F8-64BA-11B4-82E7C0FE3D5C}"/>
              </a:ext>
            </a:extLst>
          </p:cNvPr>
          <p:cNvSpPr txBox="1"/>
          <p:nvPr/>
        </p:nvSpPr>
        <p:spPr>
          <a:xfrm>
            <a:off x="6549885" y="4713633"/>
            <a:ext cx="2496587" cy="253916"/>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dirty="0">
                <a:hlinkClick r:id="rId3"/>
              </a:rPr>
              <a:t>Click for feedback delivery techniques!</a:t>
            </a:r>
          </a:p>
        </p:txBody>
      </p:sp>
    </p:spTree>
    <p:extLst>
      <p:ext uri="{BB962C8B-B14F-4D97-AF65-F5344CB8AC3E}">
        <p14:creationId xmlns:p14="http://schemas.microsoft.com/office/powerpoint/2010/main" val="6282947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38"/>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dirty="0"/>
              <a:t>Section </a:t>
            </a:r>
            <a:r>
              <a:rPr lang="en-NL" sz="6000" dirty="0"/>
              <a:t>C</a:t>
            </a:r>
            <a:endParaRPr sz="6000" dirty="0"/>
          </a:p>
        </p:txBody>
      </p:sp>
      <p:sp>
        <p:nvSpPr>
          <p:cNvPr id="357" name="Google Shape;357;p38"/>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Progress</a:t>
            </a:r>
            <a:endParaRPr/>
          </a:p>
          <a:p>
            <a:pPr marL="0" lvl="0" indent="0" algn="ctr" rtl="0">
              <a:spcBef>
                <a:spcPts val="0"/>
              </a:spcBef>
              <a:spcAft>
                <a:spcPts val="0"/>
              </a:spcAft>
              <a:buNone/>
            </a:pPr>
            <a:r>
              <a:rPr lang="en"/>
              <a:t>Intended Learning Outcomes</a:t>
            </a:r>
            <a:endParaRPr sz="3000"/>
          </a:p>
        </p:txBody>
      </p:sp>
      <p:sp>
        <p:nvSpPr>
          <p:cNvPr id="358" name="Google Shape;358;p38"/>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NL" sz="40000">
                <a:solidFill>
                  <a:srgbClr val="999999"/>
                </a:solidFill>
                <a:latin typeface="Roboto"/>
                <a:ea typeface="Roboto"/>
                <a:cs typeface="Roboto"/>
                <a:sym typeface="Roboto"/>
              </a:rPr>
              <a:t>C</a:t>
            </a:r>
            <a:endParaRPr sz="40000">
              <a:solidFill>
                <a:srgbClr val="999999"/>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3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a:t>
            </a:r>
            <a:r>
              <a:rPr lang="en-NL" dirty="0"/>
              <a:t>1</a:t>
            </a:r>
            <a:endParaRPr dirty="0"/>
          </a:p>
        </p:txBody>
      </p:sp>
      <p:sp>
        <p:nvSpPr>
          <p:cNvPr id="364" name="Google Shape;364;p39"/>
          <p:cNvSpPr txBox="1">
            <a:spLocks noGrp="1"/>
          </p:cNvSpPr>
          <p:nvPr>
            <p:ph type="subTitle" idx="1"/>
          </p:nvPr>
        </p:nvSpPr>
        <p:spPr>
          <a:xfrm>
            <a:off x="2054432" y="3248481"/>
            <a:ext cx="6400800" cy="992126"/>
          </a:xfrm>
          <a:prstGeom prst="rect">
            <a:avLst/>
          </a:prstGeom>
        </p:spPr>
        <p:txBody>
          <a:bodyPr spcFirstLastPara="1" wrap="square" lIns="91425" tIns="91425" rIns="91425" bIns="91425" anchor="ctr" anchorCtr="0">
            <a:noAutofit/>
          </a:bodyPr>
          <a:lstStyle/>
          <a:p>
            <a:pPr marL="0" indent="0"/>
            <a:r>
              <a:rPr lang="en-GB" sz="1000" dirty="0"/>
              <a:t>The student can collaborate (internationally) in multidisciplinary teams with different levels of knowledge in the field of data use and applications. They can set up and execute projects in collaboration with stakeholders and team members. They can act as a sounding board in discussions with team members, customers, users and experts. They strive for a good balance between input of their own vision and additional expertise of others. They are able to lead a team. </a:t>
            </a:r>
            <a:endParaRPr sz="1000" dirty="0"/>
          </a:p>
        </p:txBody>
      </p:sp>
      <p:sp>
        <p:nvSpPr>
          <p:cNvPr id="365" name="Google Shape;365;p39"/>
          <p:cNvSpPr txBox="1">
            <a:spLocks noGrp="1"/>
          </p:cNvSpPr>
          <p:nvPr>
            <p:ph type="subTitle" idx="2"/>
          </p:nvPr>
        </p:nvSpPr>
        <p:spPr>
          <a:xfrm>
            <a:off x="2629317" y="2473577"/>
            <a:ext cx="5486400" cy="685800"/>
          </a:xfrm>
          <a:prstGeom prst="rect">
            <a:avLst/>
          </a:prstGeom>
        </p:spPr>
        <p:txBody>
          <a:bodyPr spcFirstLastPara="1" wrap="square" lIns="91425" tIns="91425" rIns="91425" bIns="91425" anchor="ctr" anchorCtr="0">
            <a:noAutofit/>
          </a:bodyPr>
          <a:lstStyle/>
          <a:p>
            <a:pPr marL="0" indent="0" algn="ctr"/>
            <a:r>
              <a:rPr lang="en" sz="3000" dirty="0"/>
              <a:t>Professional Practice</a:t>
            </a:r>
          </a:p>
        </p:txBody>
      </p:sp>
      <p:sp>
        <p:nvSpPr>
          <p:cNvPr id="366" name="Google Shape;366;p39"/>
          <p:cNvSpPr txBox="1"/>
          <p:nvPr/>
        </p:nvSpPr>
        <p:spPr>
          <a:xfrm>
            <a:off x="-420624" y="754575"/>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NL" sz="40000" dirty="0">
                <a:solidFill>
                  <a:srgbClr val="999999"/>
                </a:solidFill>
                <a:latin typeface="Roboto"/>
                <a:ea typeface="Roboto"/>
                <a:cs typeface="Roboto"/>
                <a:sym typeface="Roboto"/>
              </a:rPr>
              <a:t>X</a:t>
            </a:r>
            <a:endParaRPr sz="40000" dirty="0">
              <a:solidFill>
                <a:srgbClr val="999999"/>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E8A7"/>
        </a:solidFill>
        <a:effectLst/>
      </p:bgPr>
    </p:bg>
    <p:spTree>
      <p:nvGrpSpPr>
        <p:cNvPr id="1" name="Shape 392"/>
        <p:cNvGrpSpPr/>
        <p:nvPr/>
      </p:nvGrpSpPr>
      <p:grpSpPr>
        <a:xfrm>
          <a:off x="0" y="0"/>
          <a:ext cx="0" cy="0"/>
          <a:chOff x="0" y="0"/>
          <a:chExt cx="0" cy="0"/>
        </a:xfrm>
      </p:grpSpPr>
      <p:sp>
        <p:nvSpPr>
          <p:cNvPr id="393" name="Google Shape;393;p42"/>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NL" dirty="0"/>
              <a:t>1</a:t>
            </a:r>
            <a:endParaRPr dirty="0"/>
          </a:p>
        </p:txBody>
      </p:sp>
      <p:sp>
        <p:nvSpPr>
          <p:cNvPr id="394" name="Google Shape;394;p42"/>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396" name="Google Shape;396;p42"/>
          <p:cNvSpPr txBox="1">
            <a:spLocks noGrp="1"/>
          </p:cNvSpPr>
          <p:nvPr>
            <p:ph type="title" idx="3"/>
          </p:nvPr>
        </p:nvSpPr>
        <p:spPr>
          <a:xfrm>
            <a:off x="2049461" y="0"/>
            <a:ext cx="6577962" cy="576000"/>
          </a:xfrm>
          <a:prstGeom prst="rect">
            <a:avLst/>
          </a:prstGeom>
        </p:spPr>
        <p:txBody>
          <a:bodyPr spcFirstLastPara="1" wrap="square" lIns="91425" tIns="91425" rIns="91425" bIns="91425" anchor="ctr" anchorCtr="0">
            <a:noAutofit/>
          </a:bodyPr>
          <a:lstStyle/>
          <a:p>
            <a:r>
              <a:rPr lang="en-GB" i="0" dirty="0"/>
              <a:t>The student can collaborate (internationally) in multidisciplinary teams with different levels of knowledge in the field of data use and applications. They can set up and execute projects in collaboration with stakeholders and team members. They can act as a sounding board in discussions with team members, customers, users and experts. They strive for a good balance between input of their own vision and additional expertise of others. They are able to lead a team. </a:t>
            </a:r>
            <a:endParaRPr lang="en-GB" dirty="0"/>
          </a:p>
        </p:txBody>
      </p:sp>
      <p:sp>
        <p:nvSpPr>
          <p:cNvPr id="397" name="Google Shape;397;p42"/>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dirty="0"/>
              <a:t>1</a:t>
            </a:r>
            <a:r>
              <a:rPr lang="en" dirty="0"/>
              <a:t>.</a:t>
            </a:r>
            <a:r>
              <a:rPr lang="en-NL" dirty="0"/>
              <a:t>4</a:t>
            </a:r>
            <a:endParaRPr dirty="0"/>
          </a:p>
        </p:txBody>
      </p:sp>
      <p:sp>
        <p:nvSpPr>
          <p:cNvPr id="398" name="Google Shape;398;p42"/>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a:spcBef>
                <a:spcPts val="0"/>
              </a:spcBef>
              <a:spcAft>
                <a:spcPts val="0"/>
              </a:spcAft>
              <a:buNone/>
            </a:pPr>
            <a:r>
              <a:rPr lang="en-GB" i="0" dirty="0"/>
              <a:t>The student works effectively and responsibly based on agreed-upon priorities using constructive reflection and effective communication to achieve short and long-term project goals.</a:t>
            </a:r>
            <a:endParaRPr lang="en-US" i="0" dirty="0"/>
          </a:p>
        </p:txBody>
      </p:sp>
      <p:sp>
        <p:nvSpPr>
          <p:cNvPr id="399" name="Google Shape;399;p42"/>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GB" sz="900" dirty="0"/>
              <a:t>Professional practice</a:t>
            </a:r>
            <a:endParaRPr sz="900" dirty="0"/>
          </a:p>
        </p:txBody>
      </p:sp>
      <p:graphicFrame>
        <p:nvGraphicFramePr>
          <p:cNvPr id="3" name="Table 4">
            <a:extLst>
              <a:ext uri="{FF2B5EF4-FFF2-40B4-BE49-F238E27FC236}">
                <a16:creationId xmlns:a16="http://schemas.microsoft.com/office/drawing/2014/main" id="{56BA5354-3A5E-ED5E-DA1B-291354D19517}"/>
              </a:ext>
            </a:extLst>
          </p:cNvPr>
          <p:cNvGraphicFramePr>
            <a:graphicFrameLocks noGrp="1"/>
          </p:cNvGraphicFramePr>
          <p:nvPr>
            <p:extLst>
              <p:ext uri="{D42A27DB-BD31-4B8C-83A1-F6EECF244321}">
                <p14:modId xmlns:p14="http://schemas.microsoft.com/office/powerpoint/2010/main" val="1110600063"/>
              </p:ext>
            </p:extLst>
          </p:nvPr>
        </p:nvGraphicFramePr>
        <p:xfrm>
          <a:off x="-46200" y="1069800"/>
          <a:ext cx="9190198" cy="4335513"/>
        </p:xfrm>
        <a:graphic>
          <a:graphicData uri="http://schemas.openxmlformats.org/drawingml/2006/table">
            <a:tbl>
              <a:tblPr firstRow="1" bandRow="1">
                <a:tableStyleId>{764D4AE7-FFBC-431D-9275-528F30A785D3}</a:tableStyleId>
              </a:tblPr>
              <a:tblGrid>
                <a:gridCol w="1828341">
                  <a:extLst>
                    <a:ext uri="{9D8B030D-6E8A-4147-A177-3AD203B41FA5}">
                      <a16:colId xmlns:a16="http://schemas.microsoft.com/office/drawing/2014/main" val="3534130133"/>
                    </a:ext>
                  </a:extLst>
                </a:gridCol>
                <a:gridCol w="2273281">
                  <a:extLst>
                    <a:ext uri="{9D8B030D-6E8A-4147-A177-3AD203B41FA5}">
                      <a16:colId xmlns:a16="http://schemas.microsoft.com/office/drawing/2014/main" val="3367927302"/>
                    </a:ext>
                  </a:extLst>
                </a:gridCol>
                <a:gridCol w="2547258">
                  <a:extLst>
                    <a:ext uri="{9D8B030D-6E8A-4147-A177-3AD203B41FA5}">
                      <a16:colId xmlns:a16="http://schemas.microsoft.com/office/drawing/2014/main" val="3466084504"/>
                    </a:ext>
                  </a:extLst>
                </a:gridCol>
                <a:gridCol w="2541318">
                  <a:extLst>
                    <a:ext uri="{9D8B030D-6E8A-4147-A177-3AD203B41FA5}">
                      <a16:colId xmlns:a16="http://schemas.microsoft.com/office/drawing/2014/main" val="2514858810"/>
                    </a:ext>
                  </a:extLst>
                </a:gridCol>
              </a:tblGrid>
              <a:tr h="350755">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Pre-requisites</a:t>
                      </a:r>
                      <a:endParaRPr lang="en-NL" sz="800" b="1" dirty="0">
                        <a:latin typeface="Roboto" panose="02000000000000000000" pitchFamily="2" charset="0"/>
                        <a:ea typeface="Roboto" panose="02000000000000000000" pitchFamily="2" charset="0"/>
                        <a:cs typeface="Roboto" panose="02000000000000000000" pitchFamily="2" charset="0"/>
                      </a:endParaRPr>
                    </a:p>
                  </a:txBody>
                  <a:tcPr>
                    <a:solidFill>
                      <a:srgbClr val="FFFBD3"/>
                    </a:solidFill>
                  </a:tcPr>
                </a:tc>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A: 6 points</a:t>
                      </a:r>
                      <a:endParaRPr lang="en-NL" sz="800" b="1"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B: 10 points</a:t>
                      </a:r>
                      <a:endParaRPr lang="en-NL" sz="800" b="1" dirty="0">
                        <a:latin typeface="Roboto" panose="02000000000000000000" pitchFamily="2" charset="0"/>
                        <a:ea typeface="Roboto" panose="02000000000000000000" pitchFamily="2" charset="0"/>
                        <a:cs typeface="Roboto" panose="02000000000000000000" pitchFamily="2" charset="0"/>
                      </a:endParaRPr>
                    </a:p>
                  </a:txBody>
                  <a:tcPr>
                    <a:solidFill>
                      <a:srgbClr val="F5C1A8"/>
                    </a:solidFill>
                  </a:tcPr>
                </a:tc>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C: 4 points</a:t>
                      </a:r>
                      <a:endParaRPr lang="en-NL" sz="800" b="1"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extLst>
                  <a:ext uri="{0D108BD9-81ED-4DB2-BD59-A6C34878D82A}">
                    <a16:rowId xmlns:a16="http://schemas.microsoft.com/office/drawing/2014/main" val="1929066760"/>
                  </a:ext>
                </a:extLst>
              </a:tr>
              <a:tr h="669625">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700" dirty="0">
                          <a:latin typeface="Roboto" panose="02000000000000000000" pitchFamily="2" charset="0"/>
                          <a:ea typeface="Roboto" panose="02000000000000000000" pitchFamily="2" charset="0"/>
                          <a:cs typeface="Roboto" panose="02000000000000000000" pitchFamily="2" charset="0"/>
                        </a:rPr>
                        <a:t>Student submitted a complete learning log, work log and self-assessment rubric. Clear individual contributions to the project are documented. Student takes a fair amount of work at the shoulders, evidenced by peer review. The student obtained at least 10 points in week 9-10 challenges.</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rgbClr val="FFFBD3"/>
                    </a:solidFill>
                  </a:tcPr>
                </a:tc>
                <a:tc>
                  <a:txBody>
                    <a:bodyPr/>
                    <a:lstStyle/>
                    <a:p>
                      <a:r>
                        <a:rPr lang="en-GB" sz="700" dirty="0">
                          <a:latin typeface="Roboto" panose="02000000000000000000" pitchFamily="2" charset="0"/>
                          <a:ea typeface="Roboto" panose="02000000000000000000" pitchFamily="2" charset="0"/>
                          <a:cs typeface="Roboto" panose="02000000000000000000" pitchFamily="2" charset="0"/>
                        </a:rPr>
                        <a:t>The student actively and proactively participates in all project events (e.g. stand-up, retrospective, demonstrations, presentations, project planning). The student demonstrates a professional capacity to communicate with different audiences, collects feedback from team member and stakeholders, and forms action points based on the outcomes.</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pPr algn="l"/>
                      <a:r>
                        <a:rPr lang="en-GB" sz="700" dirty="0">
                          <a:latin typeface="Roboto" panose="02000000000000000000" pitchFamily="2" charset="0"/>
                          <a:ea typeface="Roboto" panose="02000000000000000000" pitchFamily="2" charset="0"/>
                          <a:cs typeface="Roboto" panose="02000000000000000000" pitchFamily="2" charset="0"/>
                        </a:rPr>
                        <a:t>The student takes responsibility for a fair amount of the work and clearly contributes to the project outcomes. The student takes responsibility for the outcomes of their work and team/project interactions as demonstrated by the peer review and the execution of the project plan.</a:t>
                      </a:r>
                    </a:p>
                  </a:txBody>
                  <a:tcPr anchor="ctr">
                    <a:solidFill>
                      <a:srgbClr val="F5C1A8"/>
                    </a:solidFill>
                  </a:tcPr>
                </a:tc>
                <a:tc>
                  <a:txBody>
                    <a:bodyPr/>
                    <a:lstStyle/>
                    <a:p>
                      <a:r>
                        <a:rPr lang="en-GB" sz="700" dirty="0">
                          <a:latin typeface="Roboto" panose="02000000000000000000" pitchFamily="2" charset="0"/>
                          <a:ea typeface="Roboto" panose="02000000000000000000" pitchFamily="2" charset="0"/>
                          <a:cs typeface="Roboto" panose="02000000000000000000" pitchFamily="2" charset="0"/>
                        </a:rPr>
                        <a:t>The student demonstrates the ability to adjust to changes in the project plan as conditions, requirements or priorities change. The student is receptive of peer and stakeholder feedback, and actively and constructively works to help their peers improve the quality of their project contributions. The student proposes solutions and/or improvements to the team dynamics.</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extLst>
                  <a:ext uri="{0D108BD9-81ED-4DB2-BD59-A6C34878D82A}">
                    <a16:rowId xmlns:a16="http://schemas.microsoft.com/office/drawing/2014/main" val="173029964"/>
                  </a:ext>
                </a:extLst>
              </a:tr>
              <a:tr h="1913211">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believe I have achieved this ILO because I received full marks (10 points) for the Week 9 and 10 challenge, demonstrating my understanding and engagement with the material. Additionally, I completed both my learning log and work log in full, including providing all relevant links as required. I also completed the self-assessment rubric, ensuring a thorough reflection on my performance and contributions.</a:t>
                      </a:r>
                      <a:endParaRPr lang="en-US" sz="7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a:solidFill>
                      <a:srgbClr val="FFFBD3"/>
                    </a:solidFill>
                  </a:tcPr>
                </a:tc>
                <a:tc>
                  <a:txBody>
                    <a:bodyPr/>
                    <a:lstStyle/>
                    <a:p>
                      <a:pPr algn="l" fontAlgn="t"/>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achieved this ILO by actively participating in all stand-up meetings and maintaining open, consistent communication with my peers to effectively distribute tasks and ensure a balanced workload across the team. I consistently reviewed my contributions in collaboration with the group, sought constructive feedback, and made improvements accordingly, which reflects my active engagement in the team process. Additionally, I contributed to decision-making, supported my teammates when challenges arose, and ensured that our collective goals were met efficiently. My commitment to collaboration and continuous improvement was central to achieving our project objectives and fulfilling the learning outcomes</a:t>
                      </a:r>
                      <a:endParaRPr lang="en-NL" sz="900" b="1" i="0" u="none" strike="noStrike" cap="none" dirty="0">
                        <a:solidFill>
                          <a:srgbClr val="000000"/>
                        </a:solidFill>
                        <a:effectLst/>
                        <a:highlight>
                          <a:srgbClr val="F7C7AC"/>
                        </a:highlight>
                        <a:latin typeface="Roboto" panose="02000000000000000000" pitchFamily="2" charset="0"/>
                        <a:ea typeface="Roboto" panose="02000000000000000000" pitchFamily="2" charset="0"/>
                        <a:cs typeface="Roboto" panose="02000000000000000000" pitchFamily="2" charset="0"/>
                        <a:sym typeface="Arial"/>
                      </a:endParaRPr>
                    </a:p>
                  </a:txBody>
                  <a:tcPr>
                    <a:solidFill>
                      <a:schemeClr val="accent4">
                        <a:lumMod val="20000"/>
                        <a:lumOff val="80000"/>
                      </a:schemeClr>
                    </a:solidFill>
                  </a:tcPr>
                </a:tc>
                <a:tc>
                  <a:txBody>
                    <a:bodyPr/>
                    <a:lstStyle/>
                    <a:p>
                      <a:pPr algn="l" fontAlgn="t"/>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was consistently involved in organizing and dividing the work within the team, and I actively supported my peers by contributing directly, offering feedback, or revising parts of the work when needed. I believe I have met this learning outcome because my contributions are clearly reflected in our Trello board, where my name appears on approximately 40% of the tasks. Given that the work was shared among three members, this indicates a strong and balanced level of participation.</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rgbClr val="F5C1A8"/>
                    </a:solidFill>
                  </a:tcPr>
                </a:tc>
                <a:tc>
                  <a:txBody>
                    <a:bodyPr/>
                    <a:lstStyle/>
                    <a:p>
                      <a:pPr algn="l" fontAlgn="t"/>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believe I have met this learning outcome because, from the beginning, my individual idea closely aligned with those of my teammates, which led to the successful merging of our ideas into a single team concept—demonstrating my early contribution to the collaborative process. Throughout the project, I was consistently available to provide feedback, review work, and make improvements where necessary. For example, in Task 2.2, I added GDPR-related content to enhance the completeness of the task, even though it was originally assigned to Szymon. This reflects my proactive involvement and commitment to achieving the best possible outcome for the team.</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extLst>
                  <a:ext uri="{0D108BD9-81ED-4DB2-BD59-A6C34878D82A}">
                    <a16:rowId xmlns:a16="http://schemas.microsoft.com/office/drawing/2014/main" val="3577151072"/>
                  </a:ext>
                </a:extLst>
              </a:tr>
              <a:tr h="1126667">
                <a:tc>
                  <a:txBody>
                    <a:bodyPr/>
                    <a:lstStyle/>
                    <a:p>
                      <a:pPr lvl="0">
                        <a:buNone/>
                      </a:pPr>
                      <a:r>
                        <a:rPr lang="en-US" sz="700" b="1" dirty="0">
                          <a:latin typeface="Roboto" panose="02000000000000000000" pitchFamily="2" charset="0"/>
                          <a:ea typeface="Roboto" panose="02000000000000000000" pitchFamily="2" charset="0"/>
                          <a:cs typeface="Roboto" panose="02000000000000000000" pitchFamily="2" charset="0"/>
                        </a:rPr>
                        <a:t>Provide links to:</a:t>
                      </a:r>
                    </a:p>
                    <a:p>
                      <a:pPr marL="171450" lvl="0" indent="-171450">
                        <a:buFontTx/>
                        <a:buChar char="-"/>
                      </a:pPr>
                      <a:r>
                        <a:rPr lang="en-US" sz="700" dirty="0">
                          <a:latin typeface="Roboto" panose="02000000000000000000" pitchFamily="2" charset="0"/>
                          <a:ea typeface="Roboto" panose="02000000000000000000" pitchFamily="2" charset="0"/>
                          <a:cs typeface="Roboto" panose="02000000000000000000" pitchFamily="2" charset="0"/>
                        </a:rPr>
                        <a:t>Learning log</a:t>
                      </a:r>
                    </a:p>
                    <a:p>
                      <a:pPr marL="171450" lvl="0" indent="-171450">
                        <a:buFontTx/>
                        <a:buChar char="-"/>
                      </a:pPr>
                      <a:r>
                        <a:rPr lang="en-US" sz="700" dirty="0">
                          <a:latin typeface="Roboto" panose="02000000000000000000" pitchFamily="2" charset="0"/>
                          <a:ea typeface="Roboto" panose="02000000000000000000" pitchFamily="2" charset="0"/>
                          <a:cs typeface="Roboto" panose="02000000000000000000" pitchFamily="2" charset="0"/>
                          <a:hlinkClick r:id="rId3"/>
                        </a:rPr>
                        <a:t>Work log</a:t>
                      </a:r>
                      <a:endParaRPr lang="en-US" sz="700" dirty="0">
                        <a:latin typeface="Roboto" panose="02000000000000000000" pitchFamily="2" charset="0"/>
                        <a:ea typeface="Roboto" panose="02000000000000000000" pitchFamily="2" charset="0"/>
                        <a:cs typeface="Roboto" panose="02000000000000000000" pitchFamily="2" charset="0"/>
                      </a:endParaRPr>
                    </a:p>
                    <a:p>
                      <a:pPr marL="171450" lvl="0" indent="-171450">
                        <a:buFontTx/>
                        <a:buChar char="-"/>
                      </a:pPr>
                      <a:r>
                        <a:rPr lang="en-US" sz="700" dirty="0">
                          <a:latin typeface="Roboto" panose="02000000000000000000" pitchFamily="2" charset="0"/>
                          <a:ea typeface="Roboto" panose="02000000000000000000" pitchFamily="2" charset="0"/>
                          <a:cs typeface="Roboto" panose="02000000000000000000" pitchFamily="2" charset="0"/>
                          <a:hlinkClick r:id="rId4"/>
                        </a:rPr>
                        <a:t>Self-assessment rubric</a:t>
                      </a:r>
                      <a:endParaRPr lang="en-US" sz="700" dirty="0">
                        <a:latin typeface="Roboto" panose="02000000000000000000" pitchFamily="2" charset="0"/>
                        <a:ea typeface="Roboto" panose="02000000000000000000" pitchFamily="2" charset="0"/>
                        <a:cs typeface="Roboto" panose="02000000000000000000" pitchFamily="2" charset="0"/>
                      </a:endParaRPr>
                    </a:p>
                  </a:txBody>
                  <a:tcPr>
                    <a:solidFill>
                      <a:srgbClr val="FFFBD3"/>
                    </a:solidFill>
                  </a:tcPr>
                </a:tc>
                <a:tc>
                  <a:txBody>
                    <a:bodyPr/>
                    <a:lstStyle/>
                    <a:p>
                      <a:pPr lvl="0" algn="l">
                        <a:lnSpc>
                          <a:spcPct val="100000"/>
                        </a:lnSpc>
                        <a:spcBef>
                          <a:spcPts val="0"/>
                        </a:spcBef>
                        <a:spcAft>
                          <a:spcPts val="0"/>
                        </a:spcAft>
                        <a:buNone/>
                      </a:pPr>
                      <a:r>
                        <a:rPr lang="en-US" sz="700" b="1"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Links to:</a:t>
                      </a:r>
                    </a:p>
                    <a:p>
                      <a:pPr lvl="0" algn="l">
                        <a:lnSpc>
                          <a:spcPct val="100000"/>
                        </a:lnSpc>
                        <a:spcBef>
                          <a:spcPts val="0"/>
                        </a:spcBef>
                        <a:spcAft>
                          <a:spcPts val="0"/>
                        </a:spcAft>
                        <a:buNone/>
                      </a:pPr>
                      <a:r>
                        <a:rPr lang="en-US" sz="700" b="1"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5"/>
                        </a:rPr>
                        <a:t>Link</a:t>
                      </a:r>
                      <a:endParaRPr lang="en-US" sz="700" b="1"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171450" lvl="0" indent="-171450" algn="l">
                        <a:lnSpc>
                          <a:spcPct val="100000"/>
                        </a:lnSpc>
                        <a:spcBef>
                          <a:spcPts val="0"/>
                        </a:spcBef>
                        <a:spcAft>
                          <a:spcPts val="0"/>
                        </a:spcAft>
                        <a:buFontTx/>
                        <a:buChar char="-"/>
                      </a:pPr>
                      <a:r>
                        <a:rPr lang="en-US" sz="700" b="0" i="0" u="none" strike="noStrike" noProof="0" dirty="0" err="1">
                          <a:solidFill>
                            <a:srgbClr val="000000"/>
                          </a:solidFill>
                          <a:latin typeface="Roboto" panose="02000000000000000000" pitchFamily="2" charset="0"/>
                          <a:ea typeface="Roboto" panose="02000000000000000000" pitchFamily="2" charset="0"/>
                          <a:cs typeface="Roboto" panose="02000000000000000000" pitchFamily="2" charset="0"/>
                        </a:rPr>
                        <a:t>Meeting_Log_Template</a:t>
                      </a:r>
                      <a:endPar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spcBef>
                          <a:spcPts val="0"/>
                        </a:spcBef>
                        <a:spcAft>
                          <a:spcPts val="0"/>
                        </a:spcAft>
                        <a:buFontTx/>
                        <a:buNone/>
                      </a:pPr>
                      <a:r>
                        <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6"/>
                        </a:rPr>
                        <a:t>Agenda</a:t>
                      </a:r>
                      <a:endPar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171450" lvl="0" indent="-171450" algn="l">
                        <a:lnSpc>
                          <a:spcPct val="100000"/>
                        </a:lnSpc>
                        <a:spcBef>
                          <a:spcPts val="0"/>
                        </a:spcBef>
                        <a:spcAft>
                          <a:spcPts val="0"/>
                        </a:spcAft>
                        <a:buFontTx/>
                        <a:buChar char="-"/>
                      </a:pPr>
                      <a:r>
                        <a:rPr lang="en-US" sz="700" b="0" i="0" u="none" strike="noStrike" noProof="0" dirty="0" err="1">
                          <a:solidFill>
                            <a:srgbClr val="000000"/>
                          </a:solidFill>
                          <a:latin typeface="Roboto" panose="02000000000000000000" pitchFamily="2" charset="0"/>
                          <a:ea typeface="Roboto" panose="02000000000000000000" pitchFamily="2" charset="0"/>
                          <a:cs typeface="Roboto" panose="02000000000000000000" pitchFamily="2" charset="0"/>
                        </a:rPr>
                        <a:t>AgendaMinutes_Template</a:t>
                      </a:r>
                      <a:endPar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endParaRPr lang="en-US"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pPr lvl="0" algn="l">
                        <a:lnSpc>
                          <a:spcPct val="100000"/>
                        </a:lnSpc>
                        <a:spcBef>
                          <a:spcPts val="0"/>
                        </a:spcBef>
                        <a:spcAft>
                          <a:spcPts val="0"/>
                        </a:spcAft>
                        <a:buNone/>
                      </a:pPr>
                      <a:r>
                        <a:rPr lang="en-US" sz="700" b="1"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links to:</a:t>
                      </a:r>
                    </a:p>
                    <a:p>
                      <a:pPr lvl="0" algn="l">
                        <a:lnSpc>
                          <a:spcPct val="100000"/>
                        </a:lnSpc>
                        <a:spcBef>
                          <a:spcPts val="0"/>
                        </a:spcBef>
                        <a:spcAft>
                          <a:spcPts val="0"/>
                        </a:spcAft>
                        <a:buNone/>
                      </a:pPr>
                      <a:r>
                        <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rPr>
                        <a:t>- Trello Board</a:t>
                      </a:r>
                    </a:p>
                    <a:p>
                      <a:pPr lvl="0">
                        <a:buNone/>
                      </a:pPr>
                      <a:r>
                        <a:rPr lang="en-US" sz="700" dirty="0">
                          <a:latin typeface="Roboto" panose="02000000000000000000" pitchFamily="2" charset="0"/>
                          <a:ea typeface="Roboto" panose="02000000000000000000" pitchFamily="2" charset="0"/>
                          <a:cs typeface="Roboto" panose="02000000000000000000" pitchFamily="2" charset="0"/>
                          <a:hlinkClick r:id="rId7"/>
                        </a:rPr>
                        <a:t>Trello</a:t>
                      </a:r>
                      <a:endParaRPr lang="en-US" sz="700" dirty="0">
                        <a:latin typeface="Roboto" panose="02000000000000000000" pitchFamily="2" charset="0"/>
                        <a:ea typeface="Roboto" panose="02000000000000000000" pitchFamily="2" charset="0"/>
                        <a:cs typeface="Roboto" panose="02000000000000000000" pitchFamily="2" charset="0"/>
                      </a:endParaRPr>
                    </a:p>
                  </a:txBody>
                  <a:tcPr>
                    <a:solidFill>
                      <a:srgbClr val="F5C1A8"/>
                    </a:solidFill>
                  </a:tcPr>
                </a:tc>
                <a:tc>
                  <a:txBody>
                    <a:bodyPr/>
                    <a:lstStyle/>
                    <a:p>
                      <a:pPr lvl="0" algn="l">
                        <a:lnSpc>
                          <a:spcPct val="100000"/>
                        </a:lnSpc>
                        <a:spcBef>
                          <a:spcPts val="0"/>
                        </a:spcBef>
                        <a:spcAft>
                          <a:spcPts val="0"/>
                        </a:spcAft>
                        <a:buNone/>
                      </a:pPr>
                      <a:r>
                        <a:rPr lang="en-US" sz="700" b="1"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links to:</a:t>
                      </a:r>
                    </a:p>
                    <a:p>
                      <a:pPr lvl="0" algn="l">
                        <a:lnSpc>
                          <a:spcPct val="100000"/>
                        </a:lnSpc>
                        <a:spcBef>
                          <a:spcPts val="0"/>
                        </a:spcBef>
                        <a:spcAft>
                          <a:spcPts val="0"/>
                        </a:spcAft>
                        <a:buNone/>
                      </a:pPr>
                      <a:r>
                        <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rPr>
                        <a:t>- Trello Board</a:t>
                      </a:r>
                    </a:p>
                    <a:p>
                      <a:pPr lvl="0">
                        <a:buNone/>
                      </a:pPr>
                      <a:r>
                        <a:rPr lang="en-US" sz="700" dirty="0">
                          <a:latin typeface="Roboto" panose="02000000000000000000" pitchFamily="2" charset="0"/>
                          <a:ea typeface="Roboto" panose="02000000000000000000" pitchFamily="2" charset="0"/>
                          <a:cs typeface="Roboto" panose="02000000000000000000" pitchFamily="2" charset="0"/>
                          <a:hlinkClick r:id="rId7"/>
                        </a:rPr>
                        <a:t>Trello</a:t>
                      </a:r>
                      <a:endParaRPr lang="en-US"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extLst>
                  <a:ext uri="{0D108BD9-81ED-4DB2-BD59-A6C34878D82A}">
                    <a16:rowId xmlns:a16="http://schemas.microsoft.com/office/drawing/2014/main" val="740005107"/>
                  </a:ext>
                </a:extLst>
              </a:tr>
            </a:tbl>
          </a:graphicData>
        </a:graphic>
      </p:graphicFrame>
    </p:spTree>
    <p:extLst>
      <p:ext uri="{BB962C8B-B14F-4D97-AF65-F5344CB8AC3E}">
        <p14:creationId xmlns:p14="http://schemas.microsoft.com/office/powerpoint/2010/main" val="31326037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CF51D930-FC13-15B1-CCC9-26AFF6B3C020}"/>
            </a:ext>
          </a:extLst>
        </p:cNvPr>
        <p:cNvGrpSpPr/>
        <p:nvPr/>
      </p:nvGrpSpPr>
      <p:grpSpPr>
        <a:xfrm>
          <a:off x="0" y="0"/>
          <a:ext cx="0" cy="0"/>
          <a:chOff x="0" y="0"/>
          <a:chExt cx="0" cy="0"/>
        </a:xfrm>
      </p:grpSpPr>
      <p:sp>
        <p:nvSpPr>
          <p:cNvPr id="363" name="Google Shape;363;p39">
            <a:extLst>
              <a:ext uri="{FF2B5EF4-FFF2-40B4-BE49-F238E27FC236}">
                <a16:creationId xmlns:a16="http://schemas.microsoft.com/office/drawing/2014/main" id="{8D50FDED-BB17-961A-BECC-DBB1AC3D48F5}"/>
              </a:ext>
            </a:extLst>
          </p:cNvPr>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a:t>
            </a:r>
            <a:r>
              <a:rPr lang="en-NL" dirty="0"/>
              <a:t>2</a:t>
            </a:r>
            <a:endParaRPr dirty="0"/>
          </a:p>
        </p:txBody>
      </p:sp>
      <p:sp>
        <p:nvSpPr>
          <p:cNvPr id="364" name="Google Shape;364;p39">
            <a:extLst>
              <a:ext uri="{FF2B5EF4-FFF2-40B4-BE49-F238E27FC236}">
                <a16:creationId xmlns:a16="http://schemas.microsoft.com/office/drawing/2014/main" id="{DB6C8D7E-5DF1-4A29-E925-4674754478A2}"/>
              </a:ext>
            </a:extLst>
          </p:cNvPr>
          <p:cNvSpPr txBox="1">
            <a:spLocks noGrp="1"/>
          </p:cNvSpPr>
          <p:nvPr>
            <p:ph type="subTitle" idx="1"/>
          </p:nvPr>
        </p:nvSpPr>
        <p:spPr>
          <a:xfrm>
            <a:off x="2054432" y="3248481"/>
            <a:ext cx="6400800" cy="992126"/>
          </a:xfrm>
          <a:prstGeom prst="rect">
            <a:avLst/>
          </a:prstGeom>
        </p:spPr>
        <p:txBody>
          <a:bodyPr spcFirstLastPara="1" wrap="square" lIns="91425" tIns="91425" rIns="91425" bIns="91425" anchor="ctr" anchorCtr="0">
            <a:noAutofit/>
          </a:bodyPr>
          <a:lstStyle/>
          <a:p>
            <a:pPr marL="0" indent="0"/>
            <a:r>
              <a:rPr lang="en-GB" sz="1000" dirty="0"/>
              <a:t>The student applies relevant (research) methods and techniques in combination with relevant and adequate argumentation. They can reflect on (business) processes and their role in them, both theoretically and practically, by constantly evaluating their own actions and adapting them with input from others. They can translate the result of the reflection into concrete personal learning objectives. </a:t>
            </a:r>
          </a:p>
        </p:txBody>
      </p:sp>
      <p:sp>
        <p:nvSpPr>
          <p:cNvPr id="365" name="Google Shape;365;p39">
            <a:extLst>
              <a:ext uri="{FF2B5EF4-FFF2-40B4-BE49-F238E27FC236}">
                <a16:creationId xmlns:a16="http://schemas.microsoft.com/office/drawing/2014/main" id="{4FD699A2-C83F-C6BA-DD26-BEB588A1103F}"/>
              </a:ext>
            </a:extLst>
          </p:cNvPr>
          <p:cNvSpPr txBox="1">
            <a:spLocks noGrp="1"/>
          </p:cNvSpPr>
          <p:nvPr>
            <p:ph type="subTitle" idx="2"/>
          </p:nvPr>
        </p:nvSpPr>
        <p:spPr>
          <a:xfrm>
            <a:off x="2629317" y="2473577"/>
            <a:ext cx="5486400" cy="685800"/>
          </a:xfrm>
          <a:prstGeom prst="rect">
            <a:avLst/>
          </a:prstGeom>
        </p:spPr>
        <p:txBody>
          <a:bodyPr spcFirstLastPara="1" wrap="square" lIns="91425" tIns="91425" rIns="91425" bIns="91425" anchor="ctr" anchorCtr="0">
            <a:noAutofit/>
          </a:bodyPr>
          <a:lstStyle/>
          <a:p>
            <a:pPr marL="0" indent="0" algn="ctr"/>
            <a:r>
              <a:rPr lang="en-GB" sz="3000" dirty="0"/>
              <a:t>Personal Development &amp; Academic Practice. </a:t>
            </a:r>
            <a:endParaRPr lang="en" sz="3000" dirty="0"/>
          </a:p>
        </p:txBody>
      </p:sp>
    </p:spTree>
    <p:extLst>
      <p:ext uri="{BB962C8B-B14F-4D97-AF65-F5344CB8AC3E}">
        <p14:creationId xmlns:p14="http://schemas.microsoft.com/office/powerpoint/2010/main" val="26968306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85A69628-64AA-B521-545E-AA1F94108C79}"/>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0C02FDF4-9E4B-1E2C-C530-2D0ECD0F3C17}"/>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NL" dirty="0"/>
              <a:t>2</a:t>
            </a:r>
            <a:endParaRPr dirty="0"/>
          </a:p>
        </p:txBody>
      </p:sp>
      <p:sp>
        <p:nvSpPr>
          <p:cNvPr id="394" name="Google Shape;394;p42">
            <a:extLst>
              <a:ext uri="{FF2B5EF4-FFF2-40B4-BE49-F238E27FC236}">
                <a16:creationId xmlns:a16="http://schemas.microsoft.com/office/drawing/2014/main" id="{881F8977-4E0C-7106-EAC9-1E627A03126D}"/>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E6D023FD-231B-CC8A-E375-606442DA7392}"/>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CFBE48AD-EC71-7D51-4EA9-813812820FA6}"/>
              </a:ext>
            </a:extLst>
          </p:cNvPr>
          <p:cNvSpPr txBox="1">
            <a:spLocks noGrp="1"/>
          </p:cNvSpPr>
          <p:nvPr>
            <p:ph type="title" idx="3"/>
          </p:nvPr>
        </p:nvSpPr>
        <p:spPr>
          <a:xfrm>
            <a:off x="2049462" y="0"/>
            <a:ext cx="6500772" cy="576000"/>
          </a:xfrm>
          <a:prstGeom prst="rect">
            <a:avLst/>
          </a:prstGeom>
        </p:spPr>
        <p:txBody>
          <a:bodyPr spcFirstLastPara="1" wrap="square" lIns="91425" tIns="91425" rIns="91425" bIns="91425" anchor="ctr" anchorCtr="0">
            <a:noAutofit/>
          </a:bodyPr>
          <a:lstStyle/>
          <a:p>
            <a:r>
              <a:rPr lang="en-GB" i="0" dirty="0"/>
              <a:t>The student applies relevant (research) methods and techniques in combination with relevant and adequate argumentation. They can reflect on (business) processes and their role in them, both theoretically and practically, by constantly evaluating their own actions and adapting them with input from others. They can translate the result of the reflection into concrete personal learning objectives. </a:t>
            </a:r>
            <a:endParaRPr lang="en-GB" dirty="0"/>
          </a:p>
        </p:txBody>
      </p:sp>
      <p:sp>
        <p:nvSpPr>
          <p:cNvPr id="397" name="Google Shape;397;p42">
            <a:extLst>
              <a:ext uri="{FF2B5EF4-FFF2-40B4-BE49-F238E27FC236}">
                <a16:creationId xmlns:a16="http://schemas.microsoft.com/office/drawing/2014/main" id="{F0AE46FF-7619-600D-49A1-F7B5E7368DBB}"/>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dirty="0"/>
              <a:t>2</a:t>
            </a:r>
            <a:r>
              <a:rPr lang="en" dirty="0"/>
              <a:t>.</a:t>
            </a:r>
            <a:r>
              <a:rPr lang="en-NL" dirty="0"/>
              <a:t>4</a:t>
            </a:r>
            <a:endParaRPr dirty="0"/>
          </a:p>
        </p:txBody>
      </p:sp>
      <p:sp>
        <p:nvSpPr>
          <p:cNvPr id="398" name="Google Shape;398;p42">
            <a:extLst>
              <a:ext uri="{FF2B5EF4-FFF2-40B4-BE49-F238E27FC236}">
                <a16:creationId xmlns:a16="http://schemas.microsoft.com/office/drawing/2014/main" id="{06F26461-585A-F8CE-DD6E-3B734A27A71E}"/>
              </a:ext>
            </a:extLst>
          </p:cNvPr>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r>
              <a:rPr lang="en-GB" i="0" dirty="0"/>
              <a:t>The student demonstrates the ability to provide constructive, specific, and actionable feedback through structured peer review, contributing to the improvement and development of their peers’ work.</a:t>
            </a:r>
            <a:endParaRPr lang="en-US" i="0" dirty="0"/>
          </a:p>
        </p:txBody>
      </p:sp>
      <p:sp>
        <p:nvSpPr>
          <p:cNvPr id="399" name="Google Shape;399;p42">
            <a:extLst>
              <a:ext uri="{FF2B5EF4-FFF2-40B4-BE49-F238E27FC236}">
                <a16:creationId xmlns:a16="http://schemas.microsoft.com/office/drawing/2014/main" id="{291F875A-FC36-A910-C9FE-29F46CB89A94}"/>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GB" sz="900" dirty="0"/>
              <a:t>Personal Development &amp; Academic Practice</a:t>
            </a:r>
            <a:endParaRPr sz="900" dirty="0"/>
          </a:p>
        </p:txBody>
      </p:sp>
      <p:graphicFrame>
        <p:nvGraphicFramePr>
          <p:cNvPr id="3" name="Table 4">
            <a:extLst>
              <a:ext uri="{FF2B5EF4-FFF2-40B4-BE49-F238E27FC236}">
                <a16:creationId xmlns:a16="http://schemas.microsoft.com/office/drawing/2014/main" id="{BBA1FB66-54EE-C89A-3071-659C24C4FA67}"/>
              </a:ext>
            </a:extLst>
          </p:cNvPr>
          <p:cNvGraphicFramePr>
            <a:graphicFrameLocks noGrp="1"/>
          </p:cNvGraphicFramePr>
          <p:nvPr>
            <p:extLst>
              <p:ext uri="{D42A27DB-BD31-4B8C-83A1-F6EECF244321}">
                <p14:modId xmlns:p14="http://schemas.microsoft.com/office/powerpoint/2010/main" val="2014417311"/>
              </p:ext>
            </p:extLst>
          </p:nvPr>
        </p:nvGraphicFramePr>
        <p:xfrm>
          <a:off x="7436" y="1078853"/>
          <a:ext cx="9136564" cy="4060258"/>
        </p:xfrm>
        <a:graphic>
          <a:graphicData uri="http://schemas.openxmlformats.org/drawingml/2006/table">
            <a:tbl>
              <a:tblPr firstRow="1" bandRow="1">
                <a:tableStyleId>{764D4AE7-FFBC-431D-9275-528F30A785D3}</a:tableStyleId>
              </a:tblPr>
              <a:tblGrid>
                <a:gridCol w="2581385">
                  <a:extLst>
                    <a:ext uri="{9D8B030D-6E8A-4147-A177-3AD203B41FA5}">
                      <a16:colId xmlns:a16="http://schemas.microsoft.com/office/drawing/2014/main" val="3534130133"/>
                    </a:ext>
                  </a:extLst>
                </a:gridCol>
                <a:gridCol w="6555179">
                  <a:extLst>
                    <a:ext uri="{9D8B030D-6E8A-4147-A177-3AD203B41FA5}">
                      <a16:colId xmlns:a16="http://schemas.microsoft.com/office/drawing/2014/main" val="3367927302"/>
                    </a:ext>
                  </a:extLst>
                </a:gridCol>
              </a:tblGrid>
              <a:tr h="350755">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Pre-requisites</a:t>
                      </a:r>
                    </a:p>
                  </a:txBody>
                  <a:tcPr>
                    <a:solidFill>
                      <a:srgbClr val="FFFBD3"/>
                    </a:solidFill>
                  </a:tcPr>
                </a:tc>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A: 10 points</a:t>
                      </a:r>
                      <a:endParaRPr lang="en-NL" sz="800" b="1"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extLst>
                  <a:ext uri="{0D108BD9-81ED-4DB2-BD59-A6C34878D82A}">
                    <a16:rowId xmlns:a16="http://schemas.microsoft.com/office/drawing/2014/main" val="1929066760"/>
                  </a:ext>
                </a:extLst>
              </a:tr>
              <a:tr h="669625">
                <a:tc>
                  <a:txBody>
                    <a:bodyPr/>
                    <a:lstStyle/>
                    <a:p>
                      <a:r>
                        <a:rPr lang="en-GB" sz="700" dirty="0">
                          <a:latin typeface="Roboto" panose="02000000000000000000" pitchFamily="2" charset="0"/>
                          <a:ea typeface="Roboto" panose="02000000000000000000" pitchFamily="2" charset="0"/>
                          <a:cs typeface="Roboto" panose="02000000000000000000" pitchFamily="2" charset="0"/>
                        </a:rPr>
                        <a:t>The student submits a complete learning log, work log, and self-assessment rubric. The student exhibits professional behaviour during </a:t>
                      </a:r>
                      <a:r>
                        <a:rPr lang="en-GB" sz="700" dirty="0" err="1">
                          <a:latin typeface="Roboto" panose="02000000000000000000" pitchFamily="2" charset="0"/>
                          <a:ea typeface="Roboto" panose="02000000000000000000" pitchFamily="2" charset="0"/>
                          <a:cs typeface="Roboto" panose="02000000000000000000" pitchFamily="2" charset="0"/>
                        </a:rPr>
                        <a:t>DataLab</a:t>
                      </a:r>
                      <a:r>
                        <a:rPr lang="en-GB" sz="700" dirty="0">
                          <a:latin typeface="Roboto" panose="02000000000000000000" pitchFamily="2" charset="0"/>
                          <a:ea typeface="Roboto" panose="02000000000000000000" pitchFamily="2" charset="0"/>
                          <a:cs typeface="Roboto" panose="02000000000000000000" pitchFamily="2" charset="0"/>
                        </a:rPr>
                        <a:t> sessions. The student filled in the peer review form for all of their peers. The student obtained at least 10 points in week 9-10 challenges.</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rgbClr val="FFFBD3"/>
                    </a:solidFill>
                  </a:tcPr>
                </a:tc>
                <a:tc>
                  <a:txBody>
                    <a:bodyPr/>
                    <a:lstStyle/>
                    <a:p>
                      <a:r>
                        <a:rPr lang="en-GB" sz="700" dirty="0">
                          <a:latin typeface="Roboto" panose="02000000000000000000" pitchFamily="2" charset="0"/>
                          <a:ea typeface="Roboto" panose="02000000000000000000" pitchFamily="2" charset="0"/>
                          <a:cs typeface="Roboto" panose="02000000000000000000" pitchFamily="2" charset="0"/>
                        </a:rPr>
                        <a:t>The student provides peer feedback that is extensive, clear, respectful, and professional, addressing key aspects of the peer’s work and offering actionable suggestions for improvement. The student supports their feedback with specific examples from the peer's work. The student ensures that their feedback is aligned with the objectives outlined in the peer review process. </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extLst>
                  <a:ext uri="{0D108BD9-81ED-4DB2-BD59-A6C34878D82A}">
                    <a16:rowId xmlns:a16="http://schemas.microsoft.com/office/drawing/2014/main" val="173029964"/>
                  </a:ext>
                </a:extLst>
              </a:tr>
              <a:tr h="1913211">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believe I have achieved this ILO because I received full marks (10 points) for the Week 9 and 10 challenge, demonstrating my understanding and engagement with the material. Additionally, I completed both my learning log and work log in full, including providing all relevant links as required. I also completed the self-assessment rubric, ensuring a thorough reflection on my performance and contributions.</a:t>
                      </a:r>
                      <a:endParaRPr lang="en-US" sz="7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endParaRPr lang="en-US" sz="700" dirty="0">
                        <a:latin typeface="Roboto" panose="02000000000000000000" pitchFamily="2" charset="0"/>
                        <a:ea typeface="Roboto" panose="02000000000000000000" pitchFamily="2" charset="0"/>
                        <a:cs typeface="Roboto" panose="02000000000000000000" pitchFamily="2" charset="0"/>
                      </a:endParaRPr>
                    </a:p>
                    <a:p>
                      <a:pPr marL="0" lvl="0" indent="0" algn="l">
                        <a:lnSpc>
                          <a:spcPct val="100000"/>
                        </a:lnSpc>
                        <a:buNone/>
                      </a:pPr>
                      <a:r>
                        <a:rPr lang="en-US" sz="700" dirty="0">
                          <a:latin typeface="Roboto" panose="02000000000000000000" pitchFamily="2" charset="0"/>
                          <a:ea typeface="Roboto" panose="02000000000000000000" pitchFamily="2" charset="0"/>
                          <a:cs typeface="Roboto" panose="02000000000000000000" pitchFamily="2" charset="0"/>
                        </a:rPr>
                        <a:t>I also filled the peer feedback review for my peers.</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rgbClr val="FFFBD3"/>
                    </a:solidFill>
                  </a:tcPr>
                </a:tc>
                <a:tc>
                  <a:txBody>
                    <a:bodyPr/>
                    <a:lstStyle/>
                    <a:p>
                      <a:r>
                        <a:rPr lang="en-US" sz="700" dirty="0">
                          <a:latin typeface="Roboto" panose="02000000000000000000" pitchFamily="2" charset="0"/>
                          <a:ea typeface="Roboto" panose="02000000000000000000" pitchFamily="2" charset="0"/>
                          <a:cs typeface="Roboto" panose="02000000000000000000" pitchFamily="2" charset="0"/>
                        </a:rPr>
                        <a:t>I believe I have met this ILO because I provided constructive feedback to my teammates through the peer feedback form and also received feedback from them. Although I missed submitting the second peer feedback form due to a lapse in concentration, I actively participated in the feedback process overall, contributing to the team’s development and collaboration.</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extLst>
                  <a:ext uri="{0D108BD9-81ED-4DB2-BD59-A6C34878D82A}">
                    <a16:rowId xmlns:a16="http://schemas.microsoft.com/office/drawing/2014/main" val="3577151072"/>
                  </a:ext>
                </a:extLst>
              </a:tr>
              <a:tr h="1126667">
                <a:tc>
                  <a:txBody>
                    <a:bodyPr/>
                    <a:lstStyle/>
                    <a:p>
                      <a:pPr lvl="0">
                        <a:buNone/>
                      </a:pPr>
                      <a:r>
                        <a:rPr lang="en-US" sz="700" b="1" dirty="0">
                          <a:latin typeface="Roboto" panose="02000000000000000000" pitchFamily="2" charset="0"/>
                          <a:ea typeface="Roboto" panose="02000000000000000000" pitchFamily="2" charset="0"/>
                          <a:cs typeface="Roboto" panose="02000000000000000000" pitchFamily="2" charset="0"/>
                        </a:rPr>
                        <a:t>Provide Links to:</a:t>
                      </a:r>
                    </a:p>
                    <a:p>
                      <a:pPr marL="171450" lvl="0" indent="-171450">
                        <a:buFontTx/>
                        <a:buChar char="-"/>
                      </a:pPr>
                      <a:r>
                        <a:rPr lang="en-US" sz="700" dirty="0">
                          <a:latin typeface="Roboto" panose="02000000000000000000" pitchFamily="2" charset="0"/>
                          <a:ea typeface="Roboto" panose="02000000000000000000" pitchFamily="2" charset="0"/>
                          <a:cs typeface="Roboto" panose="02000000000000000000" pitchFamily="2" charset="0"/>
                        </a:rPr>
                        <a:t>Learning log</a:t>
                      </a:r>
                    </a:p>
                    <a:p>
                      <a:pPr marL="171450" lvl="0" indent="-171450">
                        <a:buFontTx/>
                        <a:buChar char="-"/>
                      </a:pPr>
                      <a:r>
                        <a:rPr lang="en-US" sz="700" dirty="0">
                          <a:latin typeface="Roboto" panose="02000000000000000000" pitchFamily="2" charset="0"/>
                          <a:ea typeface="Roboto" panose="02000000000000000000" pitchFamily="2" charset="0"/>
                          <a:cs typeface="Roboto" panose="02000000000000000000" pitchFamily="2" charset="0"/>
                          <a:hlinkClick r:id="rId3"/>
                        </a:rPr>
                        <a:t>Work log</a:t>
                      </a:r>
                      <a:endParaRPr lang="en-US" sz="700" dirty="0">
                        <a:latin typeface="Roboto" panose="02000000000000000000" pitchFamily="2" charset="0"/>
                        <a:ea typeface="Roboto" panose="02000000000000000000" pitchFamily="2" charset="0"/>
                        <a:cs typeface="Roboto" panose="02000000000000000000" pitchFamily="2" charset="0"/>
                      </a:endParaRPr>
                    </a:p>
                    <a:p>
                      <a:pPr marL="171450" lvl="0" indent="-171450">
                        <a:buFontTx/>
                        <a:buChar char="-"/>
                      </a:pPr>
                      <a:r>
                        <a:rPr lang="en-US" sz="700" dirty="0">
                          <a:latin typeface="Roboto" panose="02000000000000000000" pitchFamily="2" charset="0"/>
                          <a:ea typeface="Roboto" panose="02000000000000000000" pitchFamily="2" charset="0"/>
                          <a:cs typeface="Roboto" panose="02000000000000000000" pitchFamily="2" charset="0"/>
                          <a:hlinkClick r:id="rId4"/>
                        </a:rPr>
                        <a:t>Self-assessment rubric</a:t>
                      </a:r>
                      <a:endParaRPr lang="en-US" sz="700" dirty="0">
                        <a:latin typeface="Roboto" panose="02000000000000000000" pitchFamily="2" charset="0"/>
                        <a:ea typeface="Roboto" panose="02000000000000000000" pitchFamily="2" charset="0"/>
                        <a:cs typeface="Roboto" panose="02000000000000000000" pitchFamily="2" charset="0"/>
                      </a:endParaRPr>
                    </a:p>
                    <a:p>
                      <a:pPr marL="171450" lvl="0" indent="-171450">
                        <a:buFontTx/>
                        <a:buChar char="-"/>
                      </a:pPr>
                      <a:r>
                        <a:rPr lang="en-US" sz="700" dirty="0">
                          <a:latin typeface="Roboto" panose="02000000000000000000" pitchFamily="2" charset="0"/>
                          <a:ea typeface="Roboto" panose="02000000000000000000" pitchFamily="2" charset="0"/>
                          <a:cs typeface="Roboto" panose="02000000000000000000" pitchFamily="2" charset="0"/>
                          <a:hlinkClick r:id="rId5"/>
                        </a:rPr>
                        <a:t>A folder (in your personal GitHub repository) containing the peer-review feedback forms</a:t>
                      </a:r>
                      <a:endParaRPr lang="en-US" sz="700" dirty="0">
                        <a:latin typeface="Roboto" panose="02000000000000000000" pitchFamily="2" charset="0"/>
                        <a:ea typeface="Roboto" panose="02000000000000000000" pitchFamily="2" charset="0"/>
                        <a:cs typeface="Roboto" panose="02000000000000000000" pitchFamily="2" charset="0"/>
                      </a:endParaRPr>
                    </a:p>
                  </a:txBody>
                  <a:tcPr>
                    <a:solidFill>
                      <a:srgbClr val="FFFBD3"/>
                    </a:solidFill>
                  </a:tcPr>
                </a:tc>
                <a:tc>
                  <a:txBody>
                    <a:bodyPr/>
                    <a:lstStyle/>
                    <a:p>
                      <a:pPr lvl="0" algn="l">
                        <a:lnSpc>
                          <a:spcPct val="100000"/>
                        </a:lnSpc>
                        <a:spcBef>
                          <a:spcPts val="0"/>
                        </a:spcBef>
                        <a:spcAft>
                          <a:spcPts val="0"/>
                        </a:spcAft>
                        <a:buNone/>
                      </a:pPr>
                      <a:r>
                        <a:rPr lang="en-US" sz="700" b="1"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links to:</a:t>
                      </a:r>
                    </a:p>
                    <a:p>
                      <a:pPr lvl="0" algn="l">
                        <a:lnSpc>
                          <a:spcPct val="100000"/>
                        </a:lnSpc>
                        <a:spcBef>
                          <a:spcPts val="0"/>
                        </a:spcBef>
                        <a:spcAft>
                          <a:spcPts val="0"/>
                        </a:spcAft>
                        <a:buNone/>
                      </a:pPr>
                      <a:r>
                        <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5"/>
                        </a:rPr>
                        <a:t>A folder (in your personal GitHub repository) containing the peer-review feedback forms</a:t>
                      </a:r>
                      <a:endPar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lgn="l">
                        <a:lnSpc>
                          <a:spcPct val="100000"/>
                        </a:lnSpc>
                        <a:spcBef>
                          <a:spcPts val="0"/>
                        </a:spcBef>
                        <a:spcAft>
                          <a:spcPts val="0"/>
                        </a:spcAft>
                        <a:buNone/>
                      </a:pPr>
                      <a:endPar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lgn="l">
                        <a:lnSpc>
                          <a:spcPct val="100000"/>
                        </a:lnSpc>
                        <a:spcBef>
                          <a:spcPts val="0"/>
                        </a:spcBef>
                        <a:spcAft>
                          <a:spcPts val="0"/>
                        </a:spcAft>
                        <a:buNone/>
                      </a:pPr>
                      <a:r>
                        <a:rPr lang="en-US" sz="700" b="1"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rPr>
                        <a:t>Complete:</a:t>
                      </a:r>
                    </a:p>
                    <a:p>
                      <a:pPr lvl="0" algn="l">
                        <a:lnSpc>
                          <a:spcPct val="100000"/>
                        </a:lnSpc>
                        <a:spcBef>
                          <a:spcPts val="0"/>
                        </a:spcBef>
                        <a:spcAft>
                          <a:spcPts val="0"/>
                        </a:spcAft>
                        <a:buNone/>
                      </a:pPr>
                      <a:r>
                        <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6" action="ppaction://hlinksldjump"/>
                        </a:rPr>
                        <a:t>The Week 6 – Feedback section of your learning log</a:t>
                      </a:r>
                      <a:endPar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endParaRPr lang="en-US"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extLst>
                  <a:ext uri="{0D108BD9-81ED-4DB2-BD59-A6C34878D82A}">
                    <a16:rowId xmlns:a16="http://schemas.microsoft.com/office/drawing/2014/main" val="740005107"/>
                  </a:ext>
                </a:extLst>
              </a:tr>
            </a:tbl>
          </a:graphicData>
        </a:graphic>
      </p:graphicFrame>
    </p:spTree>
    <p:extLst>
      <p:ext uri="{BB962C8B-B14F-4D97-AF65-F5344CB8AC3E}">
        <p14:creationId xmlns:p14="http://schemas.microsoft.com/office/powerpoint/2010/main" val="36666397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009EF4A0-6975-B181-3801-5699480C7C61}"/>
            </a:ext>
          </a:extLst>
        </p:cNvPr>
        <p:cNvGrpSpPr/>
        <p:nvPr/>
      </p:nvGrpSpPr>
      <p:grpSpPr>
        <a:xfrm>
          <a:off x="0" y="0"/>
          <a:ext cx="0" cy="0"/>
          <a:chOff x="0" y="0"/>
          <a:chExt cx="0" cy="0"/>
        </a:xfrm>
      </p:grpSpPr>
      <p:sp>
        <p:nvSpPr>
          <p:cNvPr id="363" name="Google Shape;363;p39">
            <a:extLst>
              <a:ext uri="{FF2B5EF4-FFF2-40B4-BE49-F238E27FC236}">
                <a16:creationId xmlns:a16="http://schemas.microsoft.com/office/drawing/2014/main" id="{42994CA2-D556-4F99-E530-302A0EABCC54}"/>
              </a:ext>
            </a:extLst>
          </p:cNvPr>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a:t>
            </a:r>
            <a:r>
              <a:rPr lang="en-NL" dirty="0"/>
              <a:t>3</a:t>
            </a:r>
            <a:endParaRPr dirty="0"/>
          </a:p>
        </p:txBody>
      </p:sp>
      <p:sp>
        <p:nvSpPr>
          <p:cNvPr id="364" name="Google Shape;364;p39">
            <a:extLst>
              <a:ext uri="{FF2B5EF4-FFF2-40B4-BE49-F238E27FC236}">
                <a16:creationId xmlns:a16="http://schemas.microsoft.com/office/drawing/2014/main" id="{419153DA-FFCE-8BA8-C1BA-9028BC60A92A}"/>
              </a:ext>
            </a:extLst>
          </p:cNvPr>
          <p:cNvSpPr txBox="1">
            <a:spLocks noGrp="1"/>
          </p:cNvSpPr>
          <p:nvPr>
            <p:ph type="subTitle" idx="1"/>
          </p:nvPr>
        </p:nvSpPr>
        <p:spPr>
          <a:xfrm>
            <a:off x="2054432" y="3248481"/>
            <a:ext cx="6400800" cy="992126"/>
          </a:xfrm>
          <a:prstGeom prst="rect">
            <a:avLst/>
          </a:prstGeom>
        </p:spPr>
        <p:txBody>
          <a:bodyPr spcFirstLastPara="1" wrap="square" lIns="91425" tIns="91425" rIns="91425" bIns="91425" anchor="ctr" anchorCtr="0">
            <a:noAutofit/>
          </a:bodyPr>
          <a:lstStyle/>
          <a:p>
            <a:pPr marL="0" indent="0"/>
            <a:r>
              <a:rPr lang="en-GB" sz="1000" dirty="0"/>
              <a:t>The student is aware of legal and ethical aspects within the context of their professional work environment and is able to make substantiated considerations in this regard. They act with justice and integrity. </a:t>
            </a:r>
          </a:p>
        </p:txBody>
      </p:sp>
      <p:sp>
        <p:nvSpPr>
          <p:cNvPr id="365" name="Google Shape;365;p39">
            <a:extLst>
              <a:ext uri="{FF2B5EF4-FFF2-40B4-BE49-F238E27FC236}">
                <a16:creationId xmlns:a16="http://schemas.microsoft.com/office/drawing/2014/main" id="{49A1D4F7-3FD5-6AF7-A341-5DD20A298534}"/>
              </a:ext>
            </a:extLst>
          </p:cNvPr>
          <p:cNvSpPr txBox="1">
            <a:spLocks noGrp="1"/>
          </p:cNvSpPr>
          <p:nvPr>
            <p:ph type="subTitle" idx="2"/>
          </p:nvPr>
        </p:nvSpPr>
        <p:spPr>
          <a:xfrm>
            <a:off x="2629317" y="2473577"/>
            <a:ext cx="5486400" cy="774904"/>
          </a:xfrm>
          <a:prstGeom prst="rect">
            <a:avLst/>
          </a:prstGeom>
        </p:spPr>
        <p:txBody>
          <a:bodyPr spcFirstLastPara="1" wrap="square" lIns="91425" tIns="91425" rIns="91425" bIns="91425" anchor="ctr" anchorCtr="0">
            <a:noAutofit/>
          </a:bodyPr>
          <a:lstStyle/>
          <a:p>
            <a:pPr marL="0" indent="0" algn="ctr"/>
            <a:r>
              <a:rPr lang="en-GB" sz="3000" dirty="0"/>
              <a:t>Ethical and Legal Responsibility </a:t>
            </a:r>
            <a:endParaRPr lang="en" sz="3000" dirty="0"/>
          </a:p>
        </p:txBody>
      </p:sp>
    </p:spTree>
    <p:extLst>
      <p:ext uri="{BB962C8B-B14F-4D97-AF65-F5344CB8AC3E}">
        <p14:creationId xmlns:p14="http://schemas.microsoft.com/office/powerpoint/2010/main" val="29687457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85D9C70D-1F17-FE4A-F49D-48BFD2E9113F}"/>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35798011-B5D0-B37F-D223-05CB2A004F62}"/>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NL" dirty="0"/>
              <a:t>3</a:t>
            </a:r>
            <a:endParaRPr dirty="0"/>
          </a:p>
        </p:txBody>
      </p:sp>
      <p:sp>
        <p:nvSpPr>
          <p:cNvPr id="394" name="Google Shape;394;p42">
            <a:extLst>
              <a:ext uri="{FF2B5EF4-FFF2-40B4-BE49-F238E27FC236}">
                <a16:creationId xmlns:a16="http://schemas.microsoft.com/office/drawing/2014/main" id="{F51CF800-1ABB-07F8-4FCA-7D2098E10BA0}"/>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0A86E40F-D766-62E4-D5F3-3EF7A9C2F497}"/>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a:solidFill>
                <a:schemeClr val="lt1"/>
              </a:solidFill>
            </a:endParaRPr>
          </a:p>
          <a:p>
            <a:pPr marL="0" lvl="0" indent="0" algn="l" rtl="0">
              <a:lnSpc>
                <a:spcPct val="115000"/>
              </a:lnSpc>
              <a:spcBef>
                <a:spcPts val="0"/>
              </a:spcBef>
              <a:spcAft>
                <a:spcPts val="0"/>
              </a:spcAft>
              <a:buNone/>
            </a:pPr>
            <a:endParaRPr sz="700" i="1">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26E180B2-3C7C-BA45-B2BD-71D83A1E67F6}"/>
              </a:ext>
            </a:extLst>
          </p:cNvPr>
          <p:cNvSpPr txBox="1">
            <a:spLocks noGrp="1"/>
          </p:cNvSpPr>
          <p:nvPr>
            <p:ph type="title" idx="3"/>
          </p:nvPr>
        </p:nvSpPr>
        <p:spPr>
          <a:xfrm>
            <a:off x="2049462" y="0"/>
            <a:ext cx="6500772" cy="576000"/>
          </a:xfrm>
          <a:prstGeom prst="rect">
            <a:avLst/>
          </a:prstGeom>
        </p:spPr>
        <p:txBody>
          <a:bodyPr spcFirstLastPara="1" wrap="square" lIns="91425" tIns="91425" rIns="91425" bIns="91425" anchor="ctr" anchorCtr="0">
            <a:noAutofit/>
          </a:bodyPr>
          <a:lstStyle/>
          <a:p>
            <a:r>
              <a:rPr lang="en-GB" i="0" dirty="0"/>
              <a:t>The student is aware of legal and ethical aspects within the context of their professional work environment and is able to make substantiated considerations in this regard. They act with justice and integrity. </a:t>
            </a:r>
            <a:endParaRPr lang="en-GB" dirty="0"/>
          </a:p>
        </p:txBody>
      </p:sp>
      <p:sp>
        <p:nvSpPr>
          <p:cNvPr id="397" name="Google Shape;397;p42">
            <a:extLst>
              <a:ext uri="{FF2B5EF4-FFF2-40B4-BE49-F238E27FC236}">
                <a16:creationId xmlns:a16="http://schemas.microsoft.com/office/drawing/2014/main" id="{2F31503E-417F-FB72-E23E-5CE39647D580}"/>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dirty="0"/>
              <a:t>3</a:t>
            </a:r>
            <a:r>
              <a:rPr lang="en" dirty="0"/>
              <a:t>.</a:t>
            </a:r>
            <a:r>
              <a:rPr lang="en-NL" dirty="0"/>
              <a:t>3</a:t>
            </a:r>
            <a:endParaRPr dirty="0"/>
          </a:p>
        </p:txBody>
      </p:sp>
      <p:sp>
        <p:nvSpPr>
          <p:cNvPr id="398" name="Google Shape;398;p42">
            <a:extLst>
              <a:ext uri="{FF2B5EF4-FFF2-40B4-BE49-F238E27FC236}">
                <a16:creationId xmlns:a16="http://schemas.microsoft.com/office/drawing/2014/main" id="{E407D858-5426-B6FE-EAF5-78D079A900E4}"/>
              </a:ext>
            </a:extLst>
          </p:cNvPr>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r>
              <a:rPr lang="en-GB" i="0" dirty="0"/>
              <a:t>The student demonstrates the basic knowledge of European legal frameworks governing AI by providing evidence of legal decision-making while working with (privacy-sensitive) data.</a:t>
            </a:r>
            <a:endParaRPr lang="en-US" i="0" dirty="0"/>
          </a:p>
        </p:txBody>
      </p:sp>
      <p:sp>
        <p:nvSpPr>
          <p:cNvPr id="399" name="Google Shape;399;p42">
            <a:extLst>
              <a:ext uri="{FF2B5EF4-FFF2-40B4-BE49-F238E27FC236}">
                <a16:creationId xmlns:a16="http://schemas.microsoft.com/office/drawing/2014/main" id="{2E26EC4C-07DD-4CAA-D00A-690123777712}"/>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GB" sz="900" dirty="0"/>
              <a:t>Ethical and Legal Responsibility</a:t>
            </a:r>
          </a:p>
        </p:txBody>
      </p:sp>
      <p:graphicFrame>
        <p:nvGraphicFramePr>
          <p:cNvPr id="3" name="Table 4">
            <a:extLst>
              <a:ext uri="{FF2B5EF4-FFF2-40B4-BE49-F238E27FC236}">
                <a16:creationId xmlns:a16="http://schemas.microsoft.com/office/drawing/2014/main" id="{FAC9D8BE-D034-5504-49E9-4C003FFF49B1}"/>
              </a:ext>
            </a:extLst>
          </p:cNvPr>
          <p:cNvGraphicFramePr>
            <a:graphicFrameLocks noGrp="1"/>
          </p:cNvGraphicFramePr>
          <p:nvPr>
            <p:extLst>
              <p:ext uri="{D42A27DB-BD31-4B8C-83A1-F6EECF244321}">
                <p14:modId xmlns:p14="http://schemas.microsoft.com/office/powerpoint/2010/main" val="1697192213"/>
              </p:ext>
            </p:extLst>
          </p:nvPr>
        </p:nvGraphicFramePr>
        <p:xfrm>
          <a:off x="7436" y="1078853"/>
          <a:ext cx="9136563" cy="4060258"/>
        </p:xfrm>
        <a:graphic>
          <a:graphicData uri="http://schemas.openxmlformats.org/drawingml/2006/table">
            <a:tbl>
              <a:tblPr firstRow="1" bandRow="1">
                <a:tableStyleId>{764D4AE7-FFBC-431D-9275-528F30A785D3}</a:tableStyleId>
              </a:tblPr>
              <a:tblGrid>
                <a:gridCol w="3055528">
                  <a:extLst>
                    <a:ext uri="{9D8B030D-6E8A-4147-A177-3AD203B41FA5}">
                      <a16:colId xmlns:a16="http://schemas.microsoft.com/office/drawing/2014/main" val="3534130133"/>
                    </a:ext>
                  </a:extLst>
                </a:gridCol>
                <a:gridCol w="3055528">
                  <a:extLst>
                    <a:ext uri="{9D8B030D-6E8A-4147-A177-3AD203B41FA5}">
                      <a16:colId xmlns:a16="http://schemas.microsoft.com/office/drawing/2014/main" val="3367927302"/>
                    </a:ext>
                  </a:extLst>
                </a:gridCol>
                <a:gridCol w="3025507">
                  <a:extLst>
                    <a:ext uri="{9D8B030D-6E8A-4147-A177-3AD203B41FA5}">
                      <a16:colId xmlns:a16="http://schemas.microsoft.com/office/drawing/2014/main" val="3466084504"/>
                    </a:ext>
                  </a:extLst>
                </a:gridCol>
              </a:tblGrid>
              <a:tr h="350755">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Pre-requisites</a:t>
                      </a:r>
                    </a:p>
                  </a:txBody>
                  <a:tcPr>
                    <a:solidFill>
                      <a:srgbClr val="FFFBD3"/>
                    </a:solidFill>
                  </a:tcPr>
                </a:tc>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A: 7 points</a:t>
                      </a:r>
                      <a:endParaRPr lang="en-NL" sz="800" b="1"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B: 3 points</a:t>
                      </a:r>
                      <a:endParaRPr lang="en-NL" sz="800" b="1" dirty="0">
                        <a:latin typeface="Roboto" panose="02000000000000000000" pitchFamily="2" charset="0"/>
                        <a:ea typeface="Roboto" panose="02000000000000000000" pitchFamily="2" charset="0"/>
                        <a:cs typeface="Roboto" panose="02000000000000000000" pitchFamily="2" charset="0"/>
                      </a:endParaRPr>
                    </a:p>
                  </a:txBody>
                  <a:tcPr>
                    <a:solidFill>
                      <a:srgbClr val="F5C1A8"/>
                    </a:solidFill>
                  </a:tcPr>
                </a:tc>
                <a:extLst>
                  <a:ext uri="{0D108BD9-81ED-4DB2-BD59-A6C34878D82A}">
                    <a16:rowId xmlns:a16="http://schemas.microsoft.com/office/drawing/2014/main" val="1929066760"/>
                  </a:ext>
                </a:extLst>
              </a:tr>
              <a:tr h="669625">
                <a:tc>
                  <a:txBody>
                    <a:bodyPr/>
                    <a:lstStyle/>
                    <a:p>
                      <a:r>
                        <a:rPr lang="en-GB" sz="700" dirty="0">
                          <a:latin typeface="Roboto" panose="02000000000000000000" pitchFamily="2" charset="0"/>
                          <a:ea typeface="Roboto" panose="02000000000000000000" pitchFamily="2" charset="0"/>
                          <a:cs typeface="Roboto" panose="02000000000000000000" pitchFamily="2" charset="0"/>
                        </a:rPr>
                        <a:t>Clear individual contribution to this ILO is documented. The student exhibits professional behaviour during </a:t>
                      </a:r>
                      <a:r>
                        <a:rPr lang="en-GB" sz="700" dirty="0" err="1">
                          <a:latin typeface="Roboto" panose="02000000000000000000" pitchFamily="2" charset="0"/>
                          <a:ea typeface="Roboto" panose="02000000000000000000" pitchFamily="2" charset="0"/>
                          <a:cs typeface="Roboto" panose="02000000000000000000" pitchFamily="2" charset="0"/>
                        </a:rPr>
                        <a:t>DataLab</a:t>
                      </a:r>
                      <a:r>
                        <a:rPr lang="en-GB" sz="700" dirty="0">
                          <a:latin typeface="Roboto" panose="02000000000000000000" pitchFamily="2" charset="0"/>
                          <a:ea typeface="Roboto" panose="02000000000000000000" pitchFamily="2" charset="0"/>
                          <a:cs typeface="Roboto" panose="02000000000000000000" pitchFamily="2" charset="0"/>
                        </a:rPr>
                        <a:t> sessions.</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rgbClr val="FFFBD3"/>
                    </a:solidFill>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700" dirty="0">
                          <a:latin typeface="Roboto" panose="02000000000000000000" pitchFamily="2" charset="0"/>
                          <a:ea typeface="Roboto" panose="02000000000000000000" pitchFamily="2" charset="0"/>
                          <a:cs typeface="Roboto" panose="02000000000000000000" pitchFamily="2" charset="0"/>
                        </a:rPr>
                        <a:t>The student is able to individually identify the level of risk associated with their AI system and explain it clearly using relevant legal frameworks.</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700" dirty="0">
                          <a:latin typeface="Roboto" panose="02000000000000000000" pitchFamily="2" charset="0"/>
                          <a:ea typeface="Roboto" panose="02000000000000000000" pitchFamily="2" charset="0"/>
                          <a:cs typeface="Roboto" panose="02000000000000000000" pitchFamily="2" charset="0"/>
                        </a:rPr>
                        <a:t>The student collaboratively identifies and motivates the level of risk associated with the developed AI system as well applicable legal requirements using relevant legal frameworks.</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rgbClr val="F5C1A8"/>
                    </a:solidFill>
                  </a:tcPr>
                </a:tc>
                <a:extLst>
                  <a:ext uri="{0D108BD9-81ED-4DB2-BD59-A6C34878D82A}">
                    <a16:rowId xmlns:a16="http://schemas.microsoft.com/office/drawing/2014/main" val="173029964"/>
                  </a:ext>
                </a:extLst>
              </a:tr>
              <a:tr h="191321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dirty="0">
                          <a:highlight>
                            <a:srgbClr val="FEF2CD"/>
                          </a:highlight>
                        </a:rPr>
                        <a:t>I believe I have achieved this ILO because, as evidenced by the link I provided, I consistently contributed to our three-member team by actively participating in collaborative work. Even for tasks where I was not directly responsible, I made an effort to support my teammates by reviewing their work and offering constructive feedback to enhance the overall quality of our project. My involvement went beyond completing assigned tasks—I aimed to contribute meaningfully to the team’s progress and ensure balanced participation. This demonstrates my commitment to teamwork, shared responsibility, and continuous improvement throughout the project.</a:t>
                      </a:r>
                      <a:endParaRPr lang="en-US" sz="700" b="0" i="0" u="none" strike="noStrike" dirty="0">
                        <a:solidFill>
                          <a:srgbClr val="000000"/>
                        </a:solidFill>
                        <a:effectLst/>
                        <a:highlight>
                          <a:srgbClr val="FEF2CD"/>
                        </a:highlight>
                        <a:latin typeface="Roboto" panose="02000000000000000000" pitchFamily="2" charset="0"/>
                        <a:ea typeface="Roboto" panose="02000000000000000000" pitchFamily="2" charset="0"/>
                        <a:cs typeface="Roboto" panose="02000000000000000000" pitchFamily="2" charset="0"/>
                      </a:endParaRPr>
                    </a:p>
                  </a:txBody>
                  <a:tcPr>
                    <a:solidFill>
                      <a:srgbClr val="FFFBD3"/>
                    </a:solidFill>
                  </a:tcPr>
                </a:tc>
                <a:tc>
                  <a:txBody>
                    <a:bodyPr/>
                    <a:lstStyle/>
                    <a:p>
                      <a:pPr algn="l" fontAlgn="t"/>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believe I have achieved this ILO, as demonstrated by the two links I provided—one for the group work and one for my individual contribution. Within the group task, I actively contributed by reviewing the template, offering feedback, and making adjustments such as adding or removing content based on my analysis. Both in the team and individual work, I ensured the appropriate use of relevant legal frameworks, which were integrated effectively into our final submission. This reflects my engagement with the legal and ethical dimensions of the project.</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r>
                        <a:rPr lang="en-US" sz="800" dirty="0"/>
                        <a:t>I believe I have achieved this ILO, as demonstrated in the link I provided. I completed all required sections and clearly addressed the level of risk as well as relevant GDPR considerations. This shows my understanding of data protection principles and my ability to assess and document potential risks in line with legal and ethical standards</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rgbClr val="F5C1A8"/>
                    </a:solidFill>
                  </a:tcPr>
                </a:tc>
                <a:extLst>
                  <a:ext uri="{0D108BD9-81ED-4DB2-BD59-A6C34878D82A}">
                    <a16:rowId xmlns:a16="http://schemas.microsoft.com/office/drawing/2014/main" val="3577151072"/>
                  </a:ext>
                </a:extLst>
              </a:tr>
              <a:tr h="1126667">
                <a:tc>
                  <a:txBody>
                    <a:bodyPr/>
                    <a:lstStyle/>
                    <a:p>
                      <a:pPr lvl="0">
                        <a:buNone/>
                      </a:pPr>
                      <a:r>
                        <a:rPr lang="en-US" sz="700" b="1" dirty="0">
                          <a:latin typeface="Roboto" panose="02000000000000000000" pitchFamily="2" charset="0"/>
                          <a:ea typeface="Roboto" panose="02000000000000000000" pitchFamily="2" charset="0"/>
                          <a:cs typeface="Roboto" panose="02000000000000000000" pitchFamily="2" charset="0"/>
                        </a:rPr>
                        <a:t>Provide links to:</a:t>
                      </a:r>
                    </a:p>
                    <a:p>
                      <a:pPr marL="171450" lvl="0" indent="-171450">
                        <a:buFontTx/>
                        <a:buChar char="-"/>
                      </a:pPr>
                      <a:r>
                        <a:rPr lang="en-US" sz="700" dirty="0" err="1">
                          <a:latin typeface="Roboto" panose="02000000000000000000" pitchFamily="2" charset="0"/>
                          <a:ea typeface="Roboto" panose="02000000000000000000" pitchFamily="2" charset="0"/>
                          <a:cs typeface="Roboto" panose="02000000000000000000" pitchFamily="2" charset="0"/>
                        </a:rPr>
                        <a:t>GroupTasksContributions_Template</a:t>
                      </a:r>
                      <a:endParaRPr lang="en-US" sz="700" dirty="0">
                        <a:latin typeface="Roboto" panose="02000000000000000000" pitchFamily="2" charset="0"/>
                        <a:ea typeface="Roboto" panose="02000000000000000000" pitchFamily="2" charset="0"/>
                        <a:cs typeface="Roboto" panose="02000000000000000000" pitchFamily="2" charset="0"/>
                      </a:endParaRPr>
                    </a:p>
                    <a:p>
                      <a:pPr lvl="0">
                        <a:buNone/>
                      </a:pPr>
                      <a:r>
                        <a:rPr lang="en-US" sz="700" dirty="0" err="1">
                          <a:latin typeface="Roboto" panose="02000000000000000000" pitchFamily="2" charset="0"/>
                          <a:ea typeface="Roboto" panose="02000000000000000000" pitchFamily="2" charset="0"/>
                          <a:cs typeface="Roboto" panose="02000000000000000000" pitchFamily="2" charset="0"/>
                          <a:hlinkClick r:id="rId3"/>
                        </a:rPr>
                        <a:t>GroupTasksContribution</a:t>
                      </a:r>
                      <a:r>
                        <a:rPr lang="en-US" sz="700" dirty="0">
                          <a:latin typeface="Roboto" panose="02000000000000000000" pitchFamily="2" charset="0"/>
                          <a:ea typeface="Roboto" panose="02000000000000000000" pitchFamily="2" charset="0"/>
                          <a:cs typeface="Roboto" panose="02000000000000000000" pitchFamily="2" charset="0"/>
                          <a:hlinkClick r:id="rId3"/>
                        </a:rPr>
                        <a:t> template</a:t>
                      </a:r>
                      <a:endParaRPr lang="en-US" sz="700" dirty="0">
                        <a:latin typeface="Roboto" panose="02000000000000000000" pitchFamily="2" charset="0"/>
                        <a:ea typeface="Roboto" panose="02000000000000000000" pitchFamily="2" charset="0"/>
                        <a:cs typeface="Roboto" panose="02000000000000000000" pitchFamily="2" charset="0"/>
                      </a:endParaRPr>
                    </a:p>
                  </a:txBody>
                  <a:tcPr>
                    <a:solidFill>
                      <a:srgbClr val="FFFBD3"/>
                    </a:solidFill>
                  </a:tcPr>
                </a:tc>
                <a:tc>
                  <a:txBody>
                    <a:bodyPr/>
                    <a:lstStyle/>
                    <a:p>
                      <a:pPr lvl="0" algn="l">
                        <a:lnSpc>
                          <a:spcPct val="100000"/>
                        </a:lnSpc>
                        <a:spcBef>
                          <a:spcPts val="0"/>
                        </a:spcBef>
                        <a:spcAft>
                          <a:spcPts val="0"/>
                        </a:spcAft>
                        <a:buNone/>
                      </a:pPr>
                      <a:r>
                        <a:rPr lang="en-US" sz="700" b="1"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Link to:</a:t>
                      </a:r>
                    </a:p>
                    <a:p>
                      <a:pPr marL="171450" lvl="0" indent="-171450" algn="l">
                        <a:lnSpc>
                          <a:spcPct val="100000"/>
                        </a:lnSpc>
                        <a:spcBef>
                          <a:spcPts val="0"/>
                        </a:spcBef>
                        <a:spcAft>
                          <a:spcPts val="0"/>
                        </a:spcAft>
                        <a:buFontTx/>
                        <a:buChar char="-"/>
                      </a:pPr>
                      <a:r>
                        <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4"/>
                        </a:rPr>
                        <a:t>FinalReportILO3_Template</a:t>
                      </a:r>
                      <a:endPar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171450" lvl="0" indent="-171450" algn="l">
                        <a:lnSpc>
                          <a:spcPct val="100000"/>
                        </a:lnSpc>
                        <a:spcBef>
                          <a:spcPts val="0"/>
                        </a:spcBef>
                        <a:spcAft>
                          <a:spcPts val="0"/>
                        </a:spcAft>
                        <a:buFontTx/>
                        <a:buChar char="-"/>
                      </a:pPr>
                      <a:endPar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marL="171450" lvl="0" indent="-171450" algn="l">
                        <a:lnSpc>
                          <a:spcPct val="100000"/>
                        </a:lnSpc>
                        <a:spcBef>
                          <a:spcPts val="0"/>
                        </a:spcBef>
                        <a:spcAft>
                          <a:spcPts val="0"/>
                        </a:spcAft>
                        <a:buFontTx/>
                        <a:buChar char="-"/>
                      </a:pPr>
                      <a:r>
                        <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5"/>
                        </a:rPr>
                        <a:t>Individual </a:t>
                      </a:r>
                      <a:endPar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endParaRPr lang="en-US"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pPr lvl="0" algn="l">
                        <a:lnSpc>
                          <a:spcPct val="100000"/>
                        </a:lnSpc>
                        <a:spcBef>
                          <a:spcPts val="0"/>
                        </a:spcBef>
                        <a:spcAft>
                          <a:spcPts val="0"/>
                        </a:spcAft>
                        <a:buNone/>
                      </a:pPr>
                      <a:r>
                        <a:rPr lang="en-US" sz="700" b="1"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Link to:</a:t>
                      </a:r>
                    </a:p>
                    <a:p>
                      <a:pPr lvl="0" algn="l">
                        <a:lnSpc>
                          <a:spcPct val="100000"/>
                        </a:lnSpc>
                        <a:spcBef>
                          <a:spcPts val="0"/>
                        </a:spcBef>
                        <a:spcAft>
                          <a:spcPts val="0"/>
                        </a:spcAft>
                        <a:buNone/>
                      </a:pPr>
                      <a:r>
                        <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rPr>
                        <a:t>- </a:t>
                      </a:r>
                      <a:r>
                        <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4"/>
                        </a:rPr>
                        <a:t>FinalReportILO3_Template</a:t>
                      </a:r>
                      <a:endPar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endParaRPr lang="en-US" sz="700" dirty="0">
                        <a:latin typeface="Roboto" panose="02000000000000000000" pitchFamily="2" charset="0"/>
                        <a:ea typeface="Roboto" panose="02000000000000000000" pitchFamily="2" charset="0"/>
                        <a:cs typeface="Roboto" panose="02000000000000000000" pitchFamily="2" charset="0"/>
                      </a:endParaRPr>
                    </a:p>
                    <a:p>
                      <a:pPr lvl="0">
                        <a:buNone/>
                      </a:pPr>
                      <a:r>
                        <a:rPr lang="en-US" sz="700" dirty="0">
                          <a:latin typeface="Roboto" panose="02000000000000000000" pitchFamily="2" charset="0"/>
                          <a:ea typeface="Roboto" panose="02000000000000000000" pitchFamily="2" charset="0"/>
                          <a:cs typeface="Roboto" panose="02000000000000000000" pitchFamily="2" charset="0"/>
                        </a:rPr>
                        <a:t>- </a:t>
                      </a:r>
                      <a:r>
                        <a:rPr lang="en-US" sz="700" dirty="0">
                          <a:latin typeface="Roboto" panose="02000000000000000000" pitchFamily="2" charset="0"/>
                          <a:ea typeface="Roboto" panose="02000000000000000000" pitchFamily="2" charset="0"/>
                          <a:cs typeface="Roboto" panose="02000000000000000000" pitchFamily="2" charset="0"/>
                          <a:hlinkClick r:id="rId5"/>
                        </a:rPr>
                        <a:t>Individual </a:t>
                      </a:r>
                      <a:endParaRPr lang="en-US" sz="700" dirty="0">
                        <a:latin typeface="Roboto" panose="02000000000000000000" pitchFamily="2" charset="0"/>
                        <a:ea typeface="Roboto" panose="02000000000000000000" pitchFamily="2" charset="0"/>
                        <a:cs typeface="Roboto" panose="02000000000000000000" pitchFamily="2" charset="0"/>
                      </a:endParaRPr>
                    </a:p>
                  </a:txBody>
                  <a:tcPr>
                    <a:solidFill>
                      <a:srgbClr val="F5C1A8"/>
                    </a:solidFill>
                  </a:tcPr>
                </a:tc>
                <a:extLst>
                  <a:ext uri="{0D108BD9-81ED-4DB2-BD59-A6C34878D82A}">
                    <a16:rowId xmlns:a16="http://schemas.microsoft.com/office/drawing/2014/main" val="740005107"/>
                  </a:ext>
                </a:extLst>
              </a:tr>
            </a:tbl>
          </a:graphicData>
        </a:graphic>
      </p:graphicFrame>
    </p:spTree>
    <p:extLst>
      <p:ext uri="{BB962C8B-B14F-4D97-AF65-F5344CB8AC3E}">
        <p14:creationId xmlns:p14="http://schemas.microsoft.com/office/powerpoint/2010/main" val="1247178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B512FB8B-43BD-0180-94BE-705B1E66DE7B}"/>
            </a:ext>
          </a:extLst>
        </p:cNvPr>
        <p:cNvGrpSpPr/>
        <p:nvPr/>
      </p:nvGrpSpPr>
      <p:grpSpPr>
        <a:xfrm>
          <a:off x="0" y="0"/>
          <a:ext cx="0" cy="0"/>
          <a:chOff x="0" y="0"/>
          <a:chExt cx="0" cy="0"/>
        </a:xfrm>
      </p:grpSpPr>
      <p:sp>
        <p:nvSpPr>
          <p:cNvPr id="363" name="Google Shape;363;p39">
            <a:extLst>
              <a:ext uri="{FF2B5EF4-FFF2-40B4-BE49-F238E27FC236}">
                <a16:creationId xmlns:a16="http://schemas.microsoft.com/office/drawing/2014/main" id="{98A3E741-1B89-21A7-7D1E-6269D0FE5C1D}"/>
              </a:ext>
            </a:extLst>
          </p:cNvPr>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a:t>
            </a:r>
            <a:r>
              <a:rPr lang="en-NL" dirty="0"/>
              <a:t>4</a:t>
            </a:r>
            <a:endParaRPr dirty="0"/>
          </a:p>
        </p:txBody>
      </p:sp>
      <p:sp>
        <p:nvSpPr>
          <p:cNvPr id="364" name="Google Shape;364;p39">
            <a:extLst>
              <a:ext uri="{FF2B5EF4-FFF2-40B4-BE49-F238E27FC236}">
                <a16:creationId xmlns:a16="http://schemas.microsoft.com/office/drawing/2014/main" id="{552E3DEE-55C4-9C0C-468A-E55453845E82}"/>
              </a:ext>
            </a:extLst>
          </p:cNvPr>
          <p:cNvSpPr txBox="1">
            <a:spLocks noGrp="1"/>
          </p:cNvSpPr>
          <p:nvPr>
            <p:ph type="subTitle" idx="1"/>
          </p:nvPr>
        </p:nvSpPr>
        <p:spPr>
          <a:xfrm>
            <a:off x="2054432" y="3248481"/>
            <a:ext cx="6400800" cy="992126"/>
          </a:xfrm>
          <a:prstGeom prst="rect">
            <a:avLst/>
          </a:prstGeom>
        </p:spPr>
        <p:txBody>
          <a:bodyPr spcFirstLastPara="1" wrap="square" lIns="91425" tIns="91425" rIns="91425" bIns="91425" anchor="ctr" anchorCtr="0">
            <a:noAutofit/>
          </a:bodyPr>
          <a:lstStyle/>
          <a:p>
            <a:pPr marL="0" indent="0"/>
            <a:r>
              <a:rPr lang="en-GB" sz="1000" dirty="0"/>
              <a:t>The student can analyse a problem by describing the context, trade-offs and formulation of the final demand (as a result of a process of demand articulation). In doing so, they identify the possible solutions. As a result, they can formulate an approach for a data trajectory considering relevant actors and interests, involving relevant theories and (technical) possibilities. </a:t>
            </a:r>
          </a:p>
        </p:txBody>
      </p:sp>
      <p:sp>
        <p:nvSpPr>
          <p:cNvPr id="365" name="Google Shape;365;p39">
            <a:extLst>
              <a:ext uri="{FF2B5EF4-FFF2-40B4-BE49-F238E27FC236}">
                <a16:creationId xmlns:a16="http://schemas.microsoft.com/office/drawing/2014/main" id="{CA169A82-69EA-748C-451D-D260CA5A8C7F}"/>
              </a:ext>
            </a:extLst>
          </p:cNvPr>
          <p:cNvSpPr txBox="1">
            <a:spLocks noGrp="1"/>
          </p:cNvSpPr>
          <p:nvPr>
            <p:ph type="subTitle" idx="2"/>
          </p:nvPr>
        </p:nvSpPr>
        <p:spPr>
          <a:xfrm>
            <a:off x="2629317" y="2473577"/>
            <a:ext cx="5486400" cy="685800"/>
          </a:xfrm>
          <a:prstGeom prst="rect">
            <a:avLst/>
          </a:prstGeom>
        </p:spPr>
        <p:txBody>
          <a:bodyPr spcFirstLastPara="1" wrap="square" lIns="91425" tIns="91425" rIns="91425" bIns="91425" anchor="ctr" anchorCtr="0">
            <a:noAutofit/>
          </a:bodyPr>
          <a:lstStyle/>
          <a:p>
            <a:pPr marL="0" indent="0" algn="ctr"/>
            <a:r>
              <a:rPr lang="en" sz="3000" dirty="0"/>
              <a:t>Problem Analysis</a:t>
            </a:r>
          </a:p>
        </p:txBody>
      </p:sp>
    </p:spTree>
    <p:extLst>
      <p:ext uri="{BB962C8B-B14F-4D97-AF65-F5344CB8AC3E}">
        <p14:creationId xmlns:p14="http://schemas.microsoft.com/office/powerpoint/2010/main" val="6148445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392">
          <a:extLst>
            <a:ext uri="{FF2B5EF4-FFF2-40B4-BE49-F238E27FC236}">
              <a16:creationId xmlns:a16="http://schemas.microsoft.com/office/drawing/2014/main" id="{21BAE523-B469-0F8E-9048-74B84F60BCE5}"/>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C5C2D351-17CD-4CA6-95C9-3F81827217C6}"/>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NL" dirty="0"/>
              <a:t>4</a:t>
            </a:r>
            <a:endParaRPr dirty="0"/>
          </a:p>
        </p:txBody>
      </p:sp>
      <p:sp>
        <p:nvSpPr>
          <p:cNvPr id="394" name="Google Shape;394;p42">
            <a:extLst>
              <a:ext uri="{FF2B5EF4-FFF2-40B4-BE49-F238E27FC236}">
                <a16:creationId xmlns:a16="http://schemas.microsoft.com/office/drawing/2014/main" id="{7E74C928-C55A-4A1F-1C5E-814A66DE9A53}"/>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61C599C7-904A-4FE1-9110-CC340373835C}"/>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5BEC729F-A0E4-85E7-3D3F-AD7E1D8F9204}"/>
              </a:ext>
            </a:extLst>
          </p:cNvPr>
          <p:cNvSpPr txBox="1">
            <a:spLocks noGrp="1"/>
          </p:cNvSpPr>
          <p:nvPr>
            <p:ph type="title" idx="3"/>
          </p:nvPr>
        </p:nvSpPr>
        <p:spPr>
          <a:xfrm>
            <a:off x="2049461" y="0"/>
            <a:ext cx="6577962" cy="576000"/>
          </a:xfrm>
          <a:prstGeom prst="rect">
            <a:avLst/>
          </a:prstGeom>
        </p:spPr>
        <p:txBody>
          <a:bodyPr spcFirstLastPara="1" wrap="square" lIns="91425" tIns="91425" rIns="91425" bIns="91425" anchor="ctr" anchorCtr="0">
            <a:noAutofit/>
          </a:bodyPr>
          <a:lstStyle/>
          <a:p>
            <a:r>
              <a:rPr lang="en-GB" i="0" dirty="0"/>
              <a:t>The The student can analyse a problem by describing the context, trade-offs and formulation of the final demand (as a result of a process of demand articulation). In doing so, they identify the possible solutions. As a result, they can formulate an approach for a data trajectory considering relevant actors and interests, involving relevant theories and (technical) possibilities. </a:t>
            </a:r>
            <a:endParaRPr lang="en-GB" dirty="0"/>
          </a:p>
        </p:txBody>
      </p:sp>
      <p:sp>
        <p:nvSpPr>
          <p:cNvPr id="397" name="Google Shape;397;p42">
            <a:extLst>
              <a:ext uri="{FF2B5EF4-FFF2-40B4-BE49-F238E27FC236}">
                <a16:creationId xmlns:a16="http://schemas.microsoft.com/office/drawing/2014/main" id="{A8EB5005-3600-D654-ACA9-9A14CEC8BC39}"/>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dirty="0"/>
              <a:t>4</a:t>
            </a:r>
            <a:r>
              <a:rPr lang="en" dirty="0"/>
              <a:t>.</a:t>
            </a:r>
            <a:r>
              <a:rPr lang="en-NL" dirty="0"/>
              <a:t>2</a:t>
            </a:r>
            <a:endParaRPr dirty="0"/>
          </a:p>
        </p:txBody>
      </p:sp>
      <p:sp>
        <p:nvSpPr>
          <p:cNvPr id="398" name="Google Shape;398;p42">
            <a:extLst>
              <a:ext uri="{FF2B5EF4-FFF2-40B4-BE49-F238E27FC236}">
                <a16:creationId xmlns:a16="http://schemas.microsoft.com/office/drawing/2014/main" id="{B2F2D001-A925-4632-8D58-15B4240193FD}"/>
              </a:ext>
            </a:extLst>
          </p:cNvPr>
          <p:cNvSpPr txBox="1">
            <a:spLocks noGrp="1"/>
          </p:cNvSpPr>
          <p:nvPr>
            <p:ph type="title" idx="5"/>
          </p:nvPr>
        </p:nvSpPr>
        <p:spPr>
          <a:xfrm>
            <a:off x="845549" y="576000"/>
            <a:ext cx="8001568" cy="493800"/>
          </a:xfrm>
          <a:prstGeom prst="rect">
            <a:avLst/>
          </a:prstGeom>
        </p:spPr>
        <p:txBody>
          <a:bodyPr spcFirstLastPara="1" wrap="square" lIns="91425" tIns="91425" rIns="91425" bIns="91425" anchor="ctr" anchorCtr="0">
            <a:noAutofit/>
          </a:bodyPr>
          <a:lstStyle/>
          <a:p>
            <a:r>
              <a:rPr lang="en-GB" i="0" dirty="0"/>
              <a:t>The student demonstrates the ability to analyse a problem and propose a working plan and implementations to provide a solution to the problem statement</a:t>
            </a:r>
            <a:endParaRPr lang="en-US" i="0" dirty="0"/>
          </a:p>
        </p:txBody>
      </p:sp>
      <p:sp>
        <p:nvSpPr>
          <p:cNvPr id="399" name="Google Shape;399;p42">
            <a:extLst>
              <a:ext uri="{FF2B5EF4-FFF2-40B4-BE49-F238E27FC236}">
                <a16:creationId xmlns:a16="http://schemas.microsoft.com/office/drawing/2014/main" id="{DF7F43FE-9DCD-5AC3-4CB7-73CE4F8B1E78}"/>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GB" sz="900" dirty="0"/>
              <a:t>Problem Analysis</a:t>
            </a:r>
            <a:endParaRPr sz="900" dirty="0"/>
          </a:p>
        </p:txBody>
      </p:sp>
      <p:graphicFrame>
        <p:nvGraphicFramePr>
          <p:cNvPr id="3" name="Table 4">
            <a:extLst>
              <a:ext uri="{FF2B5EF4-FFF2-40B4-BE49-F238E27FC236}">
                <a16:creationId xmlns:a16="http://schemas.microsoft.com/office/drawing/2014/main" id="{1DB3933C-8E58-7C07-70C3-EAB71196B4A7}"/>
              </a:ext>
            </a:extLst>
          </p:cNvPr>
          <p:cNvGraphicFramePr>
            <a:graphicFrameLocks noGrp="1"/>
          </p:cNvGraphicFramePr>
          <p:nvPr>
            <p:extLst>
              <p:ext uri="{D42A27DB-BD31-4B8C-83A1-F6EECF244321}">
                <p14:modId xmlns:p14="http://schemas.microsoft.com/office/powerpoint/2010/main" val="2558099985"/>
              </p:ext>
            </p:extLst>
          </p:nvPr>
        </p:nvGraphicFramePr>
        <p:xfrm>
          <a:off x="-46200" y="1069800"/>
          <a:ext cx="9190200" cy="4158727"/>
        </p:xfrm>
        <a:graphic>
          <a:graphicData uri="http://schemas.openxmlformats.org/drawingml/2006/table">
            <a:tbl>
              <a:tblPr firstRow="1" bandRow="1">
                <a:tableStyleId>{764D4AE7-FFBC-431D-9275-528F30A785D3}</a:tableStyleId>
              </a:tblPr>
              <a:tblGrid>
                <a:gridCol w="1828341">
                  <a:extLst>
                    <a:ext uri="{9D8B030D-6E8A-4147-A177-3AD203B41FA5}">
                      <a16:colId xmlns:a16="http://schemas.microsoft.com/office/drawing/2014/main" val="3534130133"/>
                    </a:ext>
                  </a:extLst>
                </a:gridCol>
                <a:gridCol w="2273282">
                  <a:extLst>
                    <a:ext uri="{9D8B030D-6E8A-4147-A177-3AD203B41FA5}">
                      <a16:colId xmlns:a16="http://schemas.microsoft.com/office/drawing/2014/main" val="3367927302"/>
                    </a:ext>
                  </a:extLst>
                </a:gridCol>
                <a:gridCol w="2547258">
                  <a:extLst>
                    <a:ext uri="{9D8B030D-6E8A-4147-A177-3AD203B41FA5}">
                      <a16:colId xmlns:a16="http://schemas.microsoft.com/office/drawing/2014/main" val="3466084504"/>
                    </a:ext>
                  </a:extLst>
                </a:gridCol>
                <a:gridCol w="2541319">
                  <a:extLst>
                    <a:ext uri="{9D8B030D-6E8A-4147-A177-3AD203B41FA5}">
                      <a16:colId xmlns:a16="http://schemas.microsoft.com/office/drawing/2014/main" val="2514858810"/>
                    </a:ext>
                  </a:extLst>
                </a:gridCol>
              </a:tblGrid>
              <a:tr h="350755">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Pre-requisites</a:t>
                      </a:r>
                      <a:endParaRPr lang="en-NL" sz="800" b="1" dirty="0">
                        <a:latin typeface="Roboto" panose="02000000000000000000" pitchFamily="2" charset="0"/>
                        <a:ea typeface="Roboto" panose="02000000000000000000" pitchFamily="2" charset="0"/>
                        <a:cs typeface="Roboto" panose="02000000000000000000" pitchFamily="2" charset="0"/>
                      </a:endParaRPr>
                    </a:p>
                  </a:txBody>
                  <a:tcPr>
                    <a:solidFill>
                      <a:srgbClr val="FFFBD3"/>
                    </a:solidFill>
                  </a:tcPr>
                </a:tc>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A: 2 points</a:t>
                      </a:r>
                      <a:endParaRPr lang="en-NL" sz="800" b="1"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B: 3 points</a:t>
                      </a:r>
                      <a:endParaRPr lang="en-NL" sz="800" b="1" dirty="0">
                        <a:latin typeface="Roboto" panose="02000000000000000000" pitchFamily="2" charset="0"/>
                        <a:ea typeface="Roboto" panose="02000000000000000000" pitchFamily="2" charset="0"/>
                        <a:cs typeface="Roboto" panose="02000000000000000000" pitchFamily="2" charset="0"/>
                      </a:endParaRPr>
                    </a:p>
                  </a:txBody>
                  <a:tcPr>
                    <a:solidFill>
                      <a:srgbClr val="F5C1A8"/>
                    </a:solidFill>
                  </a:tcPr>
                </a:tc>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C: 5 points</a:t>
                      </a:r>
                      <a:endParaRPr lang="en-NL" sz="800" b="1"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extLst>
                  <a:ext uri="{0D108BD9-81ED-4DB2-BD59-A6C34878D82A}">
                    <a16:rowId xmlns:a16="http://schemas.microsoft.com/office/drawing/2014/main" val="1929066760"/>
                  </a:ext>
                </a:extLst>
              </a:tr>
              <a:tr h="669625">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700" dirty="0">
                          <a:latin typeface="Roboto" panose="02000000000000000000" pitchFamily="2" charset="0"/>
                          <a:ea typeface="Roboto" panose="02000000000000000000" pitchFamily="2" charset="0"/>
                          <a:cs typeface="Roboto" panose="02000000000000000000" pitchFamily="2" charset="0"/>
                        </a:rPr>
                        <a:t>Clear individual contribution to this ILO is documented. The student exhibits professional behaviour during </a:t>
                      </a:r>
                      <a:r>
                        <a:rPr lang="en-GB" sz="700" dirty="0" err="1">
                          <a:latin typeface="Roboto" panose="02000000000000000000" pitchFamily="2" charset="0"/>
                          <a:ea typeface="Roboto" panose="02000000000000000000" pitchFamily="2" charset="0"/>
                          <a:cs typeface="Roboto" panose="02000000000000000000" pitchFamily="2" charset="0"/>
                        </a:rPr>
                        <a:t>DataLab</a:t>
                      </a:r>
                      <a:r>
                        <a:rPr lang="en-GB" sz="700" dirty="0">
                          <a:latin typeface="Roboto" panose="02000000000000000000" pitchFamily="2" charset="0"/>
                          <a:ea typeface="Roboto" panose="02000000000000000000" pitchFamily="2" charset="0"/>
                          <a:cs typeface="Roboto" panose="02000000000000000000" pitchFamily="2" charset="0"/>
                        </a:rPr>
                        <a:t> sessions.</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rgbClr val="FFFBD3"/>
                    </a:solidFill>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700" dirty="0">
                          <a:latin typeface="Roboto" panose="02000000000000000000" pitchFamily="2" charset="0"/>
                          <a:ea typeface="Roboto" panose="02000000000000000000" pitchFamily="2" charset="0"/>
                          <a:cs typeface="Roboto" panose="02000000000000000000" pitchFamily="2" charset="0"/>
                        </a:rPr>
                        <a:t>The student is able to create a feasible project proposal including a project planning. The student demonstrates an understanding of the business context and the proposal aligns with the project requirements. </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r>
                        <a:rPr lang="en-GB" sz="700" dirty="0">
                          <a:latin typeface="Roboto" panose="02000000000000000000" pitchFamily="2" charset="0"/>
                          <a:ea typeface="Roboto" panose="02000000000000000000" pitchFamily="2" charset="0"/>
                          <a:cs typeface="Roboto" panose="02000000000000000000" pitchFamily="2" charset="0"/>
                        </a:rPr>
                        <a:t>The student is able to combine their individual project proposals into a group project proposal including a project planning. The student demonstrates an understanding of the business context and the proposal aligns with the project requirements. </a:t>
                      </a:r>
                    </a:p>
                  </a:txBody>
                  <a:tcPr anchor="ctr">
                    <a:solidFill>
                      <a:srgbClr val="F5C1A8"/>
                    </a:solidFill>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700" dirty="0">
                          <a:latin typeface="Roboto" panose="02000000000000000000" pitchFamily="2" charset="0"/>
                          <a:ea typeface="Roboto" panose="02000000000000000000" pitchFamily="2" charset="0"/>
                          <a:cs typeface="Roboto" panose="02000000000000000000" pitchFamily="2" charset="0"/>
                        </a:rPr>
                        <a:t>The student is able to present the project outcomes, highlighting the value for the project objectives and/or client requirements and addressing the business value. The student delivers the presentation in a well-structured, clear manner.</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extLst>
                  <a:ext uri="{0D108BD9-81ED-4DB2-BD59-A6C34878D82A}">
                    <a16:rowId xmlns:a16="http://schemas.microsoft.com/office/drawing/2014/main" val="173029964"/>
                  </a:ext>
                </a:extLst>
              </a:tr>
              <a:tr h="1913211">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I believe I have achieved this ILO because, as evidenced by the link I provided, I consistently contributed to our three-member team by actively participating in collaborative work. Even for tasks where I was not directly responsible, I made an effort to support my teammates by reviewing their work and offering constructive feedback to enhance the overall quality of our project. My involvement went beyond completing assigned tasks—I aimed to contribute meaningfully to the team’s progress and ensure balanced participation. This demonstrates my commitment to teamwork, shared responsibility, and continuous improvement throughout the project.</a:t>
                      </a:r>
                    </a:p>
                  </a:txBody>
                  <a:tcPr>
                    <a:solidFill>
                      <a:srgbClr val="FFFBD3"/>
                    </a:solidFill>
                  </a:tcPr>
                </a:tc>
                <a:tc>
                  <a:txBody>
                    <a:bodyPr/>
                    <a:lstStyle/>
                    <a:p>
                      <a:pPr algn="l" fontAlgn="t"/>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believe I have achieved this ILO, as evidenced by the comprehensive Business Model Canvas I created. The document thoroughly addresses all key components, including customer segments, value proposition, data sources, required skills, cost structure, and revenue streams. Each section is clearly organized and presented using bullet points, covering both the strategic and technical aspects of my idea. I also integrated relevant legal and financial considerations, such as data licensing and compliance, demonstrating a well-rounded understanding of the business and operational context.</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r>
                        <a:rPr lang="en-US" sz="700" dirty="0">
                          <a:latin typeface="Roboto" panose="02000000000000000000" pitchFamily="2" charset="0"/>
                          <a:ea typeface="Roboto" panose="02000000000000000000" pitchFamily="2" charset="0"/>
                          <a:cs typeface="Roboto" panose="02000000000000000000" pitchFamily="2" charset="0"/>
                        </a:rPr>
                        <a:t>Based on the link I provided and my previous explanation, my team and I were able to quickly merge our individual ideas into a unified group concept. You can see that my final individual idea closely aligns with the final group idea, reflecting the collaborative process we followed. Together, we discussed and evaluated the business value of each proposal to determine the most effective direction for our project. This demonstrates my active participation in team decision-making and idea integration, and I believe it supports my achievement of this ILO.</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rgbClr val="F5C1A8"/>
                    </a:solidFill>
                  </a:tcPr>
                </a:tc>
                <a:tc>
                  <a:txBody>
                    <a:bodyPr/>
                    <a:lstStyle/>
                    <a:p>
                      <a:pPr algn="l" fontAlgn="t"/>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Based on the link and slides I provided, it is evident that our team effectively communicated the core idea and business value of our project, particularly to our client. I believe we delivered this message successfully, as the business value is strong and, if launched professionally, the project holds real market potential. The presentation—which I prepared—was structured around the key steps we took throughout the project, clearly outlining our process and final outcomes. This demonstrates our ability to convey both technical and strategic aspects of the project in a professional manner.</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extLst>
                  <a:ext uri="{0D108BD9-81ED-4DB2-BD59-A6C34878D82A}">
                    <a16:rowId xmlns:a16="http://schemas.microsoft.com/office/drawing/2014/main" val="3577151072"/>
                  </a:ext>
                </a:extLst>
              </a:tr>
              <a:tr h="1126667">
                <a:tc>
                  <a:txBody>
                    <a:bodyPr/>
                    <a:lstStyle/>
                    <a:p>
                      <a:pPr lvl="0">
                        <a:buNone/>
                      </a:pPr>
                      <a:r>
                        <a:rPr lang="en-US" sz="700" b="1" dirty="0">
                          <a:latin typeface="Roboto" panose="02000000000000000000" pitchFamily="2" charset="0"/>
                          <a:ea typeface="Roboto" panose="02000000000000000000" pitchFamily="2" charset="0"/>
                          <a:cs typeface="Roboto" panose="02000000000000000000" pitchFamily="2" charset="0"/>
                        </a:rPr>
                        <a:t>Provide links to:</a:t>
                      </a:r>
                    </a:p>
                    <a:p>
                      <a:pPr marL="171450" marR="0" lvl="0" indent="-171450" algn="l" defTabSz="914400" rtl="0" eaLnBrk="1" fontAlgn="auto" latinLnBrk="0" hangingPunct="1">
                        <a:lnSpc>
                          <a:spcPct val="100000"/>
                        </a:lnSpc>
                        <a:spcBef>
                          <a:spcPts val="0"/>
                        </a:spcBef>
                        <a:spcAft>
                          <a:spcPts val="0"/>
                        </a:spcAft>
                        <a:buClr>
                          <a:srgbClr val="000000"/>
                        </a:buClr>
                        <a:buSzTx/>
                        <a:buFontTx/>
                        <a:buChar char="-"/>
                        <a:tabLst/>
                        <a:defRPr/>
                      </a:pPr>
                      <a:r>
                        <a:rPr lang="en-US" sz="700" dirty="0" err="1">
                          <a:latin typeface="Roboto" panose="02000000000000000000" pitchFamily="2" charset="0"/>
                          <a:ea typeface="Roboto" panose="02000000000000000000" pitchFamily="2" charset="0"/>
                          <a:cs typeface="Roboto" panose="02000000000000000000" pitchFamily="2" charset="0"/>
                        </a:rPr>
                        <a:t>GroupTasksContributions_Template</a:t>
                      </a:r>
                      <a:endParaRPr lang="en-US" sz="700" dirty="0">
                        <a:latin typeface="Roboto" panose="02000000000000000000" pitchFamily="2" charset="0"/>
                        <a:ea typeface="Roboto" panose="02000000000000000000" pitchFamily="2" charset="0"/>
                        <a:cs typeface="Roboto" panose="02000000000000000000" pitchFamily="2" charset="0"/>
                      </a:endParaRPr>
                    </a:p>
                    <a:p>
                      <a:pPr marL="171450" marR="0" lvl="0" indent="-171450" algn="l" defTabSz="914400" rtl="0" eaLnBrk="1" fontAlgn="auto" latinLnBrk="0" hangingPunct="1">
                        <a:lnSpc>
                          <a:spcPct val="100000"/>
                        </a:lnSpc>
                        <a:spcBef>
                          <a:spcPts val="0"/>
                        </a:spcBef>
                        <a:spcAft>
                          <a:spcPts val="0"/>
                        </a:spcAft>
                        <a:buClr>
                          <a:srgbClr val="000000"/>
                        </a:buClr>
                        <a:buSzTx/>
                        <a:buFontTx/>
                        <a:buChar char="-"/>
                        <a:tabLst/>
                        <a:defRPr/>
                      </a:pPr>
                      <a:r>
                        <a:rPr lang="en-US" sz="700" dirty="0" err="1">
                          <a:latin typeface="Roboto" panose="02000000000000000000" pitchFamily="2" charset="0"/>
                          <a:ea typeface="Roboto" panose="02000000000000000000" pitchFamily="2" charset="0"/>
                          <a:cs typeface="Roboto" panose="02000000000000000000" pitchFamily="2" charset="0"/>
                          <a:hlinkClick r:id="rId3"/>
                        </a:rPr>
                        <a:t>GroupTasksContribution</a:t>
                      </a:r>
                      <a:r>
                        <a:rPr lang="en-US" sz="700" dirty="0">
                          <a:latin typeface="Roboto" panose="02000000000000000000" pitchFamily="2" charset="0"/>
                          <a:ea typeface="Roboto" panose="02000000000000000000" pitchFamily="2" charset="0"/>
                          <a:cs typeface="Roboto" panose="02000000000000000000" pitchFamily="2" charset="0"/>
                          <a:hlinkClick r:id="rId3"/>
                        </a:rPr>
                        <a:t> </a:t>
                      </a:r>
                      <a:endParaRPr lang="en-US" sz="700" dirty="0">
                        <a:latin typeface="Roboto" panose="02000000000000000000" pitchFamily="2" charset="0"/>
                        <a:ea typeface="Roboto" panose="02000000000000000000" pitchFamily="2" charset="0"/>
                        <a:cs typeface="Roboto" panose="02000000000000000000" pitchFamily="2" charset="0"/>
                      </a:endParaRPr>
                    </a:p>
                  </a:txBody>
                  <a:tcPr>
                    <a:solidFill>
                      <a:srgbClr val="FFFBD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700" b="1"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link to:</a:t>
                      </a:r>
                    </a:p>
                    <a:p>
                      <a:pPr marL="171450" lvl="0" indent="-171450" algn="l">
                        <a:lnSpc>
                          <a:spcPct val="100000"/>
                        </a:lnSpc>
                        <a:spcBef>
                          <a:spcPts val="0"/>
                        </a:spcBef>
                        <a:spcAft>
                          <a:spcPts val="0"/>
                        </a:spcAft>
                        <a:buFontTx/>
                        <a:buChar char="-"/>
                      </a:pPr>
                      <a:r>
                        <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4"/>
                        </a:rPr>
                        <a:t>Your AI Business Model Canvas (PDF or Word) in your personal GitHub repository</a:t>
                      </a:r>
                      <a:endPar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pPr lvl="0" algn="l">
                        <a:lnSpc>
                          <a:spcPct val="100000"/>
                        </a:lnSpc>
                        <a:spcBef>
                          <a:spcPts val="0"/>
                        </a:spcBef>
                        <a:spcAft>
                          <a:spcPts val="0"/>
                        </a:spcAft>
                        <a:buNone/>
                      </a:pPr>
                      <a:r>
                        <a:rPr lang="en-US" sz="700" b="1"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Link to:</a:t>
                      </a:r>
                    </a:p>
                    <a:p>
                      <a:pPr marL="171450" lvl="0" indent="-171450" algn="l">
                        <a:lnSpc>
                          <a:spcPct val="100000"/>
                        </a:lnSpc>
                        <a:spcBef>
                          <a:spcPts val="0"/>
                        </a:spcBef>
                        <a:spcAft>
                          <a:spcPts val="0"/>
                        </a:spcAft>
                        <a:buFontTx/>
                        <a:buChar char="-"/>
                      </a:pPr>
                      <a:r>
                        <a:rPr lang="en-US" sz="700" b="0" i="0" u="none" strike="noStrike" noProof="0" dirty="0" err="1">
                          <a:solidFill>
                            <a:srgbClr val="000000"/>
                          </a:solidFill>
                          <a:latin typeface="Roboto" panose="02000000000000000000" pitchFamily="2" charset="0"/>
                          <a:ea typeface="Roboto" panose="02000000000000000000" pitchFamily="2" charset="0"/>
                          <a:cs typeface="Roboto" panose="02000000000000000000" pitchFamily="2" charset="0"/>
                        </a:rPr>
                        <a:t>ProjectProposal_Template</a:t>
                      </a:r>
                      <a:r>
                        <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rPr>
                        <a:t> (PDF or Word)</a:t>
                      </a:r>
                    </a:p>
                    <a:p>
                      <a:pPr marL="171450" lvl="0" indent="-171450" algn="l">
                        <a:lnSpc>
                          <a:spcPct val="100000"/>
                        </a:lnSpc>
                        <a:spcBef>
                          <a:spcPts val="0"/>
                        </a:spcBef>
                        <a:spcAft>
                          <a:spcPts val="0"/>
                        </a:spcAft>
                        <a:buFontTx/>
                        <a:buChar char="-"/>
                      </a:pPr>
                      <a:r>
                        <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5"/>
                        </a:rPr>
                        <a:t>Project proposal template</a:t>
                      </a:r>
                      <a:endPar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endParaRPr lang="en-US" sz="700" dirty="0">
                        <a:latin typeface="Roboto" panose="02000000000000000000" pitchFamily="2" charset="0"/>
                        <a:ea typeface="Roboto" panose="02000000000000000000" pitchFamily="2" charset="0"/>
                        <a:cs typeface="Roboto" panose="02000000000000000000" pitchFamily="2" charset="0"/>
                      </a:endParaRPr>
                    </a:p>
                  </a:txBody>
                  <a:tcPr>
                    <a:solidFill>
                      <a:srgbClr val="F5C1A8"/>
                    </a:solidFill>
                  </a:tcPr>
                </a:tc>
                <a:tc>
                  <a:txBody>
                    <a:bodyPr/>
                    <a:lstStyle/>
                    <a:p>
                      <a:pPr lvl="0">
                        <a:buNone/>
                      </a:pPr>
                      <a:r>
                        <a:rPr lang="en-US" sz="700" b="1" dirty="0">
                          <a:latin typeface="Roboto" panose="02000000000000000000" pitchFamily="2" charset="0"/>
                          <a:ea typeface="Roboto" panose="02000000000000000000" pitchFamily="2" charset="0"/>
                          <a:cs typeface="Roboto" panose="02000000000000000000" pitchFamily="2" charset="0"/>
                        </a:rPr>
                        <a:t>Provide links to:</a:t>
                      </a:r>
                    </a:p>
                    <a:p>
                      <a:pPr marL="171450" lvl="0" indent="-171450">
                        <a:buFontTx/>
                        <a:buChar char="-"/>
                      </a:pPr>
                      <a:r>
                        <a:rPr lang="en-US" sz="700" dirty="0">
                          <a:latin typeface="Roboto" panose="02000000000000000000" pitchFamily="2" charset="0"/>
                          <a:ea typeface="Roboto" panose="02000000000000000000" pitchFamily="2" charset="0"/>
                          <a:cs typeface="Roboto" panose="02000000000000000000" pitchFamily="2" charset="0"/>
                          <a:hlinkClick r:id="rId6"/>
                        </a:rPr>
                        <a:t>A PDF or PowerPoint file of your final project presentation</a:t>
                      </a:r>
                      <a:endParaRPr lang="en-US" sz="700" dirty="0">
                        <a:latin typeface="Roboto" panose="02000000000000000000" pitchFamily="2" charset="0"/>
                        <a:ea typeface="Roboto" panose="02000000000000000000" pitchFamily="2" charset="0"/>
                        <a:cs typeface="Roboto" panose="02000000000000000000" pitchFamily="2" charset="0"/>
                      </a:endParaRPr>
                    </a:p>
                    <a:p>
                      <a:pPr marL="171450" lvl="0" indent="-171450">
                        <a:buFontTx/>
                        <a:buChar char="-"/>
                      </a:pPr>
                      <a:r>
                        <a:rPr lang="en-US" sz="700" dirty="0">
                          <a:latin typeface="Roboto" panose="02000000000000000000" pitchFamily="2" charset="0"/>
                          <a:ea typeface="Roboto" panose="02000000000000000000" pitchFamily="2" charset="0"/>
                          <a:cs typeface="Roboto" panose="02000000000000000000" pitchFamily="2" charset="0"/>
                        </a:rPr>
                        <a:t>(If applicable) Videos showcasing your model deployment</a:t>
                      </a:r>
                    </a:p>
                    <a:p>
                      <a:pPr lvl="0">
                        <a:buNone/>
                      </a:pPr>
                      <a:endParaRPr lang="en-US" sz="700" dirty="0">
                        <a:latin typeface="Roboto" panose="02000000000000000000" pitchFamily="2" charset="0"/>
                        <a:ea typeface="Roboto" panose="02000000000000000000" pitchFamily="2" charset="0"/>
                        <a:cs typeface="Roboto" panose="02000000000000000000" pitchFamily="2" charset="0"/>
                      </a:endParaRPr>
                    </a:p>
                    <a:p>
                      <a:pPr lvl="0">
                        <a:buNone/>
                      </a:pPr>
                      <a:endParaRPr lang="en-US"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extLst>
                  <a:ext uri="{0D108BD9-81ED-4DB2-BD59-A6C34878D82A}">
                    <a16:rowId xmlns:a16="http://schemas.microsoft.com/office/drawing/2014/main" val="740005107"/>
                  </a:ext>
                </a:extLst>
              </a:tr>
            </a:tbl>
          </a:graphicData>
        </a:graphic>
      </p:graphicFrame>
    </p:spTree>
    <p:extLst>
      <p:ext uri="{BB962C8B-B14F-4D97-AF65-F5344CB8AC3E}">
        <p14:creationId xmlns:p14="http://schemas.microsoft.com/office/powerpoint/2010/main" val="16686740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65AFA027-C07E-BD0F-806A-9D4701DB6902}"/>
            </a:ext>
          </a:extLst>
        </p:cNvPr>
        <p:cNvGrpSpPr/>
        <p:nvPr/>
      </p:nvGrpSpPr>
      <p:grpSpPr>
        <a:xfrm>
          <a:off x="0" y="0"/>
          <a:ext cx="0" cy="0"/>
          <a:chOff x="0" y="0"/>
          <a:chExt cx="0" cy="0"/>
        </a:xfrm>
      </p:grpSpPr>
      <p:sp>
        <p:nvSpPr>
          <p:cNvPr id="363" name="Google Shape;363;p39">
            <a:extLst>
              <a:ext uri="{FF2B5EF4-FFF2-40B4-BE49-F238E27FC236}">
                <a16:creationId xmlns:a16="http://schemas.microsoft.com/office/drawing/2014/main" id="{0D0763C2-25B0-3A21-06D3-72955BAD7075}"/>
              </a:ext>
            </a:extLst>
          </p:cNvPr>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a:t>
            </a:r>
            <a:r>
              <a:rPr lang="en-NL" dirty="0"/>
              <a:t>6</a:t>
            </a:r>
            <a:endParaRPr dirty="0"/>
          </a:p>
        </p:txBody>
      </p:sp>
      <p:sp>
        <p:nvSpPr>
          <p:cNvPr id="364" name="Google Shape;364;p39">
            <a:extLst>
              <a:ext uri="{FF2B5EF4-FFF2-40B4-BE49-F238E27FC236}">
                <a16:creationId xmlns:a16="http://schemas.microsoft.com/office/drawing/2014/main" id="{A5A29DF6-25A3-ADE5-C134-85FF7916D660}"/>
              </a:ext>
            </a:extLst>
          </p:cNvPr>
          <p:cNvSpPr txBox="1">
            <a:spLocks noGrp="1"/>
          </p:cNvSpPr>
          <p:nvPr>
            <p:ph type="subTitle" idx="1"/>
          </p:nvPr>
        </p:nvSpPr>
        <p:spPr>
          <a:xfrm>
            <a:off x="2054432" y="3248481"/>
            <a:ext cx="6400800" cy="992126"/>
          </a:xfrm>
          <a:prstGeom prst="rect">
            <a:avLst/>
          </a:prstGeom>
        </p:spPr>
        <p:txBody>
          <a:bodyPr spcFirstLastPara="1" wrap="square" lIns="91425" tIns="91425" rIns="91425" bIns="91425" anchor="ctr" anchorCtr="0">
            <a:noAutofit/>
          </a:bodyPr>
          <a:lstStyle/>
          <a:p>
            <a:pPr marL="0" indent="0"/>
            <a:r>
              <a:rPr lang="en-GB" sz="1000" dirty="0"/>
              <a:t>The student masters (technological) skills to acquire, pre-process, process and manage the necessary data to create value for individuals, organizations and domains. </a:t>
            </a:r>
          </a:p>
        </p:txBody>
      </p:sp>
      <p:sp>
        <p:nvSpPr>
          <p:cNvPr id="365" name="Google Shape;365;p39">
            <a:extLst>
              <a:ext uri="{FF2B5EF4-FFF2-40B4-BE49-F238E27FC236}">
                <a16:creationId xmlns:a16="http://schemas.microsoft.com/office/drawing/2014/main" id="{427F4509-1074-E02E-ECD9-6FD9802964FE}"/>
              </a:ext>
            </a:extLst>
          </p:cNvPr>
          <p:cNvSpPr txBox="1">
            <a:spLocks noGrp="1"/>
          </p:cNvSpPr>
          <p:nvPr>
            <p:ph type="subTitle" idx="2"/>
          </p:nvPr>
        </p:nvSpPr>
        <p:spPr>
          <a:xfrm>
            <a:off x="2629317" y="2473577"/>
            <a:ext cx="5486400" cy="685800"/>
          </a:xfrm>
          <a:prstGeom prst="rect">
            <a:avLst/>
          </a:prstGeom>
        </p:spPr>
        <p:txBody>
          <a:bodyPr spcFirstLastPara="1" wrap="square" lIns="91425" tIns="91425" rIns="91425" bIns="91425" anchor="ctr" anchorCtr="0">
            <a:noAutofit/>
          </a:bodyPr>
          <a:lstStyle/>
          <a:p>
            <a:pPr marL="0" indent="0" algn="ctr"/>
            <a:r>
              <a:rPr lang="en-GB" sz="3000" dirty="0"/>
              <a:t>Data Collection and Processing </a:t>
            </a:r>
            <a:endParaRPr lang="en" sz="3000" dirty="0"/>
          </a:p>
        </p:txBody>
      </p:sp>
    </p:spTree>
    <p:extLst>
      <p:ext uri="{BB962C8B-B14F-4D97-AF65-F5344CB8AC3E}">
        <p14:creationId xmlns:p14="http://schemas.microsoft.com/office/powerpoint/2010/main" val="18058439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5AEE408D-AC08-7CCB-726F-58FC098B767C}"/>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6A1568DC-3601-D049-E7DD-EDF7DA54B154}"/>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NL" dirty="0"/>
              <a:t>6</a:t>
            </a:r>
            <a:endParaRPr dirty="0"/>
          </a:p>
        </p:txBody>
      </p:sp>
      <p:sp>
        <p:nvSpPr>
          <p:cNvPr id="394" name="Google Shape;394;p42">
            <a:extLst>
              <a:ext uri="{FF2B5EF4-FFF2-40B4-BE49-F238E27FC236}">
                <a16:creationId xmlns:a16="http://schemas.microsoft.com/office/drawing/2014/main" id="{DB42812A-F9ED-3C73-3E6E-230711D97E60}"/>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20347F1C-7852-01E0-EF8C-F510AA90B371}"/>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1015C8F6-3DF4-CB87-D225-A0D2847610C8}"/>
              </a:ext>
            </a:extLst>
          </p:cNvPr>
          <p:cNvSpPr txBox="1">
            <a:spLocks noGrp="1"/>
          </p:cNvSpPr>
          <p:nvPr>
            <p:ph type="title" idx="3"/>
          </p:nvPr>
        </p:nvSpPr>
        <p:spPr>
          <a:xfrm>
            <a:off x="2049461" y="0"/>
            <a:ext cx="6577962" cy="576000"/>
          </a:xfrm>
          <a:prstGeom prst="rect">
            <a:avLst/>
          </a:prstGeom>
        </p:spPr>
        <p:txBody>
          <a:bodyPr spcFirstLastPara="1" wrap="square" lIns="91425" tIns="91425" rIns="91425" bIns="91425" anchor="ctr" anchorCtr="0">
            <a:noAutofit/>
          </a:bodyPr>
          <a:lstStyle/>
          <a:p>
            <a:r>
              <a:rPr lang="en-GB" i="0" dirty="0"/>
              <a:t>The student masters (technological) skills to acquire, pre-process, process and manage the necessary data to create value for individuals, organizations and domains. </a:t>
            </a:r>
            <a:endParaRPr lang="en-GB" dirty="0"/>
          </a:p>
        </p:txBody>
      </p:sp>
      <p:sp>
        <p:nvSpPr>
          <p:cNvPr id="397" name="Google Shape;397;p42">
            <a:extLst>
              <a:ext uri="{FF2B5EF4-FFF2-40B4-BE49-F238E27FC236}">
                <a16:creationId xmlns:a16="http://schemas.microsoft.com/office/drawing/2014/main" id="{A135EABC-1244-F7E7-90CE-A45B44BDDE5A}"/>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dirty="0"/>
              <a:t>6</a:t>
            </a:r>
            <a:r>
              <a:rPr lang="en" dirty="0"/>
              <a:t>.</a:t>
            </a:r>
            <a:r>
              <a:rPr lang="en-NL" dirty="0"/>
              <a:t>3</a:t>
            </a:r>
            <a:endParaRPr dirty="0"/>
          </a:p>
        </p:txBody>
      </p:sp>
      <p:sp>
        <p:nvSpPr>
          <p:cNvPr id="398" name="Google Shape;398;p42">
            <a:extLst>
              <a:ext uri="{FF2B5EF4-FFF2-40B4-BE49-F238E27FC236}">
                <a16:creationId xmlns:a16="http://schemas.microsoft.com/office/drawing/2014/main" id="{A6804D5C-4DF1-F89E-F756-53809819F2FF}"/>
              </a:ext>
            </a:extLst>
          </p:cNvPr>
          <p:cNvSpPr txBox="1">
            <a:spLocks noGrp="1"/>
          </p:cNvSpPr>
          <p:nvPr>
            <p:ph type="title" idx="5"/>
          </p:nvPr>
        </p:nvSpPr>
        <p:spPr>
          <a:xfrm>
            <a:off x="845549" y="576000"/>
            <a:ext cx="8001568" cy="493800"/>
          </a:xfrm>
          <a:prstGeom prst="rect">
            <a:avLst/>
          </a:prstGeom>
        </p:spPr>
        <p:txBody>
          <a:bodyPr spcFirstLastPara="1" wrap="square" lIns="91425" tIns="91425" rIns="91425" bIns="91425" anchor="ctr" anchorCtr="0">
            <a:noAutofit/>
          </a:bodyPr>
          <a:lstStyle/>
          <a:p>
            <a:r>
              <a:rPr lang="en-GB" i="0" dirty="0"/>
              <a:t>The student is able to design an implement data storage solutions, perform ETL operations to gather data, process it and store it in a structured format.</a:t>
            </a:r>
            <a:endParaRPr lang="en-US" i="0" dirty="0"/>
          </a:p>
        </p:txBody>
      </p:sp>
      <p:sp>
        <p:nvSpPr>
          <p:cNvPr id="399" name="Google Shape;399;p42">
            <a:extLst>
              <a:ext uri="{FF2B5EF4-FFF2-40B4-BE49-F238E27FC236}">
                <a16:creationId xmlns:a16="http://schemas.microsoft.com/office/drawing/2014/main" id="{87F6FE28-A550-B8C8-40CD-742A1753765E}"/>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GB" sz="900" dirty="0"/>
              <a:t>Data Collection and Processing</a:t>
            </a:r>
            <a:endParaRPr sz="900" dirty="0"/>
          </a:p>
        </p:txBody>
      </p:sp>
      <p:graphicFrame>
        <p:nvGraphicFramePr>
          <p:cNvPr id="3" name="Table 4">
            <a:extLst>
              <a:ext uri="{FF2B5EF4-FFF2-40B4-BE49-F238E27FC236}">
                <a16:creationId xmlns:a16="http://schemas.microsoft.com/office/drawing/2014/main" id="{B7BCC65F-1D47-03FE-855D-E69F9C647626}"/>
              </a:ext>
            </a:extLst>
          </p:cNvPr>
          <p:cNvGraphicFramePr>
            <a:graphicFrameLocks noGrp="1"/>
          </p:cNvGraphicFramePr>
          <p:nvPr>
            <p:extLst>
              <p:ext uri="{D42A27DB-BD31-4B8C-83A1-F6EECF244321}">
                <p14:modId xmlns:p14="http://schemas.microsoft.com/office/powerpoint/2010/main" val="3606837127"/>
              </p:ext>
            </p:extLst>
          </p:nvPr>
        </p:nvGraphicFramePr>
        <p:xfrm>
          <a:off x="-46200" y="1069800"/>
          <a:ext cx="9190200" cy="4540662"/>
        </p:xfrm>
        <a:graphic>
          <a:graphicData uri="http://schemas.openxmlformats.org/drawingml/2006/table">
            <a:tbl>
              <a:tblPr firstRow="1" bandRow="1">
                <a:tableStyleId>{764D4AE7-FFBC-431D-9275-528F30A785D3}</a:tableStyleId>
              </a:tblPr>
              <a:tblGrid>
                <a:gridCol w="1828341">
                  <a:extLst>
                    <a:ext uri="{9D8B030D-6E8A-4147-A177-3AD203B41FA5}">
                      <a16:colId xmlns:a16="http://schemas.microsoft.com/office/drawing/2014/main" val="3534130133"/>
                    </a:ext>
                  </a:extLst>
                </a:gridCol>
                <a:gridCol w="2273282">
                  <a:extLst>
                    <a:ext uri="{9D8B030D-6E8A-4147-A177-3AD203B41FA5}">
                      <a16:colId xmlns:a16="http://schemas.microsoft.com/office/drawing/2014/main" val="3367927302"/>
                    </a:ext>
                  </a:extLst>
                </a:gridCol>
                <a:gridCol w="2547258">
                  <a:extLst>
                    <a:ext uri="{9D8B030D-6E8A-4147-A177-3AD203B41FA5}">
                      <a16:colId xmlns:a16="http://schemas.microsoft.com/office/drawing/2014/main" val="3466084504"/>
                    </a:ext>
                  </a:extLst>
                </a:gridCol>
                <a:gridCol w="2541319">
                  <a:extLst>
                    <a:ext uri="{9D8B030D-6E8A-4147-A177-3AD203B41FA5}">
                      <a16:colId xmlns:a16="http://schemas.microsoft.com/office/drawing/2014/main" val="2514858810"/>
                    </a:ext>
                  </a:extLst>
                </a:gridCol>
              </a:tblGrid>
              <a:tr h="350755">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Pre-requisites</a:t>
                      </a:r>
                      <a:endParaRPr lang="en-NL" sz="800" b="1" dirty="0">
                        <a:latin typeface="Roboto" panose="02000000000000000000" pitchFamily="2" charset="0"/>
                        <a:ea typeface="Roboto" panose="02000000000000000000" pitchFamily="2" charset="0"/>
                        <a:cs typeface="Roboto" panose="02000000000000000000" pitchFamily="2" charset="0"/>
                      </a:endParaRPr>
                    </a:p>
                  </a:txBody>
                  <a:tcPr>
                    <a:solidFill>
                      <a:srgbClr val="FFFBD3"/>
                    </a:solidFill>
                  </a:tcPr>
                </a:tc>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A: 4 points</a:t>
                      </a:r>
                      <a:endParaRPr lang="en-NL" sz="800" b="1"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B: 5 points</a:t>
                      </a:r>
                      <a:endParaRPr lang="en-NL" sz="800" b="1" dirty="0">
                        <a:latin typeface="Roboto" panose="02000000000000000000" pitchFamily="2" charset="0"/>
                        <a:ea typeface="Roboto" panose="02000000000000000000" pitchFamily="2" charset="0"/>
                        <a:cs typeface="Roboto" panose="02000000000000000000" pitchFamily="2" charset="0"/>
                      </a:endParaRPr>
                    </a:p>
                  </a:txBody>
                  <a:tcPr>
                    <a:solidFill>
                      <a:srgbClr val="F5C1A8"/>
                    </a:solidFill>
                  </a:tcPr>
                </a:tc>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C: 6 points</a:t>
                      </a:r>
                      <a:endParaRPr lang="en-NL" sz="800" b="1"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extLst>
                  <a:ext uri="{0D108BD9-81ED-4DB2-BD59-A6C34878D82A}">
                    <a16:rowId xmlns:a16="http://schemas.microsoft.com/office/drawing/2014/main" val="1929066760"/>
                  </a:ext>
                </a:extLst>
              </a:tr>
              <a:tr h="669625">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700" dirty="0">
                          <a:latin typeface="Roboto" panose="02000000000000000000" pitchFamily="2" charset="0"/>
                          <a:ea typeface="Roboto" panose="02000000000000000000" pitchFamily="2" charset="0"/>
                          <a:cs typeface="Roboto" panose="02000000000000000000" pitchFamily="2" charset="0"/>
                        </a:rPr>
                        <a:t>Clear individual contribution to this ILO is documented. The student exhibits professional behaviour during </a:t>
                      </a:r>
                      <a:r>
                        <a:rPr lang="en-GB" sz="700" dirty="0" err="1">
                          <a:latin typeface="Roboto" panose="02000000000000000000" pitchFamily="2" charset="0"/>
                          <a:ea typeface="Roboto" panose="02000000000000000000" pitchFamily="2" charset="0"/>
                          <a:cs typeface="Roboto" panose="02000000000000000000" pitchFamily="2" charset="0"/>
                        </a:rPr>
                        <a:t>DataLab</a:t>
                      </a:r>
                      <a:r>
                        <a:rPr lang="en-GB" sz="700" dirty="0">
                          <a:latin typeface="Roboto" panose="02000000000000000000" pitchFamily="2" charset="0"/>
                          <a:ea typeface="Roboto" panose="02000000000000000000" pitchFamily="2" charset="0"/>
                          <a:cs typeface="Roboto" panose="02000000000000000000" pitchFamily="2" charset="0"/>
                        </a:rPr>
                        <a:t> sessions.</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rgbClr val="FFFBD3"/>
                    </a:solidFill>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700" dirty="0">
                          <a:latin typeface="Roboto" panose="02000000000000000000" pitchFamily="2" charset="0"/>
                          <a:ea typeface="Roboto" panose="02000000000000000000" pitchFamily="2" charset="0"/>
                          <a:cs typeface="Roboto" panose="02000000000000000000" pitchFamily="2" charset="0"/>
                        </a:rPr>
                        <a:t>The student is able to demonstrate understanding of intermediate level SQL and database fundamentals.</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r>
                        <a:rPr lang="en-GB" sz="700" dirty="0">
                          <a:latin typeface="Roboto" panose="02000000000000000000" pitchFamily="2" charset="0"/>
                          <a:ea typeface="Roboto" panose="02000000000000000000" pitchFamily="2" charset="0"/>
                          <a:cs typeface="Roboto" panose="02000000000000000000" pitchFamily="2" charset="0"/>
                        </a:rPr>
                        <a:t>The student is able to design an appropriate data storage solution for their project. The storage solution needs to align with the client requirements and should consider; security, privacy, data characteristics and access patterns in its design. The data storage solution is managed through code and can be deployed and/or reproduced.</a:t>
                      </a:r>
                    </a:p>
                  </a:txBody>
                  <a:tcPr anchor="ctr">
                    <a:solidFill>
                      <a:srgbClr val="F5C1A8"/>
                    </a:solidFill>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700" dirty="0">
                          <a:latin typeface="Roboto" panose="02000000000000000000" pitchFamily="2" charset="0"/>
                          <a:ea typeface="Roboto" panose="02000000000000000000" pitchFamily="2" charset="0"/>
                          <a:cs typeface="Roboto" panose="02000000000000000000" pitchFamily="2" charset="0"/>
                        </a:rPr>
                        <a:t>The student is able to create a solution to that can extract data from a variety of data sources if required. Perform transformations such pre processing or post processing the data and load the data into a suitable storage solution for their project. The solution needs to be well documented. The design of the solution should consider, </a:t>
                      </a:r>
                      <a:r>
                        <a:rPr lang="en-GB" sz="700" dirty="0" err="1">
                          <a:latin typeface="Roboto" panose="02000000000000000000" pitchFamily="2" charset="0"/>
                          <a:ea typeface="Roboto" panose="02000000000000000000" pitchFamily="2" charset="0"/>
                          <a:cs typeface="Roboto" panose="02000000000000000000" pitchFamily="2" charset="0"/>
                        </a:rPr>
                        <a:t>deployability</a:t>
                      </a:r>
                      <a:r>
                        <a:rPr lang="en-GB" sz="700" dirty="0">
                          <a:latin typeface="Roboto" panose="02000000000000000000" pitchFamily="2" charset="0"/>
                          <a:ea typeface="Roboto" panose="02000000000000000000" pitchFamily="2" charset="0"/>
                          <a:cs typeface="Roboto" panose="02000000000000000000" pitchFamily="2" charset="0"/>
                        </a:rPr>
                        <a:t>, scalability and reliability.</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extLst>
                  <a:ext uri="{0D108BD9-81ED-4DB2-BD59-A6C34878D82A}">
                    <a16:rowId xmlns:a16="http://schemas.microsoft.com/office/drawing/2014/main" val="173029964"/>
                  </a:ext>
                </a:extLst>
              </a:tr>
              <a:tr h="1913211">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I believe I have achieved this ILO because, as evidenced by the link I provided, I consistently contributed to our three-member team by actively participating in collaborative work. Even for tasks where I was not directly responsible, I made an effort to support my teammates by reviewing their work and offering constructive feedback to enhance the overall quality of our project. My involvement went beyond completing assigned tasks—I aimed to contribute meaningfully to the team’s progress and ensure balanced participation. This demonstrates my commitment to teamwork, shared responsibility, and continuous improvement throughout the project.</a:t>
                      </a:r>
                    </a:p>
                  </a:txBody>
                  <a:tcPr>
                    <a:solidFill>
                      <a:srgbClr val="FFFBD3"/>
                    </a:solidFill>
                  </a:tcPr>
                </a:tc>
                <a:tc>
                  <a:txBody>
                    <a:bodyPr/>
                    <a:lstStyle/>
                    <a:p>
                      <a:pPr algn="l" fontAlgn="t"/>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believe I have achieved this ILO because I completed all the required exercises and verified my responses, all of which were correct. This reflects my understanding of the material and my ability to apply the concepts accurately. Additionally, I reviewed the solutions critically to ensure my reasoning was sound, and I engaged with the learning content actively. This consistent effort demonstrates both my technical competence and commitment to the learning process.</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r>
                        <a:rPr lang="en-US" sz="700" dirty="0">
                          <a:latin typeface="Roboto" panose="02000000000000000000" pitchFamily="2" charset="0"/>
                          <a:ea typeface="Roboto" panose="02000000000000000000" pitchFamily="2" charset="0"/>
                          <a:cs typeface="Roboto" panose="02000000000000000000" pitchFamily="2" charset="0"/>
                        </a:rPr>
                        <a:t>I believe our team has successfully achieved this ILO by designing a structured and reproducible data storage solution that aligned with the client’s requirements. One of my teammates developed a comprehensive SQL script to extract and transform data from our data warehouse, which was fully compatible with our development environment in VS Code. The solution was carefully designed to consider data characteristics, such as structured financial and macroeconomic indicators, and optimized for access patterns relevant to our forecasting tasks. Although the data did not include personal information, we applied good practices in managing credentials and securing access. The entire process—from data extraction to feature engineering—was implemented through version-controlled code, ensuring that our solution could be deployed and reproduced reliably. Additionally, we generated valuable features from the dataset, such as moving averages and volatility indicators, which enhanced the performance of our predictive models and demonstrated a strong understanding of practical data engineering principles.</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rgbClr val="F5C1A8"/>
                    </a:solidFill>
                  </a:tcPr>
                </a:tc>
                <a:tc>
                  <a:txBody>
                    <a:bodyPr/>
                    <a:lstStyle/>
                    <a:p>
                      <a:pPr algn="l" fontAlgn="t"/>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believe I have achieved this ILO by contributing to the development of a data pipeline capable of extracting data from multiple sources, including financial APIs and publicly available macroeconomic datasets. The pipeline included preprocessing steps such as handling missing values, normalizing features, and converting time formats to ensure consistency across all inputs. Once processed, the data was loaded into a structured SQL-based storage solution tailored to our project needs. The entire pipeline was implemented in Python and SQL, with clear documentation to support reproducibility and team collaboration. Throughout the design, we considered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deployability</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by using modular scripts, scalability by supporting additional data sources, and reliability by validating inputs and automating checks at each stage of the process. This approach ensured that our data workflow was both technically sound and aligned with real-world requirements for data-intensive applications.</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extLst>
                  <a:ext uri="{0D108BD9-81ED-4DB2-BD59-A6C34878D82A}">
                    <a16:rowId xmlns:a16="http://schemas.microsoft.com/office/drawing/2014/main" val="3577151072"/>
                  </a:ext>
                </a:extLst>
              </a:tr>
              <a:tr h="1126667">
                <a:tc>
                  <a:txBody>
                    <a:bodyPr/>
                    <a:lstStyle/>
                    <a:p>
                      <a:pPr lvl="0">
                        <a:buNone/>
                      </a:pPr>
                      <a:r>
                        <a:rPr kumimoji="0" lang="en-US" sz="700" b="1" i="0" u="none" strike="noStrike" kern="0" cap="none" spc="0" normalizeH="0" baseline="0" noProof="0" dirty="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Arial"/>
                        </a:rPr>
                        <a:t>P</a:t>
                      </a:r>
                      <a:r>
                        <a:rPr lang="en-US" sz="700" b="1" dirty="0" err="1">
                          <a:latin typeface="Roboto" panose="02000000000000000000" pitchFamily="2" charset="0"/>
                          <a:ea typeface="Roboto" panose="02000000000000000000" pitchFamily="2" charset="0"/>
                          <a:cs typeface="Roboto" panose="02000000000000000000" pitchFamily="2" charset="0"/>
                        </a:rPr>
                        <a:t>rovide</a:t>
                      </a:r>
                      <a:r>
                        <a:rPr lang="en-US" sz="700" b="1" dirty="0">
                          <a:latin typeface="Roboto" panose="02000000000000000000" pitchFamily="2" charset="0"/>
                          <a:ea typeface="Roboto" panose="02000000000000000000" pitchFamily="2" charset="0"/>
                          <a:cs typeface="Roboto" panose="02000000000000000000" pitchFamily="2" charset="0"/>
                        </a:rPr>
                        <a:t> links to:</a:t>
                      </a:r>
                    </a:p>
                    <a:p>
                      <a:pPr marL="171450" marR="0" lvl="0" indent="-171450" algn="l" defTabSz="914400" rtl="0" eaLnBrk="1" fontAlgn="auto" latinLnBrk="0" hangingPunct="1">
                        <a:lnSpc>
                          <a:spcPct val="100000"/>
                        </a:lnSpc>
                        <a:spcBef>
                          <a:spcPts val="0"/>
                        </a:spcBef>
                        <a:spcAft>
                          <a:spcPts val="0"/>
                        </a:spcAft>
                        <a:buClr>
                          <a:srgbClr val="000000"/>
                        </a:buClr>
                        <a:buSzTx/>
                        <a:buFontTx/>
                        <a:buChar char="-"/>
                        <a:tabLst/>
                        <a:defRPr/>
                      </a:pPr>
                      <a:r>
                        <a:rPr lang="en-US" sz="700" dirty="0" err="1">
                          <a:latin typeface="Roboto" panose="02000000000000000000" pitchFamily="2" charset="0"/>
                          <a:ea typeface="Roboto" panose="02000000000000000000" pitchFamily="2" charset="0"/>
                          <a:cs typeface="Roboto" panose="02000000000000000000" pitchFamily="2" charset="0"/>
                        </a:rPr>
                        <a:t>GroupTasksContributions_Template</a:t>
                      </a:r>
                      <a:endParaRPr lang="en-US" sz="700" dirty="0">
                        <a:latin typeface="Roboto" panose="02000000000000000000" pitchFamily="2" charset="0"/>
                        <a:ea typeface="Roboto" panose="02000000000000000000" pitchFamily="2" charset="0"/>
                        <a:cs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700" b="1" i="0" u="none" strike="noStrike" kern="0" cap="none" spc="0" normalizeH="0" baseline="0" noProof="0" dirty="0" err="1">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Arial"/>
                          <a:hlinkClick r:id="rId3"/>
                        </a:rPr>
                        <a:t>GroupTasksContributions_Template</a:t>
                      </a:r>
                      <a:endParaRPr kumimoji="0" lang="en-US" sz="700" b="1" i="0" u="none" strike="noStrike" kern="0" cap="none" spc="0" normalizeH="0" baseline="0" noProof="0" dirty="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Arial"/>
                      </a:endParaRPr>
                    </a:p>
                  </a:txBody>
                  <a:tcPr>
                    <a:solidFill>
                      <a:srgbClr val="FFFBD3"/>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700" b="1" i="0" u="none" strike="noStrike" kern="0" cap="none" spc="0" normalizeH="0" baseline="0" noProof="0" dirty="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Arial"/>
                        </a:rPr>
                        <a:t>Provide a Link to:</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700" b="0" i="0" u="none" strike="noStrike" kern="0" cap="none" spc="0" normalizeH="0" baseline="0" noProof="0" dirty="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Arial"/>
                        </a:rPr>
                        <a:t>- </a:t>
                      </a:r>
                      <a:r>
                        <a:rPr kumimoji="0" lang="en-US" sz="700" b="0" i="0" u="none" strike="noStrike" kern="0" cap="none" spc="0" normalizeH="0" baseline="0" noProof="0" dirty="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Arial"/>
                          <a:hlinkClick r:id="rId4"/>
                        </a:rPr>
                        <a:t>Your SQL script with the completed queries</a:t>
                      </a:r>
                      <a:endParaRPr kumimoji="0" lang="en-US" sz="700" b="0" i="0" u="none" strike="noStrike" kern="0" cap="none" spc="0" normalizeH="0" baseline="0" noProof="0" dirty="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700" b="0" i="0" u="none" strike="noStrike" kern="0" cap="none" spc="0" normalizeH="0" baseline="0" noProof="0" dirty="0">
                        <a:ln>
                          <a:noFill/>
                        </a:ln>
                        <a:solidFill>
                          <a:srgbClr val="000000"/>
                        </a:solidFill>
                        <a:effectLst/>
                        <a:uLnTx/>
                        <a:uFillTx/>
                        <a:latin typeface="Roboto" panose="02000000000000000000" pitchFamily="2" charset="0"/>
                        <a:ea typeface="Roboto" panose="02000000000000000000" pitchFamily="2" charset="0"/>
                        <a:cs typeface="Roboto" panose="02000000000000000000" pitchFamily="2" charset="0"/>
                        <a:sym typeface="Arial"/>
                      </a:endParaRPr>
                    </a:p>
                  </a:txBody>
                  <a:tcPr>
                    <a:solidFill>
                      <a:schemeClr val="accent4">
                        <a:lumMod val="20000"/>
                        <a:lumOff val="80000"/>
                      </a:schemeClr>
                    </a:solidFill>
                  </a:tcPr>
                </a:tc>
                <a:tc>
                  <a:txBody>
                    <a:bodyPr/>
                    <a:lstStyle/>
                    <a:p>
                      <a:pPr lvl="0">
                        <a:buNone/>
                      </a:pPr>
                      <a:r>
                        <a:rPr lang="en-US" sz="700" b="1" dirty="0">
                          <a:latin typeface="Roboto" panose="02000000000000000000" pitchFamily="2" charset="0"/>
                          <a:ea typeface="Roboto" panose="02000000000000000000" pitchFamily="2" charset="0"/>
                          <a:cs typeface="Roboto" panose="02000000000000000000" pitchFamily="2" charset="0"/>
                        </a:rPr>
                        <a:t>Provide Links to:</a:t>
                      </a:r>
                    </a:p>
                    <a:p>
                      <a:pPr lvl="0">
                        <a:buNone/>
                      </a:pPr>
                      <a:r>
                        <a:rPr lang="en-US" sz="700" dirty="0">
                          <a:latin typeface="Roboto" panose="02000000000000000000" pitchFamily="2" charset="0"/>
                          <a:ea typeface="Roboto" panose="02000000000000000000" pitchFamily="2" charset="0"/>
                          <a:cs typeface="Roboto" panose="02000000000000000000" pitchFamily="2" charset="0"/>
                        </a:rPr>
                        <a:t>-  </a:t>
                      </a:r>
                      <a:r>
                        <a:rPr lang="en-US" sz="700" dirty="0">
                          <a:latin typeface="Roboto" panose="02000000000000000000" pitchFamily="2" charset="0"/>
                          <a:ea typeface="Roboto" panose="02000000000000000000" pitchFamily="2" charset="0"/>
                          <a:cs typeface="Roboto" panose="02000000000000000000" pitchFamily="2" charset="0"/>
                          <a:hlinkClick r:id="rId5"/>
                        </a:rPr>
                        <a:t>Your SQL scripts that creates your database</a:t>
                      </a:r>
                      <a:endParaRPr lang="en-US" sz="700" dirty="0">
                        <a:latin typeface="Roboto" panose="02000000000000000000" pitchFamily="2" charset="0"/>
                        <a:ea typeface="Roboto" panose="02000000000000000000" pitchFamily="2" charset="0"/>
                        <a:cs typeface="Roboto" panose="02000000000000000000" pitchFamily="2" charset="0"/>
                      </a:endParaRPr>
                    </a:p>
                    <a:p>
                      <a:pPr lvl="0">
                        <a:buNone/>
                      </a:pPr>
                      <a:r>
                        <a:rPr lang="en-US" sz="700" dirty="0">
                          <a:latin typeface="Roboto" panose="02000000000000000000" pitchFamily="2" charset="0"/>
                          <a:ea typeface="Roboto" panose="02000000000000000000" pitchFamily="2" charset="0"/>
                          <a:cs typeface="Roboto" panose="02000000000000000000" pitchFamily="2" charset="0"/>
                        </a:rPr>
                        <a:t>-  </a:t>
                      </a:r>
                      <a:r>
                        <a:rPr lang="en-US" sz="700" dirty="0">
                          <a:latin typeface="Roboto" panose="02000000000000000000" pitchFamily="2" charset="0"/>
                          <a:ea typeface="Roboto" panose="02000000000000000000" pitchFamily="2" charset="0"/>
                          <a:cs typeface="Roboto" panose="02000000000000000000" pitchFamily="2" charset="0"/>
                          <a:hlinkClick r:id="rId6"/>
                        </a:rPr>
                        <a:t>Your README file</a:t>
                      </a:r>
                      <a:endParaRPr lang="en-US" sz="700" dirty="0">
                        <a:latin typeface="Roboto" panose="02000000000000000000" pitchFamily="2" charset="0"/>
                        <a:ea typeface="Roboto" panose="02000000000000000000" pitchFamily="2" charset="0"/>
                        <a:cs typeface="Roboto" panose="02000000000000000000" pitchFamily="2" charset="0"/>
                      </a:endParaRPr>
                    </a:p>
                    <a:p>
                      <a:pPr lvl="0">
                        <a:buNone/>
                      </a:pPr>
                      <a:endParaRPr lang="en-US" sz="700" dirty="0">
                        <a:latin typeface="Roboto" panose="02000000000000000000" pitchFamily="2" charset="0"/>
                        <a:ea typeface="Roboto" panose="02000000000000000000" pitchFamily="2" charset="0"/>
                        <a:cs typeface="Roboto" panose="02000000000000000000" pitchFamily="2" charset="0"/>
                      </a:endParaRPr>
                    </a:p>
                  </a:txBody>
                  <a:tcPr>
                    <a:solidFill>
                      <a:srgbClr val="F5C1A8"/>
                    </a:solidFill>
                  </a:tcPr>
                </a:tc>
                <a:tc>
                  <a:txBody>
                    <a:bodyPr/>
                    <a:lstStyle/>
                    <a:p>
                      <a:pPr lvl="0">
                        <a:buNone/>
                      </a:pPr>
                      <a:r>
                        <a:rPr lang="en-US" sz="700" b="1" dirty="0">
                          <a:latin typeface="Roboto" panose="02000000000000000000" pitchFamily="2" charset="0"/>
                          <a:ea typeface="Roboto" panose="02000000000000000000" pitchFamily="2" charset="0"/>
                          <a:cs typeface="Roboto" panose="02000000000000000000" pitchFamily="2" charset="0"/>
                        </a:rPr>
                        <a:t>Provide Links to:</a:t>
                      </a:r>
                    </a:p>
                    <a:p>
                      <a:pPr marL="171450" lvl="0" indent="-171450">
                        <a:buFontTx/>
                        <a:buChar char="-"/>
                      </a:pPr>
                      <a:r>
                        <a:rPr lang="en-US" sz="700" dirty="0">
                          <a:latin typeface="Roboto" panose="02000000000000000000" pitchFamily="2" charset="0"/>
                          <a:ea typeface="Roboto" panose="02000000000000000000" pitchFamily="2" charset="0"/>
                          <a:cs typeface="Roboto" panose="02000000000000000000" pitchFamily="2" charset="0"/>
                          <a:hlinkClick r:id="rId5"/>
                        </a:rPr>
                        <a:t>Your SQL script with the completed queries</a:t>
                      </a:r>
                      <a:endParaRPr lang="en-US" sz="700" dirty="0">
                        <a:latin typeface="Roboto" panose="02000000000000000000" pitchFamily="2" charset="0"/>
                        <a:ea typeface="Roboto" panose="02000000000000000000" pitchFamily="2" charset="0"/>
                        <a:cs typeface="Roboto" panose="02000000000000000000" pitchFamily="2" charset="0"/>
                      </a:endParaRPr>
                    </a:p>
                    <a:p>
                      <a:pPr marL="171450" lvl="0" indent="-171450">
                        <a:buFontTx/>
                        <a:buChar char="-"/>
                      </a:pPr>
                      <a:r>
                        <a:rPr lang="en-US" sz="700" dirty="0">
                          <a:latin typeface="Roboto" panose="02000000000000000000" pitchFamily="2" charset="0"/>
                          <a:ea typeface="Roboto" panose="02000000000000000000" pitchFamily="2" charset="0"/>
                          <a:cs typeface="Roboto" panose="02000000000000000000" pitchFamily="2" charset="0"/>
                          <a:hlinkClick r:id="rId7"/>
                        </a:rPr>
                        <a:t>Your </a:t>
                      </a:r>
                      <a:r>
                        <a:rPr lang="en-US" sz="700" dirty="0" err="1">
                          <a:latin typeface="Roboto" panose="02000000000000000000" pitchFamily="2" charset="0"/>
                          <a:ea typeface="Roboto" panose="02000000000000000000" pitchFamily="2" charset="0"/>
                          <a:cs typeface="Roboto" panose="02000000000000000000" pitchFamily="2" charset="0"/>
                          <a:hlinkClick r:id="rId7"/>
                        </a:rPr>
                        <a:t>FinalProject_Template</a:t>
                      </a:r>
                      <a:endParaRPr lang="en-US" sz="700" dirty="0">
                        <a:latin typeface="Roboto" panose="02000000000000000000" pitchFamily="2" charset="0"/>
                        <a:ea typeface="Roboto" panose="02000000000000000000" pitchFamily="2" charset="0"/>
                        <a:cs typeface="Roboto" panose="02000000000000000000" pitchFamily="2" charset="0"/>
                      </a:endParaRPr>
                    </a:p>
                    <a:p>
                      <a:pPr marL="171450" lvl="0" indent="-171450">
                        <a:buFontTx/>
                        <a:buChar char="-"/>
                      </a:pPr>
                      <a:r>
                        <a:rPr lang="en-US" sz="700" dirty="0">
                          <a:latin typeface="Roboto" panose="02000000000000000000" pitchFamily="2" charset="0"/>
                          <a:ea typeface="Roboto" panose="02000000000000000000" pitchFamily="2" charset="0"/>
                          <a:cs typeface="Roboto" panose="02000000000000000000" pitchFamily="2" charset="0"/>
                          <a:hlinkClick r:id="rId6"/>
                        </a:rPr>
                        <a:t>Your README file</a:t>
                      </a:r>
                      <a:endParaRPr lang="en-US" sz="700" dirty="0">
                        <a:latin typeface="Roboto" panose="02000000000000000000" pitchFamily="2" charset="0"/>
                        <a:ea typeface="Roboto" panose="02000000000000000000" pitchFamily="2" charset="0"/>
                        <a:cs typeface="Roboto" panose="02000000000000000000" pitchFamily="2" charset="0"/>
                      </a:endParaRPr>
                    </a:p>
                    <a:p>
                      <a:pPr marL="171450" lvl="0" indent="-171450">
                        <a:buFontTx/>
                        <a:buChar char="-"/>
                      </a:pPr>
                      <a:r>
                        <a:rPr lang="en-US" sz="700" dirty="0">
                          <a:latin typeface="Roboto" panose="02000000000000000000" pitchFamily="2" charset="0"/>
                          <a:ea typeface="Roboto" panose="02000000000000000000" pitchFamily="2" charset="0"/>
                          <a:cs typeface="Roboto" panose="02000000000000000000" pitchFamily="2" charset="0"/>
                        </a:rPr>
                        <a:t>Any additional data sources that you included in your final databases</a:t>
                      </a:r>
                    </a:p>
                  </a:txBody>
                  <a:tcPr>
                    <a:solidFill>
                      <a:schemeClr val="accent4">
                        <a:lumMod val="20000"/>
                        <a:lumOff val="80000"/>
                      </a:schemeClr>
                    </a:solidFill>
                  </a:tcPr>
                </a:tc>
                <a:extLst>
                  <a:ext uri="{0D108BD9-81ED-4DB2-BD59-A6C34878D82A}">
                    <a16:rowId xmlns:a16="http://schemas.microsoft.com/office/drawing/2014/main" val="740005107"/>
                  </a:ext>
                </a:extLst>
              </a:tr>
            </a:tbl>
          </a:graphicData>
        </a:graphic>
      </p:graphicFrame>
    </p:spTree>
    <p:extLst>
      <p:ext uri="{BB962C8B-B14F-4D97-AF65-F5344CB8AC3E}">
        <p14:creationId xmlns:p14="http://schemas.microsoft.com/office/powerpoint/2010/main" val="29096201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587E0154-A25D-F7AB-2163-E977A4911C07}"/>
            </a:ext>
          </a:extLst>
        </p:cNvPr>
        <p:cNvGrpSpPr/>
        <p:nvPr/>
      </p:nvGrpSpPr>
      <p:grpSpPr>
        <a:xfrm>
          <a:off x="0" y="0"/>
          <a:ext cx="0" cy="0"/>
          <a:chOff x="0" y="0"/>
          <a:chExt cx="0" cy="0"/>
        </a:xfrm>
      </p:grpSpPr>
      <p:sp>
        <p:nvSpPr>
          <p:cNvPr id="363" name="Google Shape;363;p39">
            <a:extLst>
              <a:ext uri="{FF2B5EF4-FFF2-40B4-BE49-F238E27FC236}">
                <a16:creationId xmlns:a16="http://schemas.microsoft.com/office/drawing/2014/main" id="{B52D89EF-B85D-2B56-0152-8389D7DFAEFE}"/>
              </a:ext>
            </a:extLst>
          </p:cNvPr>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a:t>
            </a:r>
            <a:r>
              <a:rPr lang="en-NL" dirty="0"/>
              <a:t>8</a:t>
            </a:r>
            <a:endParaRPr dirty="0"/>
          </a:p>
        </p:txBody>
      </p:sp>
      <p:sp>
        <p:nvSpPr>
          <p:cNvPr id="364" name="Google Shape;364;p39">
            <a:extLst>
              <a:ext uri="{FF2B5EF4-FFF2-40B4-BE49-F238E27FC236}">
                <a16:creationId xmlns:a16="http://schemas.microsoft.com/office/drawing/2014/main" id="{E786D8EE-6ACC-6007-2362-8B47F1B6BCB7}"/>
              </a:ext>
            </a:extLst>
          </p:cNvPr>
          <p:cNvSpPr txBox="1">
            <a:spLocks noGrp="1"/>
          </p:cNvSpPr>
          <p:nvPr>
            <p:ph type="subTitle" idx="1"/>
          </p:nvPr>
        </p:nvSpPr>
        <p:spPr>
          <a:xfrm>
            <a:off x="2054432" y="3248481"/>
            <a:ext cx="6400800" cy="992126"/>
          </a:xfrm>
          <a:prstGeom prst="rect">
            <a:avLst/>
          </a:prstGeom>
        </p:spPr>
        <p:txBody>
          <a:bodyPr spcFirstLastPara="1" wrap="square" lIns="91425" tIns="91425" rIns="91425" bIns="91425" anchor="ctr" anchorCtr="0">
            <a:noAutofit/>
          </a:bodyPr>
          <a:lstStyle/>
          <a:p>
            <a:pPr marL="0" indent="0"/>
            <a:r>
              <a:rPr lang="en-GB" sz="1000" dirty="0"/>
              <a:t>The student can apply modelling techniques including Machine Learning and AI to create value for individuals, organizations and domains. </a:t>
            </a:r>
          </a:p>
        </p:txBody>
      </p:sp>
      <p:sp>
        <p:nvSpPr>
          <p:cNvPr id="365" name="Google Shape;365;p39">
            <a:extLst>
              <a:ext uri="{FF2B5EF4-FFF2-40B4-BE49-F238E27FC236}">
                <a16:creationId xmlns:a16="http://schemas.microsoft.com/office/drawing/2014/main" id="{0E0319A5-E55D-39EB-34A3-25E29BD11EE1}"/>
              </a:ext>
            </a:extLst>
          </p:cNvPr>
          <p:cNvSpPr txBox="1">
            <a:spLocks noGrp="1"/>
          </p:cNvSpPr>
          <p:nvPr>
            <p:ph type="subTitle" idx="2"/>
          </p:nvPr>
        </p:nvSpPr>
        <p:spPr>
          <a:xfrm>
            <a:off x="2629317" y="2473577"/>
            <a:ext cx="5486400" cy="685800"/>
          </a:xfrm>
          <a:prstGeom prst="rect">
            <a:avLst/>
          </a:prstGeom>
        </p:spPr>
        <p:txBody>
          <a:bodyPr spcFirstLastPara="1" wrap="square" lIns="91425" tIns="91425" rIns="91425" bIns="91425" anchor="ctr" anchorCtr="0">
            <a:noAutofit/>
          </a:bodyPr>
          <a:lstStyle/>
          <a:p>
            <a:pPr marL="0" indent="0" algn="ctr"/>
            <a:r>
              <a:rPr lang="en" sz="3000" dirty="0"/>
              <a:t>Modelling</a:t>
            </a:r>
          </a:p>
        </p:txBody>
      </p:sp>
    </p:spTree>
    <p:extLst>
      <p:ext uri="{BB962C8B-B14F-4D97-AF65-F5344CB8AC3E}">
        <p14:creationId xmlns:p14="http://schemas.microsoft.com/office/powerpoint/2010/main" val="19000685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5E4EC967-A3F5-7880-708F-C9D91BCF6457}"/>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CA6FAFFD-D280-B759-0A43-7793C1E66F0A}"/>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NL" dirty="0"/>
              <a:t>8</a:t>
            </a:r>
            <a:endParaRPr dirty="0"/>
          </a:p>
        </p:txBody>
      </p:sp>
      <p:sp>
        <p:nvSpPr>
          <p:cNvPr id="394" name="Google Shape;394;p42">
            <a:extLst>
              <a:ext uri="{FF2B5EF4-FFF2-40B4-BE49-F238E27FC236}">
                <a16:creationId xmlns:a16="http://schemas.microsoft.com/office/drawing/2014/main" id="{DEC022E1-2198-2F65-CF44-5D879AA1853D}"/>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5" name="Google Shape;395;p42">
            <a:extLst>
              <a:ext uri="{FF2B5EF4-FFF2-40B4-BE49-F238E27FC236}">
                <a16:creationId xmlns:a16="http://schemas.microsoft.com/office/drawing/2014/main" id="{36021081-87F2-2CD8-DA9F-CAB9FD6F1F59}"/>
              </a:ext>
            </a:extLst>
          </p:cNvPr>
          <p:cNvSpPr txBox="1">
            <a:spLocks noGrp="1"/>
          </p:cNvSpPr>
          <p:nvPr>
            <p:ph type="body" idx="4294967295"/>
          </p:nvPr>
        </p:nvSpPr>
        <p:spPr>
          <a:xfrm>
            <a:off x="2674350" y="3037484"/>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396" name="Google Shape;396;p42">
            <a:extLst>
              <a:ext uri="{FF2B5EF4-FFF2-40B4-BE49-F238E27FC236}">
                <a16:creationId xmlns:a16="http://schemas.microsoft.com/office/drawing/2014/main" id="{3B4F7920-1E72-4D63-83F3-C1CA771615E8}"/>
              </a:ext>
            </a:extLst>
          </p:cNvPr>
          <p:cNvSpPr txBox="1">
            <a:spLocks noGrp="1"/>
          </p:cNvSpPr>
          <p:nvPr>
            <p:ph type="title" idx="3"/>
          </p:nvPr>
        </p:nvSpPr>
        <p:spPr>
          <a:xfrm>
            <a:off x="2049461" y="0"/>
            <a:ext cx="6577962" cy="576000"/>
          </a:xfrm>
          <a:prstGeom prst="rect">
            <a:avLst/>
          </a:prstGeom>
        </p:spPr>
        <p:txBody>
          <a:bodyPr spcFirstLastPara="1" wrap="square" lIns="91425" tIns="91425" rIns="91425" bIns="91425" anchor="ctr" anchorCtr="0">
            <a:noAutofit/>
          </a:bodyPr>
          <a:lstStyle/>
          <a:p>
            <a:r>
              <a:rPr lang="en-GB" i="0" dirty="0"/>
              <a:t>The student can apply modelling techniques including Machine Learning and AI to create value for individuals, organizations and domains. </a:t>
            </a:r>
            <a:endParaRPr lang="en-GB" dirty="0"/>
          </a:p>
        </p:txBody>
      </p:sp>
      <p:sp>
        <p:nvSpPr>
          <p:cNvPr id="397" name="Google Shape;397;p42">
            <a:extLst>
              <a:ext uri="{FF2B5EF4-FFF2-40B4-BE49-F238E27FC236}">
                <a16:creationId xmlns:a16="http://schemas.microsoft.com/office/drawing/2014/main" id="{69601F56-080C-E20F-4887-9D2F2CFA5E03}"/>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dirty="0"/>
              <a:t>8</a:t>
            </a:r>
            <a:r>
              <a:rPr lang="en" dirty="0"/>
              <a:t>.</a:t>
            </a:r>
            <a:r>
              <a:rPr lang="en-NL" dirty="0"/>
              <a:t>4</a:t>
            </a:r>
            <a:endParaRPr dirty="0"/>
          </a:p>
        </p:txBody>
      </p:sp>
      <p:sp>
        <p:nvSpPr>
          <p:cNvPr id="398" name="Google Shape;398;p42">
            <a:extLst>
              <a:ext uri="{FF2B5EF4-FFF2-40B4-BE49-F238E27FC236}">
                <a16:creationId xmlns:a16="http://schemas.microsoft.com/office/drawing/2014/main" id="{B161B6D1-B0A0-70ED-15DA-C1BBF8502689}"/>
              </a:ext>
            </a:extLst>
          </p:cNvPr>
          <p:cNvSpPr txBox="1">
            <a:spLocks noGrp="1"/>
          </p:cNvSpPr>
          <p:nvPr>
            <p:ph type="title" idx="5"/>
          </p:nvPr>
        </p:nvSpPr>
        <p:spPr>
          <a:xfrm>
            <a:off x="845549" y="576000"/>
            <a:ext cx="8001568" cy="493800"/>
          </a:xfrm>
          <a:prstGeom prst="rect">
            <a:avLst/>
          </a:prstGeom>
        </p:spPr>
        <p:txBody>
          <a:bodyPr spcFirstLastPara="1" wrap="square" lIns="91425" tIns="91425" rIns="91425" bIns="91425" anchor="ctr" anchorCtr="0">
            <a:noAutofit/>
          </a:bodyPr>
          <a:lstStyle/>
          <a:p>
            <a:r>
              <a:rPr lang="en-GB" i="0" dirty="0"/>
              <a:t>The student demonstrates proficiency in designing and implementing machine learning models, integrating them into end-to-end pipelines aligned with business objectives, iteratively improving these pipelines, and rigorously evaluating model performance to ensure reliability and effectiveness.</a:t>
            </a:r>
            <a:endParaRPr lang="en-US" i="0" dirty="0"/>
          </a:p>
        </p:txBody>
      </p:sp>
      <p:sp>
        <p:nvSpPr>
          <p:cNvPr id="399" name="Google Shape;399;p42">
            <a:extLst>
              <a:ext uri="{FF2B5EF4-FFF2-40B4-BE49-F238E27FC236}">
                <a16:creationId xmlns:a16="http://schemas.microsoft.com/office/drawing/2014/main" id="{EEBD0E74-41DC-8E8A-42D6-0A5543B10C20}"/>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GB" sz="900" dirty="0"/>
              <a:t>Modelling </a:t>
            </a:r>
            <a:endParaRPr sz="900" dirty="0"/>
          </a:p>
        </p:txBody>
      </p:sp>
      <p:graphicFrame>
        <p:nvGraphicFramePr>
          <p:cNvPr id="3" name="Table 4">
            <a:extLst>
              <a:ext uri="{FF2B5EF4-FFF2-40B4-BE49-F238E27FC236}">
                <a16:creationId xmlns:a16="http://schemas.microsoft.com/office/drawing/2014/main" id="{D1F29CB7-564D-3C5D-766B-4252FB9801D7}"/>
              </a:ext>
            </a:extLst>
          </p:cNvPr>
          <p:cNvGraphicFramePr>
            <a:graphicFrameLocks noGrp="1"/>
          </p:cNvGraphicFramePr>
          <p:nvPr>
            <p:extLst>
              <p:ext uri="{D42A27DB-BD31-4B8C-83A1-F6EECF244321}">
                <p14:modId xmlns:p14="http://schemas.microsoft.com/office/powerpoint/2010/main" val="1579475144"/>
              </p:ext>
            </p:extLst>
          </p:nvPr>
        </p:nvGraphicFramePr>
        <p:xfrm>
          <a:off x="-46200" y="1069800"/>
          <a:ext cx="9190200" cy="4220622"/>
        </p:xfrm>
        <a:graphic>
          <a:graphicData uri="http://schemas.openxmlformats.org/drawingml/2006/table">
            <a:tbl>
              <a:tblPr firstRow="1" bandRow="1">
                <a:tableStyleId>{764D4AE7-FFBC-431D-9275-528F30A785D3}</a:tableStyleId>
              </a:tblPr>
              <a:tblGrid>
                <a:gridCol w="1828341">
                  <a:extLst>
                    <a:ext uri="{9D8B030D-6E8A-4147-A177-3AD203B41FA5}">
                      <a16:colId xmlns:a16="http://schemas.microsoft.com/office/drawing/2014/main" val="3534130133"/>
                    </a:ext>
                  </a:extLst>
                </a:gridCol>
                <a:gridCol w="2273282">
                  <a:extLst>
                    <a:ext uri="{9D8B030D-6E8A-4147-A177-3AD203B41FA5}">
                      <a16:colId xmlns:a16="http://schemas.microsoft.com/office/drawing/2014/main" val="3367927302"/>
                    </a:ext>
                  </a:extLst>
                </a:gridCol>
                <a:gridCol w="2547258">
                  <a:extLst>
                    <a:ext uri="{9D8B030D-6E8A-4147-A177-3AD203B41FA5}">
                      <a16:colId xmlns:a16="http://schemas.microsoft.com/office/drawing/2014/main" val="3466084504"/>
                    </a:ext>
                  </a:extLst>
                </a:gridCol>
                <a:gridCol w="2541319">
                  <a:extLst>
                    <a:ext uri="{9D8B030D-6E8A-4147-A177-3AD203B41FA5}">
                      <a16:colId xmlns:a16="http://schemas.microsoft.com/office/drawing/2014/main" val="2514858810"/>
                    </a:ext>
                  </a:extLst>
                </a:gridCol>
              </a:tblGrid>
              <a:tr h="350755">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Pre-requisites</a:t>
                      </a:r>
                      <a:endParaRPr lang="en-NL" sz="800" b="1" dirty="0">
                        <a:latin typeface="Roboto" panose="02000000000000000000" pitchFamily="2" charset="0"/>
                        <a:ea typeface="Roboto" panose="02000000000000000000" pitchFamily="2" charset="0"/>
                        <a:cs typeface="Roboto" panose="02000000000000000000" pitchFamily="2" charset="0"/>
                      </a:endParaRPr>
                    </a:p>
                  </a:txBody>
                  <a:tcPr>
                    <a:solidFill>
                      <a:srgbClr val="FFFBD3"/>
                    </a:solidFill>
                  </a:tcPr>
                </a:tc>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A: 6 points</a:t>
                      </a:r>
                      <a:endParaRPr lang="en-NL" sz="800" b="1"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B: 6 points</a:t>
                      </a:r>
                      <a:endParaRPr lang="en-NL" sz="800" b="1" dirty="0">
                        <a:latin typeface="Roboto" panose="02000000000000000000" pitchFamily="2" charset="0"/>
                        <a:ea typeface="Roboto" panose="02000000000000000000" pitchFamily="2" charset="0"/>
                        <a:cs typeface="Roboto" panose="02000000000000000000" pitchFamily="2" charset="0"/>
                      </a:endParaRPr>
                    </a:p>
                  </a:txBody>
                  <a:tcPr>
                    <a:solidFill>
                      <a:srgbClr val="F5C1A8"/>
                    </a:solidFill>
                  </a:tcPr>
                </a:tc>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C: 8 points</a:t>
                      </a:r>
                      <a:endParaRPr lang="en-NL" sz="800" b="1"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extLst>
                  <a:ext uri="{0D108BD9-81ED-4DB2-BD59-A6C34878D82A}">
                    <a16:rowId xmlns:a16="http://schemas.microsoft.com/office/drawing/2014/main" val="1929066760"/>
                  </a:ext>
                </a:extLst>
              </a:tr>
              <a:tr h="669625">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700" dirty="0">
                          <a:latin typeface="Roboto" panose="02000000000000000000" pitchFamily="2" charset="0"/>
                          <a:ea typeface="Roboto" panose="02000000000000000000" pitchFamily="2" charset="0"/>
                          <a:cs typeface="Roboto" panose="02000000000000000000" pitchFamily="2" charset="0"/>
                        </a:rPr>
                        <a:t>Clear individual contribution to this ILO is documented. The student exhibits professional behaviour during </a:t>
                      </a:r>
                      <a:r>
                        <a:rPr lang="en-GB" sz="700" dirty="0" err="1">
                          <a:latin typeface="Roboto" panose="02000000000000000000" pitchFamily="2" charset="0"/>
                          <a:ea typeface="Roboto" panose="02000000000000000000" pitchFamily="2" charset="0"/>
                          <a:cs typeface="Roboto" panose="02000000000000000000" pitchFamily="2" charset="0"/>
                        </a:rPr>
                        <a:t>DataLab</a:t>
                      </a:r>
                      <a:r>
                        <a:rPr lang="en-GB" sz="700" dirty="0">
                          <a:latin typeface="Roboto" panose="02000000000000000000" pitchFamily="2" charset="0"/>
                          <a:ea typeface="Roboto" panose="02000000000000000000" pitchFamily="2" charset="0"/>
                          <a:cs typeface="Roboto" panose="02000000000000000000" pitchFamily="2" charset="0"/>
                        </a:rPr>
                        <a:t> sessions.</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rgbClr val="FFFBD3"/>
                    </a:solidFill>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700" dirty="0">
                          <a:latin typeface="Roboto" panose="02000000000000000000" pitchFamily="2" charset="0"/>
                          <a:ea typeface="Roboto" panose="02000000000000000000" pitchFamily="2" charset="0"/>
                          <a:cs typeface="Roboto" panose="02000000000000000000" pitchFamily="2" charset="0"/>
                        </a:rPr>
                        <a:t>The student demonstrates the ability to design and implement machine learning models for the business objective using industry-standard frameworks.</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r>
                        <a:rPr lang="en-GB" sz="700" dirty="0">
                          <a:latin typeface="Roboto" panose="02000000000000000000" pitchFamily="2" charset="0"/>
                          <a:ea typeface="Roboto" panose="02000000000000000000" pitchFamily="2" charset="0"/>
                          <a:cs typeface="Roboto" panose="02000000000000000000" pitchFamily="2" charset="0"/>
                        </a:rPr>
                        <a:t>The student demonstrates the ability to critically evaluate machine learning models by applying appropriate performance metrics, conducting error analysis, and validating performance through cross-validation and external validation, ensuring alignment with the business objective.</a:t>
                      </a:r>
                    </a:p>
                  </a:txBody>
                  <a:tcPr anchor="ctr">
                    <a:solidFill>
                      <a:srgbClr val="F5C1A8"/>
                    </a:solidFill>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700" dirty="0">
                          <a:latin typeface="Roboto" panose="02000000000000000000" pitchFamily="2" charset="0"/>
                          <a:ea typeface="Roboto" panose="02000000000000000000" pitchFamily="2" charset="0"/>
                          <a:cs typeface="Roboto" panose="02000000000000000000" pitchFamily="2" charset="0"/>
                        </a:rPr>
                        <a:t>The student demonstrates the ability to iteratively refine machine learning models by employing appropriate techniques to enhance performance while ensuring alignment with the business objective.</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extLst>
                  <a:ext uri="{0D108BD9-81ED-4DB2-BD59-A6C34878D82A}">
                    <a16:rowId xmlns:a16="http://schemas.microsoft.com/office/drawing/2014/main" val="173029964"/>
                  </a:ext>
                </a:extLst>
              </a:tr>
              <a:tr h="1913211">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I believe I have achieved this ILO because, as evidenced by the link I provided, I consistently contributed to our three-member team by actively participating in collaborative work. Even for tasks where I was not directly responsible, I made an effort to support my teammates by reviewing their work and offering constructive feedback to enhance the overall quality of our project. My involvement went beyond completing assigned tasks—I aimed to contribute meaningfully to the team’s progress and ensure balanced participation. This demonstrates my commitment to teamwork, shared responsibility, and continuous improvement throughout the project.</a:t>
                      </a:r>
                    </a:p>
                  </a:txBody>
                  <a:tcPr>
                    <a:solidFill>
                      <a:srgbClr val="FFFBD3"/>
                    </a:solidFill>
                  </a:tcPr>
                </a:tc>
                <a:tc>
                  <a:txBody>
                    <a:bodyPr/>
                    <a:lstStyle/>
                    <a:p>
                      <a:r>
                        <a:rPr lang="en-US" sz="700" dirty="0">
                          <a:latin typeface="Roboto" panose="02000000000000000000" pitchFamily="2" charset="0"/>
                          <a:ea typeface="Roboto" panose="02000000000000000000" pitchFamily="2" charset="0"/>
                          <a:cs typeface="Roboto" panose="02000000000000000000" pitchFamily="2" charset="0"/>
                        </a:rPr>
                        <a:t>I believe my team and I have achieved this ILO by implementing four different models on our dataset and experimenting with various parameters to optimize their performance. This iterative approach allowed us to compare results systematically and identify the most suitable model for our specific problem. Through tuning and evaluation, we were able to improve the overall accuracy and reliability of our predictions, demonstrating a strong understanding of model selection, validation, and performance enhancement.</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pPr algn="l" fontAlgn="t"/>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believe I have achieved this ILO because I applied both over-sampling and under-sampling techniques to address class imbalance in our target variable, ensuring that the model could learn from all classes more effectively. Additionally, I used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GridSearchCV</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to perform hyperparameter tuning, which allowed me to systematically explore different parameter combinations and identify the optimal settings for improving model performance. These steps significantly enhanced the accuracy and generalizability of our model. I also documented the tuning process and evaluated each configuration using cross-validation to ensure robustness. This demonstrates my ability to apply advanced model optimization techniques and contribute meaningfully to the overall performance of our solution.</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rgbClr val="F5C1A8"/>
                    </a:solidFill>
                  </a:tcPr>
                </a:tc>
                <a:tc>
                  <a:txBody>
                    <a:bodyPr/>
                    <a:lstStyle/>
                    <a:p>
                      <a:pPr algn="l" fontAlgn="t"/>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believe I have achieved this ILO by iteratively refining our machine learning models through a series of well-structured steps aimed at improving performance while staying aligned with the business objective. I applied data balancing techniques such as over-sampling and under-sampling to address class imbalance, ensuring that the model did not favor any particular class. I also conducted hyperparameter tuning using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GridSearchCV</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to optimize model configurations and enhance predictive accuracy. Each iteration was evaluated against performance metrics relevant to our business goal, and adjustments were made based on those results. This continuous improvement process ensured that the final model not only performed well technically but also provided meaningful insights and value in the context of our business case.</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extLst>
                  <a:ext uri="{0D108BD9-81ED-4DB2-BD59-A6C34878D82A}">
                    <a16:rowId xmlns:a16="http://schemas.microsoft.com/office/drawing/2014/main" val="3577151072"/>
                  </a:ext>
                </a:extLst>
              </a:tr>
              <a:tr h="1126667">
                <a:tc>
                  <a:txBody>
                    <a:bodyPr/>
                    <a:lstStyle/>
                    <a:p>
                      <a:pPr lvl="0">
                        <a:buNone/>
                      </a:pPr>
                      <a:r>
                        <a:rPr lang="en-US" sz="700" b="1" dirty="0">
                          <a:latin typeface="Roboto" panose="02000000000000000000" pitchFamily="2" charset="0"/>
                          <a:ea typeface="Roboto" panose="02000000000000000000" pitchFamily="2" charset="0"/>
                          <a:cs typeface="Roboto" panose="02000000000000000000" pitchFamily="2" charset="0"/>
                        </a:rPr>
                        <a:t>Provide links </a:t>
                      </a:r>
                      <a:r>
                        <a:rPr lang="en-US" sz="700" b="1" dirty="0" err="1">
                          <a:latin typeface="Roboto" panose="02000000000000000000" pitchFamily="2" charset="0"/>
                          <a:ea typeface="Roboto" panose="02000000000000000000" pitchFamily="2" charset="0"/>
                          <a:cs typeface="Roboto" panose="02000000000000000000" pitchFamily="2" charset="0"/>
                        </a:rPr>
                        <a:t>to:</a:t>
                      </a:r>
                      <a:r>
                        <a:rPr lang="en-US" sz="700" b="1" dirty="0" err="1">
                          <a:latin typeface="Roboto" panose="02000000000000000000" pitchFamily="2" charset="0"/>
                          <a:ea typeface="Roboto" panose="02000000000000000000" pitchFamily="2" charset="0"/>
                          <a:cs typeface="Roboto" panose="02000000000000000000" pitchFamily="2" charset="0"/>
                          <a:hlinkClick r:id="rId3"/>
                        </a:rPr>
                        <a:t>Link</a:t>
                      </a:r>
                      <a:endParaRPr lang="en-US" sz="700" b="1" dirty="0">
                        <a:latin typeface="Roboto" panose="02000000000000000000" pitchFamily="2" charset="0"/>
                        <a:ea typeface="Roboto" panose="02000000000000000000" pitchFamily="2" charset="0"/>
                        <a:cs typeface="Roboto" panose="02000000000000000000" pitchFamily="2" charset="0"/>
                      </a:endParaRPr>
                    </a:p>
                    <a:p>
                      <a:pPr marL="171450" marR="0" lvl="0" indent="-171450" algn="l" defTabSz="914400" rtl="0" eaLnBrk="1" fontAlgn="auto" latinLnBrk="0" hangingPunct="1">
                        <a:lnSpc>
                          <a:spcPct val="100000"/>
                        </a:lnSpc>
                        <a:spcBef>
                          <a:spcPts val="0"/>
                        </a:spcBef>
                        <a:spcAft>
                          <a:spcPts val="0"/>
                        </a:spcAft>
                        <a:buClr>
                          <a:srgbClr val="000000"/>
                        </a:buClr>
                        <a:buSzTx/>
                        <a:buFontTx/>
                        <a:buChar char="-"/>
                        <a:tabLst/>
                        <a:defRPr/>
                      </a:pPr>
                      <a:r>
                        <a:rPr lang="en-US" sz="700" dirty="0" err="1">
                          <a:latin typeface="Roboto" panose="02000000000000000000" pitchFamily="2" charset="0"/>
                          <a:ea typeface="Roboto" panose="02000000000000000000" pitchFamily="2" charset="0"/>
                          <a:cs typeface="Roboto" panose="02000000000000000000" pitchFamily="2" charset="0"/>
                        </a:rPr>
                        <a:t>GroupTasksContributions_Template</a:t>
                      </a:r>
                      <a:endParaRPr lang="en-US" sz="700" dirty="0">
                        <a:latin typeface="Roboto" panose="02000000000000000000" pitchFamily="2" charset="0"/>
                        <a:ea typeface="Roboto" panose="02000000000000000000" pitchFamily="2" charset="0"/>
                        <a:cs typeface="Roboto" panose="02000000000000000000" pitchFamily="2" charset="0"/>
                      </a:endParaRPr>
                    </a:p>
                  </a:txBody>
                  <a:tcPr>
                    <a:solidFill>
                      <a:srgbClr val="FFFBD3"/>
                    </a:solidFill>
                  </a:tcPr>
                </a:tc>
                <a:tc>
                  <a:txBody>
                    <a:bodyPr/>
                    <a:lstStyle/>
                    <a:p>
                      <a:pPr lvl="0">
                        <a:buNone/>
                      </a:pPr>
                      <a:r>
                        <a:rPr lang="en-US" sz="700" b="1" dirty="0">
                          <a:latin typeface="Roboto" panose="02000000000000000000" pitchFamily="2" charset="0"/>
                          <a:ea typeface="Roboto" panose="02000000000000000000" pitchFamily="2" charset="0"/>
                          <a:cs typeface="Roboto" panose="02000000000000000000" pitchFamily="2" charset="0"/>
                        </a:rPr>
                        <a:t>Provide links to:</a:t>
                      </a:r>
                    </a:p>
                    <a:p>
                      <a:pPr lvl="0">
                        <a:buNone/>
                      </a:pPr>
                      <a:r>
                        <a:rPr lang="en-US" sz="700" b="1" dirty="0">
                          <a:latin typeface="Roboto" panose="02000000000000000000" pitchFamily="2" charset="0"/>
                          <a:ea typeface="Roboto" panose="02000000000000000000" pitchFamily="2" charset="0"/>
                          <a:cs typeface="Roboto" panose="02000000000000000000" pitchFamily="2" charset="0"/>
                          <a:hlinkClick r:id="rId4"/>
                        </a:rPr>
                        <a:t>Time series</a:t>
                      </a:r>
                      <a:endParaRPr lang="en-US" sz="700" b="1" dirty="0">
                        <a:latin typeface="Roboto" panose="02000000000000000000" pitchFamily="2" charset="0"/>
                        <a:ea typeface="Roboto" panose="02000000000000000000" pitchFamily="2" charset="0"/>
                        <a:cs typeface="Roboto" panose="02000000000000000000" pitchFamily="2" charset="0"/>
                      </a:endParaRPr>
                    </a:p>
                    <a:p>
                      <a:pPr marL="171450" lvl="0" indent="-171450">
                        <a:buFontTx/>
                        <a:buChar char="-"/>
                      </a:pPr>
                      <a:r>
                        <a:rPr lang="en-US" sz="700" dirty="0" err="1">
                          <a:latin typeface="Roboto" panose="02000000000000000000" pitchFamily="2" charset="0"/>
                          <a:ea typeface="Roboto" panose="02000000000000000000" pitchFamily="2" charset="0"/>
                          <a:cs typeface="Roboto" panose="02000000000000000000" pitchFamily="2" charset="0"/>
                        </a:rPr>
                        <a:t>TimeSeries_Template</a:t>
                      </a:r>
                      <a:endParaRPr lang="en-US" sz="700" dirty="0">
                        <a:latin typeface="Roboto" panose="02000000000000000000" pitchFamily="2" charset="0"/>
                        <a:ea typeface="Roboto" panose="02000000000000000000" pitchFamily="2" charset="0"/>
                        <a:cs typeface="Roboto" panose="02000000000000000000" pitchFamily="2" charset="0"/>
                      </a:endParaRPr>
                    </a:p>
                    <a:p>
                      <a:pPr marL="171450" lvl="0" indent="-171450">
                        <a:buFontTx/>
                        <a:buChar char="-"/>
                      </a:pPr>
                      <a:endParaRPr lang="en-US" sz="700" dirty="0">
                        <a:latin typeface="Roboto" panose="02000000000000000000" pitchFamily="2" charset="0"/>
                        <a:ea typeface="Roboto" panose="02000000000000000000" pitchFamily="2" charset="0"/>
                        <a:cs typeface="Roboto" panose="02000000000000000000" pitchFamily="2" charset="0"/>
                      </a:endParaRPr>
                    </a:p>
                    <a:p>
                      <a:pPr marL="171450" lvl="0" indent="-171450">
                        <a:buFontTx/>
                        <a:buChar char="-"/>
                      </a:pPr>
                      <a:endParaRPr lang="en-US" sz="700" dirty="0">
                        <a:latin typeface="Roboto" panose="02000000000000000000" pitchFamily="2" charset="0"/>
                        <a:ea typeface="Roboto" panose="02000000000000000000" pitchFamily="2" charset="0"/>
                        <a:cs typeface="Roboto" panose="02000000000000000000" pitchFamily="2" charset="0"/>
                      </a:endParaRPr>
                    </a:p>
                    <a:p>
                      <a:pPr marL="171450" lvl="0" indent="-171450">
                        <a:buFontTx/>
                        <a:buChar char="-"/>
                      </a:pPr>
                      <a:r>
                        <a:rPr lang="en-US" sz="700" dirty="0" err="1">
                          <a:latin typeface="Roboto" panose="02000000000000000000" pitchFamily="2" charset="0"/>
                          <a:ea typeface="Roboto" panose="02000000000000000000" pitchFamily="2" charset="0"/>
                          <a:cs typeface="Roboto" panose="02000000000000000000" pitchFamily="2" charset="0"/>
                        </a:rPr>
                        <a:t>FinalProject_Template</a:t>
                      </a:r>
                      <a:endParaRPr lang="en-US" sz="700" dirty="0">
                        <a:latin typeface="Roboto" panose="02000000000000000000" pitchFamily="2" charset="0"/>
                        <a:ea typeface="Roboto" panose="02000000000000000000" pitchFamily="2" charset="0"/>
                        <a:cs typeface="Roboto" panose="02000000000000000000" pitchFamily="2" charset="0"/>
                      </a:endParaRPr>
                    </a:p>
                    <a:p>
                      <a:pPr marL="171450" lvl="0" indent="-171450">
                        <a:buFontTx/>
                        <a:buChar char="-"/>
                      </a:pPr>
                      <a:endParaRPr lang="en-US" sz="700" dirty="0">
                        <a:latin typeface="Roboto" panose="02000000000000000000" pitchFamily="2" charset="0"/>
                        <a:ea typeface="Roboto" panose="02000000000000000000" pitchFamily="2" charset="0"/>
                        <a:cs typeface="Roboto" panose="02000000000000000000" pitchFamily="2" charset="0"/>
                      </a:endParaRPr>
                    </a:p>
                    <a:p>
                      <a:pPr marL="0" lvl="0" indent="0">
                        <a:buFontTx/>
                        <a:buNone/>
                      </a:pPr>
                      <a:r>
                        <a:rPr lang="en-US" sz="700" dirty="0">
                          <a:latin typeface="Roboto" panose="02000000000000000000" pitchFamily="2" charset="0"/>
                          <a:ea typeface="Roboto" panose="02000000000000000000" pitchFamily="2" charset="0"/>
                          <a:cs typeface="Roboto" panose="02000000000000000000" pitchFamily="2" charset="0"/>
                          <a:hlinkClick r:id="rId5"/>
                        </a:rPr>
                        <a:t>Final Project</a:t>
                      </a:r>
                      <a:endParaRPr lang="en-US" sz="700" dirty="0">
                        <a:latin typeface="Roboto" panose="02000000000000000000" pitchFamily="2" charset="0"/>
                        <a:ea typeface="Roboto" panose="02000000000000000000" pitchFamily="2" charset="0"/>
                        <a:cs typeface="Roboto" panose="02000000000000000000" pitchFamily="2" charset="0"/>
                      </a:endParaRPr>
                    </a:p>
                    <a:p>
                      <a:pPr lvl="0">
                        <a:buNone/>
                      </a:pPr>
                      <a:endParaRPr lang="en-US"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pPr lvl="0">
                        <a:buNone/>
                      </a:pPr>
                      <a:r>
                        <a:rPr lang="en-US" sz="700" b="1" dirty="0">
                          <a:latin typeface="Roboto" panose="02000000000000000000" pitchFamily="2" charset="0"/>
                          <a:ea typeface="Roboto" panose="02000000000000000000" pitchFamily="2" charset="0"/>
                          <a:cs typeface="Roboto" panose="02000000000000000000" pitchFamily="2" charset="0"/>
                        </a:rPr>
                        <a:t>Provide links to:</a:t>
                      </a:r>
                    </a:p>
                    <a:p>
                      <a:pPr lvl="0">
                        <a:buNone/>
                      </a:pPr>
                      <a:r>
                        <a:rPr lang="en-US" sz="700" b="1" dirty="0">
                          <a:latin typeface="Roboto" panose="02000000000000000000" pitchFamily="2" charset="0"/>
                          <a:ea typeface="Roboto" panose="02000000000000000000" pitchFamily="2" charset="0"/>
                          <a:cs typeface="Roboto" panose="02000000000000000000" pitchFamily="2" charset="0"/>
                          <a:hlinkClick r:id="rId4"/>
                        </a:rPr>
                        <a:t>Time series</a:t>
                      </a:r>
                      <a:endParaRPr lang="en-US" sz="700" b="1" dirty="0">
                        <a:latin typeface="Roboto" panose="02000000000000000000" pitchFamily="2" charset="0"/>
                        <a:ea typeface="Roboto" panose="02000000000000000000" pitchFamily="2" charset="0"/>
                        <a:cs typeface="Roboto" panose="02000000000000000000" pitchFamily="2" charset="0"/>
                      </a:endParaRPr>
                    </a:p>
                    <a:p>
                      <a:pPr marL="171450" lvl="0" indent="-171450">
                        <a:buFontTx/>
                        <a:buChar char="-"/>
                      </a:pPr>
                      <a:r>
                        <a:rPr lang="en-US" sz="700" dirty="0" err="1">
                          <a:latin typeface="Roboto" panose="02000000000000000000" pitchFamily="2" charset="0"/>
                          <a:ea typeface="Roboto" panose="02000000000000000000" pitchFamily="2" charset="0"/>
                          <a:cs typeface="Roboto" panose="02000000000000000000" pitchFamily="2" charset="0"/>
                        </a:rPr>
                        <a:t>TimeSeries_Template</a:t>
                      </a:r>
                      <a:endParaRPr lang="en-US" sz="700" dirty="0">
                        <a:latin typeface="Roboto" panose="02000000000000000000" pitchFamily="2" charset="0"/>
                        <a:ea typeface="Roboto" panose="02000000000000000000" pitchFamily="2" charset="0"/>
                        <a:cs typeface="Roboto" panose="02000000000000000000" pitchFamily="2" charset="0"/>
                      </a:endParaRPr>
                    </a:p>
                    <a:p>
                      <a:pPr marL="171450" lvl="0" indent="-171450">
                        <a:buFontTx/>
                        <a:buChar char="-"/>
                      </a:pPr>
                      <a:endParaRPr lang="en-US" sz="700" dirty="0">
                        <a:latin typeface="Roboto" panose="02000000000000000000" pitchFamily="2" charset="0"/>
                        <a:ea typeface="Roboto" panose="02000000000000000000" pitchFamily="2" charset="0"/>
                        <a:cs typeface="Roboto" panose="02000000000000000000" pitchFamily="2" charset="0"/>
                      </a:endParaRPr>
                    </a:p>
                    <a:p>
                      <a:pPr marL="171450" lvl="0" indent="-171450">
                        <a:buFontTx/>
                        <a:buChar char="-"/>
                      </a:pPr>
                      <a:r>
                        <a:rPr lang="en-US" sz="700" dirty="0" err="1">
                          <a:latin typeface="Roboto" panose="02000000000000000000" pitchFamily="2" charset="0"/>
                          <a:ea typeface="Roboto" panose="02000000000000000000" pitchFamily="2" charset="0"/>
                          <a:cs typeface="Roboto" panose="02000000000000000000" pitchFamily="2" charset="0"/>
                        </a:rPr>
                        <a:t>FinalProject_Template</a:t>
                      </a:r>
                      <a:endParaRPr lang="en-US" sz="700" dirty="0">
                        <a:latin typeface="Roboto" panose="02000000000000000000" pitchFamily="2" charset="0"/>
                        <a:ea typeface="Roboto" panose="02000000000000000000" pitchFamily="2" charset="0"/>
                        <a:cs typeface="Roboto" panose="02000000000000000000" pitchFamily="2" charset="0"/>
                      </a:endParaRPr>
                    </a:p>
                    <a:p>
                      <a:pPr marL="171450" lvl="0" indent="-171450">
                        <a:buFontTx/>
                        <a:buChar char="-"/>
                      </a:pPr>
                      <a:r>
                        <a:rPr lang="en-US" sz="700" dirty="0" err="1">
                          <a:latin typeface="Roboto" panose="02000000000000000000" pitchFamily="2" charset="0"/>
                          <a:ea typeface="Roboto" panose="02000000000000000000" pitchFamily="2" charset="0"/>
                          <a:cs typeface="Roboto" panose="02000000000000000000" pitchFamily="2" charset="0"/>
                          <a:hlinkClick r:id="rId5"/>
                        </a:rPr>
                        <a:t>FinalProject</a:t>
                      </a:r>
                      <a:endParaRPr lang="en-US" sz="700" dirty="0">
                        <a:latin typeface="Roboto" panose="02000000000000000000" pitchFamily="2" charset="0"/>
                        <a:ea typeface="Roboto" panose="02000000000000000000" pitchFamily="2" charset="0"/>
                        <a:cs typeface="Roboto" panose="02000000000000000000" pitchFamily="2" charset="0"/>
                      </a:endParaRPr>
                    </a:p>
                    <a:p>
                      <a:pPr lvl="0">
                        <a:buNone/>
                      </a:pPr>
                      <a:endParaRPr lang="en-US" sz="700" dirty="0">
                        <a:latin typeface="Roboto" panose="02000000000000000000" pitchFamily="2" charset="0"/>
                        <a:ea typeface="Roboto" panose="02000000000000000000" pitchFamily="2" charset="0"/>
                        <a:cs typeface="Roboto" panose="02000000000000000000" pitchFamily="2" charset="0"/>
                      </a:endParaRPr>
                    </a:p>
                  </a:txBody>
                  <a:tcPr>
                    <a:solidFill>
                      <a:srgbClr val="F5C1A8"/>
                    </a:solidFill>
                  </a:tcPr>
                </a:tc>
                <a:tc>
                  <a:txBody>
                    <a:bodyPr/>
                    <a:lstStyle/>
                    <a:p>
                      <a:pPr lvl="0">
                        <a:buNone/>
                      </a:pPr>
                      <a:r>
                        <a:rPr lang="en-US" sz="700" b="1" dirty="0">
                          <a:latin typeface="Roboto" panose="02000000000000000000" pitchFamily="2" charset="0"/>
                          <a:ea typeface="Roboto" panose="02000000000000000000" pitchFamily="2" charset="0"/>
                          <a:cs typeface="Roboto" panose="02000000000000000000" pitchFamily="2" charset="0"/>
                        </a:rPr>
                        <a:t>Provide links to:</a:t>
                      </a:r>
                    </a:p>
                    <a:p>
                      <a:pPr lvl="0">
                        <a:buNone/>
                      </a:pPr>
                      <a:r>
                        <a:rPr lang="en-US" sz="700" b="1" dirty="0">
                          <a:latin typeface="Roboto" panose="02000000000000000000" pitchFamily="2" charset="0"/>
                          <a:ea typeface="Roboto" panose="02000000000000000000" pitchFamily="2" charset="0"/>
                          <a:cs typeface="Roboto" panose="02000000000000000000" pitchFamily="2" charset="0"/>
                          <a:hlinkClick r:id="rId4"/>
                        </a:rPr>
                        <a:t>Time series</a:t>
                      </a:r>
                      <a:endParaRPr lang="en-US" sz="700" b="1" dirty="0">
                        <a:latin typeface="Roboto" panose="02000000000000000000" pitchFamily="2" charset="0"/>
                        <a:ea typeface="Roboto" panose="02000000000000000000" pitchFamily="2" charset="0"/>
                        <a:cs typeface="Roboto" panose="02000000000000000000" pitchFamily="2" charset="0"/>
                      </a:endParaRPr>
                    </a:p>
                    <a:p>
                      <a:pPr marL="171450" lvl="0" indent="-171450">
                        <a:buFontTx/>
                        <a:buChar char="-"/>
                      </a:pPr>
                      <a:r>
                        <a:rPr lang="en-US" sz="700" dirty="0" err="1">
                          <a:latin typeface="Roboto" panose="02000000000000000000" pitchFamily="2" charset="0"/>
                          <a:ea typeface="Roboto" panose="02000000000000000000" pitchFamily="2" charset="0"/>
                          <a:cs typeface="Roboto" panose="02000000000000000000" pitchFamily="2" charset="0"/>
                        </a:rPr>
                        <a:t>TimeSeries_Template</a:t>
                      </a:r>
                      <a:endParaRPr lang="en-US" sz="700" dirty="0">
                        <a:latin typeface="Roboto" panose="02000000000000000000" pitchFamily="2" charset="0"/>
                        <a:ea typeface="Roboto" panose="02000000000000000000" pitchFamily="2" charset="0"/>
                        <a:cs typeface="Roboto" panose="02000000000000000000" pitchFamily="2" charset="0"/>
                      </a:endParaRPr>
                    </a:p>
                    <a:p>
                      <a:pPr marL="0" lvl="0" indent="0">
                        <a:buFontTx/>
                        <a:buNone/>
                      </a:pPr>
                      <a:endParaRPr lang="en-US" sz="700" dirty="0">
                        <a:latin typeface="Roboto" panose="02000000000000000000" pitchFamily="2" charset="0"/>
                        <a:ea typeface="Roboto" panose="02000000000000000000" pitchFamily="2" charset="0"/>
                        <a:cs typeface="Roboto" panose="02000000000000000000" pitchFamily="2" charset="0"/>
                      </a:endParaRPr>
                    </a:p>
                    <a:p>
                      <a:pPr marL="171450" marR="0" lvl="0" indent="-171450" algn="l" defTabSz="914400" rtl="0" eaLnBrk="1" fontAlgn="auto" latinLnBrk="0" hangingPunct="1">
                        <a:lnSpc>
                          <a:spcPct val="100000"/>
                        </a:lnSpc>
                        <a:spcBef>
                          <a:spcPts val="0"/>
                        </a:spcBef>
                        <a:spcAft>
                          <a:spcPts val="0"/>
                        </a:spcAft>
                        <a:buClr>
                          <a:srgbClr val="000000"/>
                        </a:buClr>
                        <a:buSzTx/>
                        <a:buFontTx/>
                        <a:buChar char="-"/>
                        <a:tabLst/>
                        <a:defRPr/>
                      </a:pPr>
                      <a:r>
                        <a:rPr lang="en-US" sz="700" dirty="0" err="1">
                          <a:latin typeface="Roboto" panose="02000000000000000000" pitchFamily="2" charset="0"/>
                          <a:ea typeface="Roboto" panose="02000000000000000000" pitchFamily="2" charset="0"/>
                          <a:cs typeface="Roboto" panose="02000000000000000000" pitchFamily="2" charset="0"/>
                        </a:rPr>
                        <a:t>FinalProject_Template</a:t>
                      </a:r>
                      <a:endParaRPr lang="en-US" sz="700" dirty="0">
                        <a:latin typeface="Roboto" panose="02000000000000000000" pitchFamily="2" charset="0"/>
                        <a:ea typeface="Roboto" panose="02000000000000000000" pitchFamily="2" charset="0"/>
                        <a:cs typeface="Roboto" panose="02000000000000000000" pitchFamily="2" charset="0"/>
                      </a:endParaRPr>
                    </a:p>
                    <a:p>
                      <a:pPr lvl="0">
                        <a:buNone/>
                      </a:pPr>
                      <a:r>
                        <a:rPr lang="en-US" sz="700" dirty="0">
                          <a:latin typeface="Roboto" panose="02000000000000000000" pitchFamily="2" charset="0"/>
                          <a:ea typeface="Roboto" panose="02000000000000000000" pitchFamily="2" charset="0"/>
                          <a:cs typeface="Roboto" panose="02000000000000000000" pitchFamily="2" charset="0"/>
                          <a:hlinkClick r:id="rId5"/>
                        </a:rPr>
                        <a:t>Final Project</a:t>
                      </a:r>
                      <a:endParaRPr lang="en-US"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extLst>
                  <a:ext uri="{0D108BD9-81ED-4DB2-BD59-A6C34878D82A}">
                    <a16:rowId xmlns:a16="http://schemas.microsoft.com/office/drawing/2014/main" val="740005107"/>
                  </a:ext>
                </a:extLst>
              </a:tr>
            </a:tbl>
          </a:graphicData>
        </a:graphic>
      </p:graphicFrame>
    </p:spTree>
    <p:extLst>
      <p:ext uri="{BB962C8B-B14F-4D97-AF65-F5344CB8AC3E}">
        <p14:creationId xmlns:p14="http://schemas.microsoft.com/office/powerpoint/2010/main" val="32705869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2">
          <a:extLst>
            <a:ext uri="{FF2B5EF4-FFF2-40B4-BE49-F238E27FC236}">
              <a16:creationId xmlns:a16="http://schemas.microsoft.com/office/drawing/2014/main" id="{F53F2113-1082-5FEF-8CB2-28D3FF123FA9}"/>
            </a:ext>
          </a:extLst>
        </p:cNvPr>
        <p:cNvGrpSpPr/>
        <p:nvPr/>
      </p:nvGrpSpPr>
      <p:grpSpPr>
        <a:xfrm>
          <a:off x="0" y="0"/>
          <a:ext cx="0" cy="0"/>
          <a:chOff x="0" y="0"/>
          <a:chExt cx="0" cy="0"/>
        </a:xfrm>
      </p:grpSpPr>
      <p:sp>
        <p:nvSpPr>
          <p:cNvPr id="363" name="Google Shape;363;p39">
            <a:extLst>
              <a:ext uri="{FF2B5EF4-FFF2-40B4-BE49-F238E27FC236}">
                <a16:creationId xmlns:a16="http://schemas.microsoft.com/office/drawing/2014/main" id="{DEDD5D99-970D-6658-065B-9147ADDF48C4}"/>
              </a:ext>
            </a:extLst>
          </p:cNvPr>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ILO </a:t>
            </a:r>
            <a:r>
              <a:rPr lang="en-NL" dirty="0"/>
              <a:t>9</a:t>
            </a:r>
            <a:endParaRPr dirty="0"/>
          </a:p>
        </p:txBody>
      </p:sp>
      <p:sp>
        <p:nvSpPr>
          <p:cNvPr id="364" name="Google Shape;364;p39">
            <a:extLst>
              <a:ext uri="{FF2B5EF4-FFF2-40B4-BE49-F238E27FC236}">
                <a16:creationId xmlns:a16="http://schemas.microsoft.com/office/drawing/2014/main" id="{2D31BC50-E978-EAA4-F164-D5CFF20AB6F7}"/>
              </a:ext>
            </a:extLst>
          </p:cNvPr>
          <p:cNvSpPr txBox="1">
            <a:spLocks noGrp="1"/>
          </p:cNvSpPr>
          <p:nvPr>
            <p:ph type="subTitle" idx="1"/>
          </p:nvPr>
        </p:nvSpPr>
        <p:spPr>
          <a:xfrm>
            <a:off x="2054432" y="3248481"/>
            <a:ext cx="6400800" cy="992126"/>
          </a:xfrm>
          <a:prstGeom prst="rect">
            <a:avLst/>
          </a:prstGeom>
        </p:spPr>
        <p:txBody>
          <a:bodyPr spcFirstLastPara="1" wrap="square" lIns="91425" tIns="91425" rIns="91425" bIns="91425" anchor="ctr" anchorCtr="0">
            <a:noAutofit/>
          </a:bodyPr>
          <a:lstStyle/>
          <a:p>
            <a:pPr marL="0" indent="0"/>
            <a:r>
              <a:rPr lang="en-GB" sz="1000" dirty="0"/>
              <a:t>The student can develop a prototype using an iterative cycle, explicitly involving stakeholders, and implement applications within an (existing) architecture. </a:t>
            </a:r>
          </a:p>
        </p:txBody>
      </p:sp>
      <p:sp>
        <p:nvSpPr>
          <p:cNvPr id="365" name="Google Shape;365;p39">
            <a:extLst>
              <a:ext uri="{FF2B5EF4-FFF2-40B4-BE49-F238E27FC236}">
                <a16:creationId xmlns:a16="http://schemas.microsoft.com/office/drawing/2014/main" id="{3BF6AA00-7FEE-6CB5-87EA-C20A9AA5EAEA}"/>
              </a:ext>
            </a:extLst>
          </p:cNvPr>
          <p:cNvSpPr txBox="1">
            <a:spLocks noGrp="1"/>
          </p:cNvSpPr>
          <p:nvPr>
            <p:ph type="subTitle" idx="2"/>
          </p:nvPr>
        </p:nvSpPr>
        <p:spPr>
          <a:xfrm>
            <a:off x="2629317" y="2473577"/>
            <a:ext cx="5486400" cy="685800"/>
          </a:xfrm>
          <a:prstGeom prst="rect">
            <a:avLst/>
          </a:prstGeom>
        </p:spPr>
        <p:txBody>
          <a:bodyPr spcFirstLastPara="1" wrap="square" lIns="91425" tIns="91425" rIns="91425" bIns="91425" anchor="ctr" anchorCtr="0">
            <a:noAutofit/>
          </a:bodyPr>
          <a:lstStyle/>
          <a:p>
            <a:pPr marL="0" indent="0" algn="ctr"/>
            <a:r>
              <a:rPr lang="en" sz="3000" dirty="0"/>
              <a:t>Design, Prototyping and Implementation</a:t>
            </a:r>
          </a:p>
        </p:txBody>
      </p:sp>
    </p:spTree>
    <p:extLst>
      <p:ext uri="{BB962C8B-B14F-4D97-AF65-F5344CB8AC3E}">
        <p14:creationId xmlns:p14="http://schemas.microsoft.com/office/powerpoint/2010/main" val="6802873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92">
          <a:extLst>
            <a:ext uri="{FF2B5EF4-FFF2-40B4-BE49-F238E27FC236}">
              <a16:creationId xmlns:a16="http://schemas.microsoft.com/office/drawing/2014/main" id="{E88424D9-6AAF-84DF-BB16-9CE1770924F9}"/>
            </a:ext>
          </a:extLst>
        </p:cNvPr>
        <p:cNvGrpSpPr/>
        <p:nvPr/>
      </p:nvGrpSpPr>
      <p:grpSpPr>
        <a:xfrm>
          <a:off x="0" y="0"/>
          <a:ext cx="0" cy="0"/>
          <a:chOff x="0" y="0"/>
          <a:chExt cx="0" cy="0"/>
        </a:xfrm>
      </p:grpSpPr>
      <p:sp>
        <p:nvSpPr>
          <p:cNvPr id="393" name="Google Shape;393;p42">
            <a:extLst>
              <a:ext uri="{FF2B5EF4-FFF2-40B4-BE49-F238E27FC236}">
                <a16:creationId xmlns:a16="http://schemas.microsoft.com/office/drawing/2014/main" id="{7FCE9C10-02A8-62A8-78F5-6CDFF0D2BB5E}"/>
              </a:ext>
            </a:extLst>
          </p:cNvPr>
          <p:cNvSpPr txBox="1">
            <a:spLocks noGrp="1"/>
          </p:cNvSpPr>
          <p:nvPr>
            <p:ph type="title"/>
          </p:nvPr>
        </p:nvSpPr>
        <p:spPr>
          <a:xfrm>
            <a:off x="68250" y="0"/>
            <a:ext cx="777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ILO </a:t>
            </a:r>
            <a:r>
              <a:rPr lang="en-NL" dirty="0"/>
              <a:t>9</a:t>
            </a:r>
            <a:endParaRPr dirty="0"/>
          </a:p>
        </p:txBody>
      </p:sp>
      <p:sp>
        <p:nvSpPr>
          <p:cNvPr id="394" name="Google Shape;394;p42">
            <a:extLst>
              <a:ext uri="{FF2B5EF4-FFF2-40B4-BE49-F238E27FC236}">
                <a16:creationId xmlns:a16="http://schemas.microsoft.com/office/drawing/2014/main" id="{062AEB2E-93B9-2E26-D840-BB7EE0EFF698}"/>
              </a:ext>
            </a:extLst>
          </p:cNvPr>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NL"/>
              <a:t>1</a:t>
            </a:r>
            <a:r>
              <a:rPr lang="en"/>
              <a:t>/</a:t>
            </a:r>
            <a:r>
              <a:rPr lang="en-NL"/>
              <a:t>1</a:t>
            </a:r>
            <a:endParaRPr/>
          </a:p>
        </p:txBody>
      </p:sp>
      <p:sp>
        <p:nvSpPr>
          <p:cNvPr id="396" name="Google Shape;396;p42">
            <a:extLst>
              <a:ext uri="{FF2B5EF4-FFF2-40B4-BE49-F238E27FC236}">
                <a16:creationId xmlns:a16="http://schemas.microsoft.com/office/drawing/2014/main" id="{207AC102-27ED-790F-5A64-2EB5882FB215}"/>
              </a:ext>
            </a:extLst>
          </p:cNvPr>
          <p:cNvSpPr txBox="1">
            <a:spLocks noGrp="1"/>
          </p:cNvSpPr>
          <p:nvPr>
            <p:ph type="title" idx="3"/>
          </p:nvPr>
        </p:nvSpPr>
        <p:spPr>
          <a:xfrm>
            <a:off x="2049461" y="0"/>
            <a:ext cx="6577962" cy="576000"/>
          </a:xfrm>
          <a:prstGeom prst="rect">
            <a:avLst/>
          </a:prstGeom>
        </p:spPr>
        <p:txBody>
          <a:bodyPr spcFirstLastPara="1" wrap="square" lIns="91425" tIns="91425" rIns="91425" bIns="91425" anchor="ctr" anchorCtr="0">
            <a:noAutofit/>
          </a:bodyPr>
          <a:lstStyle/>
          <a:p>
            <a:r>
              <a:rPr lang="en-GB" i="0" dirty="0"/>
              <a:t>The student can develop a prototype using an iterative cycle, explicitly involving stakeholders, and implement applications within an (existing) architecture. </a:t>
            </a:r>
            <a:endParaRPr lang="en-GB" dirty="0"/>
          </a:p>
        </p:txBody>
      </p:sp>
      <p:sp>
        <p:nvSpPr>
          <p:cNvPr id="397" name="Google Shape;397;p42">
            <a:extLst>
              <a:ext uri="{FF2B5EF4-FFF2-40B4-BE49-F238E27FC236}">
                <a16:creationId xmlns:a16="http://schemas.microsoft.com/office/drawing/2014/main" id="{AB6D9D3D-F062-87D9-9A00-946BB728D631}"/>
              </a:ext>
            </a:extLst>
          </p:cNvPr>
          <p:cNvSpPr txBox="1">
            <a:spLocks noGrp="1"/>
          </p:cNvSpPr>
          <p:nvPr>
            <p:ph type="title" idx="4"/>
          </p:nvPr>
        </p:nvSpPr>
        <p:spPr>
          <a:xfrm>
            <a:off x="0" y="576000"/>
            <a:ext cx="90795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dirty="0"/>
              <a:t>9</a:t>
            </a:r>
            <a:r>
              <a:rPr lang="en" dirty="0"/>
              <a:t>.</a:t>
            </a:r>
            <a:r>
              <a:rPr lang="en-NL" dirty="0"/>
              <a:t>2</a:t>
            </a:r>
            <a:endParaRPr dirty="0"/>
          </a:p>
        </p:txBody>
      </p:sp>
      <p:sp>
        <p:nvSpPr>
          <p:cNvPr id="398" name="Google Shape;398;p42">
            <a:extLst>
              <a:ext uri="{FF2B5EF4-FFF2-40B4-BE49-F238E27FC236}">
                <a16:creationId xmlns:a16="http://schemas.microsoft.com/office/drawing/2014/main" id="{A69655A9-D931-FFF0-D039-58DBB5E233EF}"/>
              </a:ext>
            </a:extLst>
          </p:cNvPr>
          <p:cNvSpPr txBox="1">
            <a:spLocks noGrp="1"/>
          </p:cNvSpPr>
          <p:nvPr>
            <p:ph type="title" idx="5"/>
          </p:nvPr>
        </p:nvSpPr>
        <p:spPr>
          <a:xfrm>
            <a:off x="845549" y="576000"/>
            <a:ext cx="8001568" cy="493800"/>
          </a:xfrm>
          <a:prstGeom prst="rect">
            <a:avLst/>
          </a:prstGeom>
        </p:spPr>
        <p:txBody>
          <a:bodyPr spcFirstLastPara="1" wrap="square" lIns="91425" tIns="91425" rIns="91425" bIns="91425" anchor="ctr" anchorCtr="0">
            <a:noAutofit/>
          </a:bodyPr>
          <a:lstStyle/>
          <a:p>
            <a:r>
              <a:rPr lang="en-GB" i="0" dirty="0"/>
              <a:t>The student demonstrates competency in the design, testing, and deployment of stakeholder-focused solutions using iterative development, creating maintainable, production-ready code following industry standards, and collaborates effectively with tools like version control and virtual environments. </a:t>
            </a:r>
            <a:endParaRPr lang="en-US" i="0" dirty="0"/>
          </a:p>
        </p:txBody>
      </p:sp>
      <p:sp>
        <p:nvSpPr>
          <p:cNvPr id="399" name="Google Shape;399;p42">
            <a:extLst>
              <a:ext uri="{FF2B5EF4-FFF2-40B4-BE49-F238E27FC236}">
                <a16:creationId xmlns:a16="http://schemas.microsoft.com/office/drawing/2014/main" id="{28EAD311-D892-6EC3-5060-8BEB382A820E}"/>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r>
              <a:rPr lang="en-GB" sz="900" dirty="0"/>
              <a:t>Design, Prototyping and Implementation </a:t>
            </a:r>
            <a:endParaRPr sz="900" dirty="0"/>
          </a:p>
        </p:txBody>
      </p:sp>
      <p:graphicFrame>
        <p:nvGraphicFramePr>
          <p:cNvPr id="3" name="Table 4">
            <a:extLst>
              <a:ext uri="{FF2B5EF4-FFF2-40B4-BE49-F238E27FC236}">
                <a16:creationId xmlns:a16="http://schemas.microsoft.com/office/drawing/2014/main" id="{54B01B88-A803-3B46-09BA-AB535B24A429}"/>
              </a:ext>
            </a:extLst>
          </p:cNvPr>
          <p:cNvGraphicFramePr>
            <a:graphicFrameLocks noGrp="1"/>
          </p:cNvGraphicFramePr>
          <p:nvPr>
            <p:extLst>
              <p:ext uri="{D42A27DB-BD31-4B8C-83A1-F6EECF244321}">
                <p14:modId xmlns:p14="http://schemas.microsoft.com/office/powerpoint/2010/main" val="2834696264"/>
              </p:ext>
            </p:extLst>
          </p:nvPr>
        </p:nvGraphicFramePr>
        <p:xfrm>
          <a:off x="-23100" y="1069800"/>
          <a:ext cx="9190199" cy="4967382"/>
        </p:xfrm>
        <a:graphic>
          <a:graphicData uri="http://schemas.openxmlformats.org/drawingml/2006/table">
            <a:tbl>
              <a:tblPr firstRow="1" bandRow="1">
                <a:tableStyleId>{764D4AE7-FFBC-431D-9275-528F30A785D3}</a:tableStyleId>
              </a:tblPr>
              <a:tblGrid>
                <a:gridCol w="1432280">
                  <a:extLst>
                    <a:ext uri="{9D8B030D-6E8A-4147-A177-3AD203B41FA5}">
                      <a16:colId xmlns:a16="http://schemas.microsoft.com/office/drawing/2014/main" val="3534130133"/>
                    </a:ext>
                  </a:extLst>
                </a:gridCol>
                <a:gridCol w="1780836">
                  <a:extLst>
                    <a:ext uri="{9D8B030D-6E8A-4147-A177-3AD203B41FA5}">
                      <a16:colId xmlns:a16="http://schemas.microsoft.com/office/drawing/2014/main" val="3367927302"/>
                    </a:ext>
                  </a:extLst>
                </a:gridCol>
                <a:gridCol w="1995463">
                  <a:extLst>
                    <a:ext uri="{9D8B030D-6E8A-4147-A177-3AD203B41FA5}">
                      <a16:colId xmlns:a16="http://schemas.microsoft.com/office/drawing/2014/main" val="3466084504"/>
                    </a:ext>
                  </a:extLst>
                </a:gridCol>
                <a:gridCol w="1990810">
                  <a:extLst>
                    <a:ext uri="{9D8B030D-6E8A-4147-A177-3AD203B41FA5}">
                      <a16:colId xmlns:a16="http://schemas.microsoft.com/office/drawing/2014/main" val="2514858810"/>
                    </a:ext>
                  </a:extLst>
                </a:gridCol>
                <a:gridCol w="1990810">
                  <a:extLst>
                    <a:ext uri="{9D8B030D-6E8A-4147-A177-3AD203B41FA5}">
                      <a16:colId xmlns:a16="http://schemas.microsoft.com/office/drawing/2014/main" val="3171433279"/>
                    </a:ext>
                  </a:extLst>
                </a:gridCol>
              </a:tblGrid>
              <a:tr h="350755">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Pre-requisites</a:t>
                      </a:r>
                      <a:endParaRPr lang="en-NL" sz="800" b="1" dirty="0">
                        <a:latin typeface="Roboto" panose="02000000000000000000" pitchFamily="2" charset="0"/>
                        <a:ea typeface="Roboto" panose="02000000000000000000" pitchFamily="2" charset="0"/>
                        <a:cs typeface="Roboto" panose="02000000000000000000" pitchFamily="2" charset="0"/>
                      </a:endParaRPr>
                    </a:p>
                  </a:txBody>
                  <a:tcPr>
                    <a:solidFill>
                      <a:srgbClr val="FFFBD3"/>
                    </a:solidFill>
                  </a:tcPr>
                </a:tc>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A: 2 points</a:t>
                      </a:r>
                      <a:endParaRPr lang="en-NL" sz="800" b="1"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B: 5 points</a:t>
                      </a:r>
                      <a:endParaRPr lang="en-NL" sz="800" b="1" dirty="0">
                        <a:latin typeface="Roboto" panose="02000000000000000000" pitchFamily="2" charset="0"/>
                        <a:ea typeface="Roboto" panose="02000000000000000000" pitchFamily="2" charset="0"/>
                        <a:cs typeface="Roboto" panose="02000000000000000000" pitchFamily="2" charset="0"/>
                      </a:endParaRPr>
                    </a:p>
                  </a:txBody>
                  <a:tcPr>
                    <a:solidFill>
                      <a:srgbClr val="F5C1A8"/>
                    </a:solidFill>
                  </a:tcPr>
                </a:tc>
                <a:tc>
                  <a:txBody>
                    <a:bodyPr/>
                    <a:lstStyle/>
                    <a:p>
                      <a:pPr algn="ctr"/>
                      <a:endParaRPr lang="en-GB" sz="800" b="1" dirty="0">
                        <a:latin typeface="Roboto" panose="02000000000000000000" pitchFamily="2" charset="0"/>
                        <a:ea typeface="Roboto" panose="02000000000000000000" pitchFamily="2" charset="0"/>
                        <a:cs typeface="Roboto" panose="02000000000000000000" pitchFamily="2" charset="0"/>
                      </a:endParaRPr>
                    </a:p>
                    <a:p>
                      <a:pPr algn="ctr"/>
                      <a:r>
                        <a:rPr lang="en-GB" sz="800" b="1" dirty="0">
                          <a:latin typeface="Roboto" panose="02000000000000000000" pitchFamily="2" charset="0"/>
                          <a:ea typeface="Roboto" panose="02000000000000000000" pitchFamily="2" charset="0"/>
                          <a:cs typeface="Roboto" panose="02000000000000000000" pitchFamily="2" charset="0"/>
                        </a:rPr>
                        <a:t>C: 4 points</a:t>
                      </a:r>
                      <a:endParaRPr lang="en-NL" sz="800" b="1"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pPr algn="ctr"/>
                      <a:endParaRPr lang="en-NL" sz="800" b="1" dirty="0">
                        <a:latin typeface="Roboto" panose="02000000000000000000" pitchFamily="2" charset="0"/>
                        <a:ea typeface="Roboto" panose="02000000000000000000" pitchFamily="2" charset="0"/>
                        <a:cs typeface="Roboto" panose="02000000000000000000" pitchFamily="2" charset="0"/>
                      </a:endParaRPr>
                    </a:p>
                    <a:p>
                      <a:pPr algn="ctr"/>
                      <a:r>
                        <a:rPr lang="en-NL" sz="800" b="1" dirty="0">
                          <a:latin typeface="Roboto" panose="02000000000000000000" pitchFamily="2" charset="0"/>
                          <a:ea typeface="Roboto" panose="02000000000000000000" pitchFamily="2" charset="0"/>
                          <a:cs typeface="Roboto" panose="02000000000000000000" pitchFamily="2" charset="0"/>
                        </a:rPr>
                        <a:t>D: 4 points</a:t>
                      </a:r>
                    </a:p>
                  </a:txBody>
                  <a:tcPr>
                    <a:solidFill>
                      <a:srgbClr val="F5C1A8"/>
                    </a:solidFill>
                  </a:tcPr>
                </a:tc>
                <a:extLst>
                  <a:ext uri="{0D108BD9-81ED-4DB2-BD59-A6C34878D82A}">
                    <a16:rowId xmlns:a16="http://schemas.microsoft.com/office/drawing/2014/main" val="1929066760"/>
                  </a:ext>
                </a:extLst>
              </a:tr>
              <a:tr h="669625">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700" dirty="0">
                          <a:latin typeface="Roboto" panose="02000000000000000000" pitchFamily="2" charset="0"/>
                          <a:ea typeface="Roboto" panose="02000000000000000000" pitchFamily="2" charset="0"/>
                          <a:cs typeface="Roboto" panose="02000000000000000000" pitchFamily="2" charset="0"/>
                        </a:rPr>
                        <a:t>Clear individual contribution to this ILO is documented. The student exhibits professional behaviour during </a:t>
                      </a:r>
                      <a:r>
                        <a:rPr lang="en-GB" sz="700" dirty="0" err="1">
                          <a:latin typeface="Roboto" panose="02000000000000000000" pitchFamily="2" charset="0"/>
                          <a:ea typeface="Roboto" panose="02000000000000000000" pitchFamily="2" charset="0"/>
                          <a:cs typeface="Roboto" panose="02000000000000000000" pitchFamily="2" charset="0"/>
                        </a:rPr>
                        <a:t>DataLab</a:t>
                      </a:r>
                      <a:r>
                        <a:rPr lang="en-GB" sz="700" dirty="0">
                          <a:latin typeface="Roboto" panose="02000000000000000000" pitchFamily="2" charset="0"/>
                          <a:ea typeface="Roboto" panose="02000000000000000000" pitchFamily="2" charset="0"/>
                          <a:cs typeface="Roboto" panose="02000000000000000000" pitchFamily="2" charset="0"/>
                        </a:rPr>
                        <a:t> sessions. Python scripts are submitted.</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rgbClr val="FFFBD3"/>
                    </a:solidFill>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700" dirty="0">
                          <a:latin typeface="Roboto" panose="02000000000000000000" pitchFamily="2" charset="0"/>
                          <a:ea typeface="Roboto" panose="02000000000000000000" pitchFamily="2" charset="0"/>
                          <a:cs typeface="Roboto" panose="02000000000000000000" pitchFamily="2" charset="0"/>
                        </a:rPr>
                        <a:t>The student demonstrates competency in the use of virtual environments, package managers, and code version control tools for collaborating on group data science projects.</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r>
                        <a:rPr lang="en-GB" sz="700" dirty="0">
                          <a:latin typeface="Roboto" panose="02000000000000000000" pitchFamily="2" charset="0"/>
                          <a:ea typeface="Roboto" panose="02000000000000000000" pitchFamily="2" charset="0"/>
                          <a:cs typeface="Roboto" panose="02000000000000000000" pitchFamily="2" charset="0"/>
                        </a:rPr>
                        <a:t>The student is able to create modular code that is at a basic level production ready and maintainable according to industry standards through the use of logging, linting, doc strings, code formatting for readability, refactoring etc.</a:t>
                      </a:r>
                    </a:p>
                  </a:txBody>
                  <a:tcPr anchor="ctr">
                    <a:solidFill>
                      <a:srgbClr val="F5C1A8"/>
                    </a:solidFill>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700" dirty="0">
                          <a:latin typeface="Roboto" panose="02000000000000000000" pitchFamily="2" charset="0"/>
                          <a:ea typeface="Roboto" panose="02000000000000000000" pitchFamily="2" charset="0"/>
                          <a:cs typeface="Roboto" panose="02000000000000000000" pitchFamily="2" charset="0"/>
                        </a:rPr>
                        <a:t>The student is able to develop meaningful Unit tests to contribute to the maintainability of a code base with multiple contributors to acceptable test coverage levels for The student project. The student uses industry standard tools to produce professional documentation for the project and code base.</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GB" sz="700" dirty="0">
                          <a:latin typeface="Roboto" panose="02000000000000000000" pitchFamily="2" charset="0"/>
                          <a:ea typeface="Roboto" panose="02000000000000000000" pitchFamily="2" charset="0"/>
                          <a:cs typeface="Roboto" panose="02000000000000000000" pitchFamily="2" charset="0"/>
                        </a:rPr>
                        <a:t>The student is able to produce a proof of concept application or dashboard to present the solution in a user friendly manner to non-technical stakeholders.</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rgbClr val="F5C1A8"/>
                    </a:solidFill>
                  </a:tcPr>
                </a:tc>
                <a:extLst>
                  <a:ext uri="{0D108BD9-81ED-4DB2-BD59-A6C34878D82A}">
                    <a16:rowId xmlns:a16="http://schemas.microsoft.com/office/drawing/2014/main" val="173029964"/>
                  </a:ext>
                </a:extLst>
              </a:tr>
              <a:tr h="1913211">
                <a:tc>
                  <a:txBody>
                    <a:bodyPr/>
                    <a:lstStyle/>
                    <a:p>
                      <a:pPr marL="0" marR="0" lvl="0" indent="0" algn="l" defTabSz="914400" rtl="0" eaLnBrk="1" fontAlgn="t" latinLnBrk="0" hangingPunct="1">
                        <a:lnSpc>
                          <a:spcPct val="100000"/>
                        </a:lnSpc>
                        <a:spcBef>
                          <a:spcPts val="0"/>
                        </a:spcBef>
                        <a:spcAft>
                          <a:spcPts val="0"/>
                        </a:spcAft>
                        <a:buClr>
                          <a:srgbClr val="000000"/>
                        </a:buClr>
                        <a:buSzTx/>
                        <a:buFont typeface="Arial"/>
                        <a:buNone/>
                        <a:tabLst/>
                        <a:defRPr/>
                      </a:pPr>
                      <a:r>
                        <a:rPr lang="en-US" sz="700" b="0" i="0" u="none" strike="noStrike" baseline="0" noProof="0" dirty="0">
                          <a:solidFill>
                            <a:srgbClr val="000000"/>
                          </a:solidFill>
                          <a:latin typeface="Roboto" panose="02000000000000000000" pitchFamily="2" charset="0"/>
                          <a:ea typeface="Roboto" panose="02000000000000000000" pitchFamily="2" charset="0"/>
                          <a:cs typeface="Roboto" panose="02000000000000000000" pitchFamily="2" charset="0"/>
                        </a:rPr>
                        <a:t>I believe I have achieved this ILO because, as evidenced by the link I provided, I consistently contributed to our three-member team by actively participating in collaborative work. Even for tasks where I was not directly responsible, I made an effort to support my teammates by reviewing their work and offering constructive feedback to enhance the overall quality of our project. My involvement went beyond completing assigned tasks—I aimed to contribute meaningfully to the team’s progress and ensure balanced participation. This demonstrates my commitment to teamwork, shared responsibility, and continuous improvement throughout the project.</a:t>
                      </a:r>
                    </a:p>
                  </a:txBody>
                  <a:tcPr>
                    <a:solidFill>
                      <a:srgbClr val="FFFBD3"/>
                    </a:solidFill>
                  </a:tcPr>
                </a:tc>
                <a:tc>
                  <a:txBody>
                    <a:bodyPr/>
                    <a:lstStyle/>
                    <a:p>
                      <a:pPr algn="l" fontAlgn="t"/>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iI</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believe I have achieved this ILO by effectively using virtual environments, package managers, and version control tools throughout our group data science project. We used virtual environments to maintain consistency across different development setups, ensuring that all dependencies were correctly managed and isolated. Package managers like pip and requirements.txt were used to install and share necessary libraries efficiently. Additionally, we collaborated using Git and GitHub, where I regularly committed code, reviewed pull requests, and helped resolve merge conflicts. This workflow allowed our team to work in parallel while maintaining a clean and organized codebase, demonstrating my competency in essential collaborative tools and practices for data science development.</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pPr algn="l" fontAlgn="t"/>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believe I have achieved this ILO by writing modular and maintainable code that follows basic industry standards. Throughout the project, I structured the code into clear, reusable functions and scripts, making it easier to debug, test, and update. I included descriptive docstrings for all major functions to clarify their purpose, inputs, and outputs. I also applied consistent code formatting using tools like black and checked for style issues with flake8 to ensure readability and adherence to PEP8 standards. Logging was incorporated into key steps of the pipeline to track execution and simplify troubleshooting. Additionally, I refactored parts of the codebase to remove redundancies and improve clarity, resulting in cleaner and more maintainable code that supports collaboration and potential future deployment.</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rgbClr val="F5C1A8"/>
                    </a:solidFill>
                  </a:tcPr>
                </a:tc>
                <a:tc>
                  <a:txBody>
                    <a:bodyPr/>
                    <a:lstStyle/>
                    <a:p>
                      <a:pPr algn="l" fontAlgn="t"/>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believe I have achieved this ILO by developing meaningful unit tests that contributed to the maintainability and reliability of our shared codebase. I used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pytest</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to create and run tests that verified the correctness of key functions and components in our data processing and modeling pipeline. These tests ensured that changes made by any team member did not break existing functionality, which was essential for smooth collaboration. I also aimed for acceptable test coverage, focusing on critical parts of the code that directly influenced model outputs and data integrity. In addition, I contributed to professional project documentation using tools like Markdown and integrated docstrings within the code to describe functionality, parameters, and expected outputs. This documentation not only improved clarity for current collaborators but also ensures that future users can understand and maintain the code effectively.</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I believe I qualify for this ILO because I contributed to the maintainability and quality of our codebase by implementing unit tests using </a:t>
                      </a:r>
                      <a:r>
                        <a:rPr lang="en-US" sz="700" b="0" i="0" u="none" strike="noStrike" dirty="0" err="1">
                          <a:solidFill>
                            <a:srgbClr val="000000"/>
                          </a:solidFill>
                          <a:effectLst/>
                          <a:latin typeface="Roboto" panose="02000000000000000000" pitchFamily="2" charset="0"/>
                          <a:ea typeface="Roboto" panose="02000000000000000000" pitchFamily="2" charset="0"/>
                          <a:cs typeface="Roboto" panose="02000000000000000000" pitchFamily="2" charset="0"/>
                        </a:rPr>
                        <a:t>pytest</a:t>
                      </a:r>
                      <a:r>
                        <a:rPr lang="en-US" sz="700" b="0" i="0" u="none" strike="noStrike" dirty="0">
                          <a:solidFill>
                            <a:srgbClr val="000000"/>
                          </a:solidFill>
                          <a:effectLst/>
                          <a:latin typeface="Roboto" panose="02000000000000000000" pitchFamily="2" charset="0"/>
                          <a:ea typeface="Roboto" panose="02000000000000000000" pitchFamily="2" charset="0"/>
                          <a:cs typeface="Roboto" panose="02000000000000000000" pitchFamily="2" charset="0"/>
                        </a:rPr>
                        <a:t> for key functions such as data preprocessing and model evaluation. These tests ensured the code remained stable as the team collaborated. I also followed industry standards by writing clear docstrings for all major functions and helping create project documentation in Markdown, including a detailed README. This documentation outlines the project structure, usage, and dependencies, supporting both usability and future development. These contributions are reflected in our version-controlled repository and demonstrate my competency in writing maintainable, well-documented code.</a:t>
                      </a:r>
                      <a:endParaRPr lang="en-NL" sz="700" dirty="0">
                        <a:latin typeface="Roboto" panose="02000000000000000000" pitchFamily="2" charset="0"/>
                        <a:ea typeface="Roboto" panose="02000000000000000000" pitchFamily="2" charset="0"/>
                        <a:cs typeface="Roboto" panose="02000000000000000000" pitchFamily="2" charset="0"/>
                      </a:endParaRPr>
                    </a:p>
                  </a:txBody>
                  <a:tcPr>
                    <a:solidFill>
                      <a:srgbClr val="F5C1A8"/>
                    </a:solidFill>
                  </a:tcPr>
                </a:tc>
                <a:extLst>
                  <a:ext uri="{0D108BD9-81ED-4DB2-BD59-A6C34878D82A}">
                    <a16:rowId xmlns:a16="http://schemas.microsoft.com/office/drawing/2014/main" val="3577151072"/>
                  </a:ext>
                </a:extLst>
              </a:tr>
              <a:tr h="1126667">
                <a:tc>
                  <a:txBody>
                    <a:bodyPr/>
                    <a:lstStyle/>
                    <a:p>
                      <a:pPr lvl="0">
                        <a:buNone/>
                      </a:pPr>
                      <a:r>
                        <a:rPr lang="en-US" sz="700" b="1" dirty="0">
                          <a:latin typeface="Roboto" panose="02000000000000000000" pitchFamily="2" charset="0"/>
                          <a:ea typeface="Roboto" panose="02000000000000000000" pitchFamily="2" charset="0"/>
                          <a:cs typeface="Roboto" panose="02000000000000000000" pitchFamily="2" charset="0"/>
                        </a:rPr>
                        <a:t>Provide links to:</a:t>
                      </a:r>
                    </a:p>
                    <a:p>
                      <a:pPr marL="171450" marR="0" lvl="0" indent="-171450" algn="l" defTabSz="914400" rtl="0" eaLnBrk="1" fontAlgn="auto" latinLnBrk="0" hangingPunct="1">
                        <a:lnSpc>
                          <a:spcPct val="100000"/>
                        </a:lnSpc>
                        <a:spcBef>
                          <a:spcPts val="0"/>
                        </a:spcBef>
                        <a:spcAft>
                          <a:spcPts val="0"/>
                        </a:spcAft>
                        <a:buClr>
                          <a:srgbClr val="000000"/>
                        </a:buClr>
                        <a:buSzTx/>
                        <a:buFontTx/>
                        <a:buChar char="-"/>
                        <a:tabLst/>
                        <a:defRPr/>
                      </a:pPr>
                      <a:r>
                        <a:rPr lang="en-US" sz="700" dirty="0" err="1">
                          <a:latin typeface="Roboto" panose="02000000000000000000" pitchFamily="2" charset="0"/>
                          <a:ea typeface="Roboto" panose="02000000000000000000" pitchFamily="2" charset="0"/>
                          <a:cs typeface="Roboto" panose="02000000000000000000" pitchFamily="2" charset="0"/>
                        </a:rPr>
                        <a:t>GroupTasksContributions_Template</a:t>
                      </a:r>
                      <a:endParaRPr lang="en-US" sz="700" dirty="0">
                        <a:latin typeface="Roboto" panose="02000000000000000000" pitchFamily="2" charset="0"/>
                        <a:ea typeface="Roboto" panose="02000000000000000000" pitchFamily="2" charset="0"/>
                        <a:cs typeface="Roboto" panose="02000000000000000000" pitchFamily="2" charset="0"/>
                      </a:endParaRPr>
                    </a:p>
                    <a:p>
                      <a:pPr marL="171450" marR="0" lvl="0" indent="-171450" algn="l" defTabSz="914400" rtl="0" eaLnBrk="1" fontAlgn="auto" latinLnBrk="0" hangingPunct="1">
                        <a:lnSpc>
                          <a:spcPct val="100000"/>
                        </a:lnSpc>
                        <a:spcBef>
                          <a:spcPts val="0"/>
                        </a:spcBef>
                        <a:spcAft>
                          <a:spcPts val="0"/>
                        </a:spcAft>
                        <a:buClr>
                          <a:srgbClr val="000000"/>
                        </a:buClr>
                        <a:buSzTx/>
                        <a:buFontTx/>
                        <a:buChar char="-"/>
                        <a:tabLst/>
                        <a:defRPr/>
                      </a:pPr>
                      <a:r>
                        <a:rPr lang="en-US" sz="700" dirty="0" err="1">
                          <a:latin typeface="Roboto" panose="02000000000000000000" pitchFamily="2" charset="0"/>
                          <a:ea typeface="Roboto" panose="02000000000000000000" pitchFamily="2" charset="0"/>
                          <a:cs typeface="Roboto" panose="02000000000000000000" pitchFamily="2" charset="0"/>
                          <a:hlinkClick r:id="rId3"/>
                        </a:rPr>
                        <a:t>GroupTasksContributions_Template</a:t>
                      </a:r>
                      <a:endParaRPr lang="en-US" sz="700" dirty="0">
                        <a:latin typeface="Roboto" panose="02000000000000000000" pitchFamily="2" charset="0"/>
                        <a:ea typeface="Roboto" panose="02000000000000000000" pitchFamily="2" charset="0"/>
                        <a:cs typeface="Roboto" panose="02000000000000000000" pitchFamily="2" charset="0"/>
                      </a:endParaRPr>
                    </a:p>
                  </a:txBody>
                  <a:tcPr>
                    <a:solidFill>
                      <a:srgbClr val="FFFBD3"/>
                    </a:solidFill>
                  </a:tcPr>
                </a:tc>
                <a:tc>
                  <a:txBody>
                    <a:bodyPr/>
                    <a:lstStyle/>
                    <a:p>
                      <a:pPr lvl="0" algn="l">
                        <a:lnSpc>
                          <a:spcPct val="100000"/>
                        </a:lnSpc>
                        <a:spcBef>
                          <a:spcPts val="0"/>
                        </a:spcBef>
                        <a:spcAft>
                          <a:spcPts val="0"/>
                        </a:spcAft>
                        <a:buNone/>
                      </a:pPr>
                      <a:r>
                        <a:rPr lang="en-US" sz="700" b="1"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Link to:</a:t>
                      </a:r>
                    </a:p>
                    <a:p>
                      <a:pPr marL="171450" lvl="0" indent="-171450" algn="l">
                        <a:lnSpc>
                          <a:spcPct val="100000"/>
                        </a:lnSpc>
                        <a:spcBef>
                          <a:spcPts val="0"/>
                        </a:spcBef>
                        <a:spcAft>
                          <a:spcPts val="0"/>
                        </a:spcAft>
                        <a:buFontTx/>
                        <a:buChar char="-"/>
                      </a:pPr>
                      <a:r>
                        <a:rPr lang="en-US" sz="700" b="0" i="0" u="none" strike="noStrike" noProof="0" dirty="0" err="1">
                          <a:solidFill>
                            <a:srgbClr val="000000"/>
                          </a:solidFill>
                          <a:latin typeface="Roboto" panose="02000000000000000000" pitchFamily="2" charset="0"/>
                          <a:ea typeface="Roboto" panose="02000000000000000000" pitchFamily="2" charset="0"/>
                          <a:cs typeface="Roboto" panose="02000000000000000000" pitchFamily="2" charset="0"/>
                        </a:rPr>
                        <a:t>MLOps_Template</a:t>
                      </a:r>
                      <a:endPar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r>
                        <a:rPr lang="en-US" sz="700" dirty="0" err="1">
                          <a:latin typeface="Roboto" panose="02000000000000000000" pitchFamily="2" charset="0"/>
                          <a:ea typeface="Roboto" panose="02000000000000000000" pitchFamily="2" charset="0"/>
                          <a:cs typeface="Roboto" panose="02000000000000000000" pitchFamily="2" charset="0"/>
                          <a:hlinkClick r:id="rId4"/>
                        </a:rPr>
                        <a:t>MLOps_Template</a:t>
                      </a:r>
                      <a:endParaRPr lang="en-US"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pPr lvl="0" algn="l">
                        <a:lnSpc>
                          <a:spcPct val="100000"/>
                        </a:lnSpc>
                        <a:spcBef>
                          <a:spcPts val="0"/>
                        </a:spcBef>
                        <a:spcAft>
                          <a:spcPts val="0"/>
                        </a:spcAft>
                        <a:buNone/>
                      </a:pPr>
                      <a:r>
                        <a:rPr lang="en-US" sz="700" b="1"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Link to:</a:t>
                      </a:r>
                    </a:p>
                    <a:p>
                      <a:pPr marL="171450" lvl="0" indent="-171450" algn="l">
                        <a:lnSpc>
                          <a:spcPct val="100000"/>
                        </a:lnSpc>
                        <a:spcBef>
                          <a:spcPts val="0"/>
                        </a:spcBef>
                        <a:spcAft>
                          <a:spcPts val="0"/>
                        </a:spcAft>
                        <a:buFontTx/>
                        <a:buChar char="-"/>
                      </a:pPr>
                      <a:r>
                        <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4"/>
                        </a:rPr>
                        <a:t>MLOps_Template</a:t>
                      </a:r>
                      <a:endPar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endParaRPr lang="en-US" sz="700" dirty="0">
                        <a:latin typeface="Roboto" panose="02000000000000000000" pitchFamily="2" charset="0"/>
                        <a:ea typeface="Roboto" panose="02000000000000000000" pitchFamily="2" charset="0"/>
                        <a:cs typeface="Roboto" panose="02000000000000000000" pitchFamily="2" charset="0"/>
                      </a:endParaRPr>
                    </a:p>
                  </a:txBody>
                  <a:tcPr>
                    <a:solidFill>
                      <a:srgbClr val="F5C1A8"/>
                    </a:solidFill>
                  </a:tcPr>
                </a:tc>
                <a:tc>
                  <a:txBody>
                    <a:bodyPr/>
                    <a:lstStyle/>
                    <a:p>
                      <a:pPr lvl="0" algn="l">
                        <a:lnSpc>
                          <a:spcPct val="100000"/>
                        </a:lnSpc>
                        <a:spcBef>
                          <a:spcPts val="0"/>
                        </a:spcBef>
                        <a:spcAft>
                          <a:spcPts val="0"/>
                        </a:spcAft>
                        <a:buNone/>
                      </a:pPr>
                      <a:r>
                        <a:rPr lang="en-US" sz="700" b="1"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Link to:</a:t>
                      </a:r>
                    </a:p>
                    <a:p>
                      <a:pPr marL="171450" lvl="0" indent="-171450" algn="l">
                        <a:lnSpc>
                          <a:spcPct val="100000"/>
                        </a:lnSpc>
                        <a:spcBef>
                          <a:spcPts val="0"/>
                        </a:spcBef>
                        <a:spcAft>
                          <a:spcPts val="0"/>
                        </a:spcAft>
                        <a:buFontTx/>
                        <a:buChar char="-"/>
                      </a:pPr>
                      <a:r>
                        <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4"/>
                        </a:rPr>
                        <a:t>MLOps_Template</a:t>
                      </a:r>
                      <a:endPar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endParaRPr lang="en-US" sz="700" dirty="0">
                        <a:latin typeface="Roboto" panose="02000000000000000000" pitchFamily="2" charset="0"/>
                        <a:ea typeface="Roboto" panose="02000000000000000000" pitchFamily="2" charset="0"/>
                        <a:cs typeface="Roboto" panose="02000000000000000000" pitchFamily="2" charset="0"/>
                      </a:endParaRPr>
                    </a:p>
                  </a:txBody>
                  <a:tcPr>
                    <a:solidFill>
                      <a:schemeClr val="accent4">
                        <a:lumMod val="20000"/>
                        <a:lumOff val="80000"/>
                      </a:schemeClr>
                    </a:solidFill>
                  </a:tcPr>
                </a:tc>
                <a:tc>
                  <a:txBody>
                    <a:bodyPr/>
                    <a:lstStyle/>
                    <a:p>
                      <a:pPr lvl="0" algn="l">
                        <a:lnSpc>
                          <a:spcPct val="100000"/>
                        </a:lnSpc>
                        <a:spcBef>
                          <a:spcPts val="0"/>
                        </a:spcBef>
                        <a:spcAft>
                          <a:spcPts val="0"/>
                        </a:spcAft>
                        <a:buNone/>
                      </a:pPr>
                      <a:r>
                        <a:rPr lang="en-US" sz="700" b="1"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rPr>
                        <a:t>Provide a Link to:</a:t>
                      </a:r>
                    </a:p>
                    <a:p>
                      <a:pPr marL="171450" lvl="0" indent="-171450" algn="l">
                        <a:lnSpc>
                          <a:spcPct val="100000"/>
                        </a:lnSpc>
                        <a:spcBef>
                          <a:spcPts val="0"/>
                        </a:spcBef>
                        <a:spcAft>
                          <a:spcPts val="0"/>
                        </a:spcAft>
                        <a:buFontTx/>
                        <a:buChar char="-"/>
                      </a:pPr>
                      <a:r>
                        <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hlinkClick r:id="rId4"/>
                        </a:rPr>
                        <a:t>MLOps_Template</a:t>
                      </a:r>
                      <a:endParaRPr lang="en-US" sz="700" b="0" i="0" u="none" strike="noStrike" noProof="0" dirty="0">
                        <a:solidFill>
                          <a:srgbClr val="000000"/>
                        </a:solidFill>
                        <a:latin typeface="Roboto" panose="02000000000000000000" pitchFamily="2" charset="0"/>
                        <a:ea typeface="Roboto" panose="02000000000000000000" pitchFamily="2" charset="0"/>
                        <a:cs typeface="Roboto" panose="02000000000000000000" pitchFamily="2" charset="0"/>
                      </a:endParaRPr>
                    </a:p>
                    <a:p>
                      <a:pPr lvl="0">
                        <a:buNone/>
                      </a:pPr>
                      <a:endParaRPr lang="en-US" sz="700" dirty="0">
                        <a:latin typeface="Roboto" panose="02000000000000000000" pitchFamily="2" charset="0"/>
                        <a:ea typeface="Roboto" panose="02000000000000000000" pitchFamily="2" charset="0"/>
                        <a:cs typeface="Roboto" panose="02000000000000000000" pitchFamily="2" charset="0"/>
                      </a:endParaRPr>
                    </a:p>
                  </a:txBody>
                  <a:tcPr>
                    <a:solidFill>
                      <a:srgbClr val="F5C1A8"/>
                    </a:solidFill>
                  </a:tcPr>
                </a:tc>
                <a:extLst>
                  <a:ext uri="{0D108BD9-81ED-4DB2-BD59-A6C34878D82A}">
                    <a16:rowId xmlns:a16="http://schemas.microsoft.com/office/drawing/2014/main" val="740005107"/>
                  </a:ext>
                </a:extLst>
              </a:tr>
            </a:tbl>
          </a:graphicData>
        </a:graphic>
      </p:graphicFrame>
    </p:spTree>
    <p:extLst>
      <p:ext uri="{BB962C8B-B14F-4D97-AF65-F5344CB8AC3E}">
        <p14:creationId xmlns:p14="http://schemas.microsoft.com/office/powerpoint/2010/main" val="19863601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9"/>
          <p:cNvSpPr txBox="1">
            <a:spLocks noGrp="1"/>
          </p:cNvSpPr>
          <p:nvPr>
            <p:ph type="ctrTitle"/>
          </p:nvPr>
        </p:nvSpPr>
        <p:spPr>
          <a:xfrm>
            <a:off x="2286000" y="1104139"/>
            <a:ext cx="64008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M</a:t>
            </a:r>
            <a:r>
              <a:rPr lang="en-NL" dirty="0"/>
              <a:t>edal Challenges</a:t>
            </a:r>
            <a:endParaRPr dirty="0"/>
          </a:p>
        </p:txBody>
      </p:sp>
      <p:sp>
        <p:nvSpPr>
          <p:cNvPr id="468" name="Google Shape;468;p49"/>
          <p:cNvSpPr txBox="1">
            <a:spLocks noGrp="1"/>
          </p:cNvSpPr>
          <p:nvPr>
            <p:ph type="subTitle" idx="1"/>
          </p:nvPr>
        </p:nvSpPr>
        <p:spPr>
          <a:xfrm>
            <a:off x="2286000" y="2503171"/>
            <a:ext cx="64008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NL"/>
              <a:t>Going the extra mile!</a:t>
            </a:r>
            <a:endParaRPr/>
          </a:p>
        </p:txBody>
      </p:sp>
      <p:pic>
        <p:nvPicPr>
          <p:cNvPr id="7" name="Graphic 6" descr="Medal">
            <a:extLst>
              <a:ext uri="{FF2B5EF4-FFF2-40B4-BE49-F238E27FC236}">
                <a16:creationId xmlns:a16="http://schemas.microsoft.com/office/drawing/2014/main" id="{2C2C6876-7040-0594-5C65-F9EFF1B3B31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1666" y="1379845"/>
            <a:ext cx="3492405" cy="3492405"/>
          </a:xfrm>
          <a:prstGeom prst="rect">
            <a:avLst/>
          </a:prstGeom>
        </p:spPr>
      </p:pic>
    </p:spTree>
    <p:extLst>
      <p:ext uri="{BB962C8B-B14F-4D97-AF65-F5344CB8AC3E}">
        <p14:creationId xmlns:p14="http://schemas.microsoft.com/office/powerpoint/2010/main" val="28329518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6" name="Google Shape;476;p50"/>
          <p:cNvSpPr txBox="1">
            <a:spLocks noGrp="1"/>
          </p:cNvSpPr>
          <p:nvPr>
            <p:ph type="title" idx="2"/>
          </p:nvPr>
        </p:nvSpPr>
        <p:spPr>
          <a:xfrm>
            <a:off x="7068300" y="0"/>
            <a:ext cx="1984200" cy="5760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1/1</a:t>
            </a:r>
            <a:endParaRPr/>
          </a:p>
        </p:txBody>
      </p:sp>
      <p:sp>
        <p:nvSpPr>
          <p:cNvPr id="477" name="Google Shape;477;p50"/>
          <p:cNvSpPr txBox="1">
            <a:spLocks noGrp="1"/>
          </p:cNvSpPr>
          <p:nvPr>
            <p:ph type="body" idx="4294967295"/>
          </p:nvPr>
        </p:nvSpPr>
        <p:spPr>
          <a:xfrm>
            <a:off x="63194" y="1152000"/>
            <a:ext cx="5486400" cy="389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i="1" dirty="0">
                <a:solidFill>
                  <a:schemeClr val="lt1"/>
                </a:solidFill>
                <a:latin typeface="Helvetica Neue"/>
                <a:ea typeface="Helvetica Neue"/>
                <a:cs typeface="Helvetica Neue"/>
                <a:sym typeface="Helvetica Neue"/>
              </a:rPr>
              <a:t>Show your best examples, do not go overboard, add in short description, you are free to alter this layout (or add slides per evidence) to suit your needs. Just be sure that it is clear.</a:t>
            </a:r>
            <a:endParaRPr sz="900" dirty="0">
              <a:solidFill>
                <a:schemeClr val="lt1"/>
              </a:solidFill>
            </a:endParaRPr>
          </a:p>
          <a:p>
            <a:pPr marL="0" lvl="0" indent="0" algn="l" rtl="0">
              <a:lnSpc>
                <a:spcPct val="115000"/>
              </a:lnSpc>
              <a:spcBef>
                <a:spcPts val="0"/>
              </a:spcBef>
              <a:spcAft>
                <a:spcPts val="0"/>
              </a:spcAft>
              <a:buNone/>
            </a:pPr>
            <a:endParaRPr sz="700" i="1" dirty="0">
              <a:solidFill>
                <a:schemeClr val="lt1"/>
              </a:solidFill>
              <a:latin typeface="Helvetica Neue"/>
              <a:ea typeface="Helvetica Neue"/>
              <a:cs typeface="Helvetica Neue"/>
              <a:sym typeface="Helvetica Neue"/>
            </a:endParaRPr>
          </a:p>
        </p:txBody>
      </p:sp>
      <p:sp>
        <p:nvSpPr>
          <p:cNvPr id="480" name="Google Shape;480;p50"/>
          <p:cNvSpPr txBox="1">
            <a:spLocks noGrp="1"/>
          </p:cNvSpPr>
          <p:nvPr>
            <p:ph type="title" idx="5"/>
          </p:nvPr>
        </p:nvSpPr>
        <p:spPr>
          <a:xfrm>
            <a:off x="845550" y="576000"/>
            <a:ext cx="7315200" cy="493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a:t>P</a:t>
            </a:r>
            <a:r>
              <a:rPr lang="en-NL" err="1"/>
              <a:t>ut</a:t>
            </a:r>
            <a:r>
              <a:rPr lang="en-NL"/>
              <a:t> your evidence down here to receive a medal!</a:t>
            </a:r>
            <a:endParaRPr lang="en-GB"/>
          </a:p>
        </p:txBody>
      </p:sp>
      <p:sp>
        <p:nvSpPr>
          <p:cNvPr id="7" name="Google Shape;459;p48">
            <a:extLst>
              <a:ext uri="{FF2B5EF4-FFF2-40B4-BE49-F238E27FC236}">
                <a16:creationId xmlns:a16="http://schemas.microsoft.com/office/drawing/2014/main" id="{5161B9CD-FD90-1846-8EE0-48554F0A839A}"/>
              </a:ext>
            </a:extLst>
          </p:cNvPr>
          <p:cNvSpPr txBox="1">
            <a:spLocks noGrp="1"/>
          </p:cNvSpPr>
          <p:nvPr>
            <p:ph type="title" idx="3"/>
          </p:nvPr>
        </p:nvSpPr>
        <p:spPr>
          <a:xfrm>
            <a:off x="2049462" y="0"/>
            <a:ext cx="42063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a:t>Going the extra mile!</a:t>
            </a:r>
            <a:endParaRPr lang="en-GB"/>
          </a:p>
        </p:txBody>
      </p:sp>
      <p:sp>
        <p:nvSpPr>
          <p:cNvPr id="2" name="Google Shape;462;p48">
            <a:extLst>
              <a:ext uri="{FF2B5EF4-FFF2-40B4-BE49-F238E27FC236}">
                <a16:creationId xmlns:a16="http://schemas.microsoft.com/office/drawing/2014/main" id="{504CBF35-FBEA-FA87-F016-E6278C3C94BB}"/>
              </a:ext>
            </a:extLst>
          </p:cNvPr>
          <p:cNvSpPr txBox="1">
            <a:spLocks noGrp="1"/>
          </p:cNvSpPr>
          <p:nvPr>
            <p:ph type="title" idx="6"/>
          </p:nvPr>
        </p:nvSpPr>
        <p:spPr>
          <a:xfrm>
            <a:off x="845550" y="0"/>
            <a:ext cx="13686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NL"/>
              <a:t>Medal Challenges</a:t>
            </a:r>
            <a:endParaRPr lang="en-US"/>
          </a:p>
        </p:txBody>
      </p:sp>
      <p:pic>
        <p:nvPicPr>
          <p:cNvPr id="12" name="Graphic 11" descr="Medal">
            <a:extLst>
              <a:ext uri="{FF2B5EF4-FFF2-40B4-BE49-F238E27FC236}">
                <a16:creationId xmlns:a16="http://schemas.microsoft.com/office/drawing/2014/main" id="{DAEAD1FE-ADA8-7092-2C63-52D1D8722E0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5771" y="58096"/>
            <a:ext cx="459808" cy="459808"/>
          </a:xfrm>
          <a:prstGeom prst="rect">
            <a:avLst/>
          </a:prstGeom>
        </p:spPr>
      </p:pic>
    </p:spTree>
    <p:extLst>
      <p:ext uri="{BB962C8B-B14F-4D97-AF65-F5344CB8AC3E}">
        <p14:creationId xmlns:p14="http://schemas.microsoft.com/office/powerpoint/2010/main" val="33184646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52"/>
          <p:cNvSpPr txBox="1">
            <a:spLocks noGrp="1"/>
          </p:cNvSpPr>
          <p:nvPr>
            <p:ph type="ctrTitle"/>
          </p:nvPr>
        </p:nvSpPr>
        <p:spPr>
          <a:xfrm>
            <a:off x="1828800" y="1453896"/>
            <a:ext cx="7315200" cy="150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6000"/>
              <a:t>Section </a:t>
            </a:r>
            <a:r>
              <a:rPr lang="en-NL" sz="6000"/>
              <a:t>D</a:t>
            </a:r>
            <a:endParaRPr sz="6000"/>
          </a:p>
        </p:txBody>
      </p:sp>
      <p:sp>
        <p:nvSpPr>
          <p:cNvPr id="498" name="Google Shape;498;p52"/>
          <p:cNvSpPr txBox="1">
            <a:spLocks noGrp="1"/>
          </p:cNvSpPr>
          <p:nvPr>
            <p:ph type="subTitle" idx="1"/>
          </p:nvPr>
        </p:nvSpPr>
        <p:spPr>
          <a:xfrm>
            <a:off x="1828800" y="2953512"/>
            <a:ext cx="7315200" cy="685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Reflection</a:t>
            </a:r>
            <a:endParaRPr sz="3000"/>
          </a:p>
        </p:txBody>
      </p:sp>
      <p:sp>
        <p:nvSpPr>
          <p:cNvPr id="499" name="Google Shape;499;p52"/>
          <p:cNvSpPr txBox="1"/>
          <p:nvPr/>
        </p:nvSpPr>
        <p:spPr>
          <a:xfrm>
            <a:off x="-420624" y="749808"/>
            <a:ext cx="3383400" cy="5120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NL" sz="40000">
                <a:solidFill>
                  <a:srgbClr val="999999"/>
                </a:solidFill>
                <a:latin typeface="Roboto"/>
                <a:ea typeface="Roboto"/>
                <a:cs typeface="Roboto"/>
                <a:sym typeface="Roboto"/>
              </a:rPr>
              <a:t>D</a:t>
            </a:r>
            <a:endParaRPr sz="40000">
              <a:solidFill>
                <a:srgbClr val="999999"/>
              </a:solidFill>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53"/>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What did I achieve this block?</a:t>
            </a:r>
            <a:endParaRPr/>
          </a:p>
        </p:txBody>
      </p:sp>
      <p:sp>
        <p:nvSpPr>
          <p:cNvPr id="505" name="Google Shape;505;p53"/>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1/2</a:t>
            </a:r>
            <a:endParaRPr/>
          </a:p>
        </p:txBody>
      </p:sp>
      <p:sp>
        <p:nvSpPr>
          <p:cNvPr id="506" name="Google Shape;506;p53"/>
          <p:cNvSpPr txBox="1">
            <a:spLocks noGrp="1"/>
          </p:cNvSpPr>
          <p:nvPr>
            <p:ph type="subTitle" idx="1"/>
          </p:nvPr>
        </p:nvSpPr>
        <p:spPr>
          <a:xfrm>
            <a:off x="182880" y="667512"/>
            <a:ext cx="54864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My most significant achievements this block</a:t>
            </a:r>
            <a:endParaRPr/>
          </a:p>
        </p:txBody>
      </p:sp>
      <p:sp>
        <p:nvSpPr>
          <p:cNvPr id="507" name="Google Shape;507;p53"/>
          <p:cNvSpPr txBox="1">
            <a:spLocks noGrp="1"/>
          </p:cNvSpPr>
          <p:nvPr>
            <p:ph type="body" idx="3"/>
          </p:nvPr>
        </p:nvSpPr>
        <p:spPr>
          <a:xfrm>
            <a:off x="182880" y="1069848"/>
            <a:ext cx="87783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US" dirty="0"/>
              <a:t>My most significant achievement this block was learning how to work effectively as part of a team. We communicated regularly, collaborated on all aspects of the project, and used Trello to organize and fairly distribute tasks. This ensured transparency and balanced workload across the team. Through this experience, I gained a deeper understanding of teamwork, responsibility, and the importance of consistent communication, which I believe is one of the most valuable lessons from this block.</a:t>
            </a:r>
            <a:endParaRPr dirty="0"/>
          </a:p>
          <a:p>
            <a:pPr marL="0" lvl="0" indent="0" algn="just" rtl="0">
              <a:spcBef>
                <a:spcPts val="800"/>
              </a:spcBef>
              <a:spcAft>
                <a:spcPts val="0"/>
              </a:spcAft>
              <a:buNone/>
            </a:pPr>
            <a:r>
              <a:rPr lang="en" sz="1400" b="1" dirty="0"/>
              <a:t>My most difficult challenges this block</a:t>
            </a:r>
            <a:endParaRPr sz="1400" b="1" dirty="0"/>
          </a:p>
          <a:p>
            <a:pPr marL="0" lvl="0" indent="0" algn="just" rtl="0">
              <a:spcBef>
                <a:spcPts val="800"/>
              </a:spcBef>
              <a:spcAft>
                <a:spcPts val="0"/>
              </a:spcAft>
              <a:buNone/>
            </a:pPr>
            <a:r>
              <a:rPr lang="en-US" dirty="0"/>
              <a:t>The most difficult challenges I faced during this block were working with SQL and building a database from the data warehouse, as it was a new and technically complex task for me. Additionally, one of our team members left the project, which made it more challenging to manage the workload among just three members. Balancing responsibilities and ensuring that all tasks were completed on time required extra coordination and effort from each of us.</a:t>
            </a:r>
          </a:p>
          <a:p>
            <a:pPr marL="0" lvl="0" indent="0" algn="just" rtl="0">
              <a:spcBef>
                <a:spcPts val="800"/>
              </a:spcBef>
              <a:spcAft>
                <a:spcPts val="0"/>
              </a:spcAft>
              <a:buNone/>
            </a:pPr>
            <a:r>
              <a:rPr lang="en" sz="1400" b="1" dirty="0"/>
              <a:t>The most important lessons I learned</a:t>
            </a:r>
            <a:endParaRPr sz="1400" b="1" dirty="0"/>
          </a:p>
          <a:p>
            <a:pPr marL="0" lvl="0" indent="0" algn="just" rtl="0">
              <a:spcBef>
                <a:spcPts val="800"/>
              </a:spcBef>
              <a:spcAft>
                <a:spcPts val="800"/>
              </a:spcAft>
              <a:buNone/>
            </a:pPr>
            <a:r>
              <a:rPr lang="en-US" dirty="0"/>
              <a:t>The most important lesson I learned during this block was the value of teamwork and adaptability. As I mentioned earlier, working closely with my team taught me how to communicate effectively, share responsibilities, and stay organized. Additionally, I learned how to handle unexpected challenges, such as when one team member stopped participating. This experience showed me the importance of stepping up, being flexible, and supporting each other to ensure the project's success despite obstacles.</a:t>
            </a:r>
            <a:endParaRPr dirty="0"/>
          </a:p>
        </p:txBody>
      </p:sp>
      <p:sp>
        <p:nvSpPr>
          <p:cNvPr id="508" name="Google Shape;508;p53"/>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54"/>
          <p:cNvSpPr txBox="1">
            <a:spLocks noGrp="1"/>
          </p:cNvSpPr>
          <p:nvPr>
            <p:ph type="title"/>
          </p:nvPr>
        </p:nvSpPr>
        <p:spPr>
          <a:xfrm>
            <a:off x="667512" y="0"/>
            <a:ext cx="54864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How well am I progressing?</a:t>
            </a:r>
            <a:endParaRPr/>
          </a:p>
        </p:txBody>
      </p:sp>
      <p:sp>
        <p:nvSpPr>
          <p:cNvPr id="514" name="Google Shape;514;p54"/>
          <p:cNvSpPr txBox="1">
            <a:spLocks noGrp="1"/>
          </p:cNvSpPr>
          <p:nvPr>
            <p:ph type="title" idx="2"/>
          </p:nvPr>
        </p:nvSpPr>
        <p:spPr>
          <a:xfrm>
            <a:off x="7068300" y="0"/>
            <a:ext cx="1984200" cy="5727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a:t>2</a:t>
            </a:r>
            <a:r>
              <a:rPr lang="en" sz="1400"/>
              <a:t>/</a:t>
            </a:r>
            <a:r>
              <a:rPr lang="en"/>
              <a:t>2</a:t>
            </a:r>
            <a:endParaRPr sz="1400"/>
          </a:p>
        </p:txBody>
      </p:sp>
      <p:sp>
        <p:nvSpPr>
          <p:cNvPr id="515" name="Google Shape;515;p54"/>
          <p:cNvSpPr txBox="1">
            <a:spLocks noGrp="1"/>
          </p:cNvSpPr>
          <p:nvPr>
            <p:ph type="title" idx="4"/>
          </p:nvPr>
        </p:nvSpPr>
        <p:spPr>
          <a:xfrm>
            <a:off x="0" y="0"/>
            <a:ext cx="5760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
            </a:r>
            <a:endParaRPr/>
          </a:p>
        </p:txBody>
      </p:sp>
      <p:sp>
        <p:nvSpPr>
          <p:cNvPr id="516" name="Google Shape;516;p54"/>
          <p:cNvSpPr txBox="1">
            <a:spLocks noGrp="1"/>
          </p:cNvSpPr>
          <p:nvPr>
            <p:ph type="subTitle" idx="1"/>
          </p:nvPr>
        </p:nvSpPr>
        <p:spPr>
          <a:xfrm>
            <a:off x="182880" y="667512"/>
            <a:ext cx="8778300" cy="4023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
              <a:t>Reflection on my self assessment				My self assessment grade is a</a:t>
            </a:r>
            <a:endParaRPr b="0" i="1"/>
          </a:p>
        </p:txBody>
      </p:sp>
      <p:sp>
        <p:nvSpPr>
          <p:cNvPr id="517" name="Google Shape;517;p54"/>
          <p:cNvSpPr txBox="1">
            <a:spLocks noGrp="1"/>
          </p:cNvSpPr>
          <p:nvPr>
            <p:ph type="body" idx="3"/>
          </p:nvPr>
        </p:nvSpPr>
        <p:spPr>
          <a:xfrm>
            <a:off x="182880" y="1069848"/>
            <a:ext cx="5852100" cy="3895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dirty="0"/>
              <a:t>I think I will get this grade because I beive I did good at this block and I think I contribute same as others I might didn’t upload much through github because it was kind of hard to work with that but our feedback or review happende during our meeting or in teams groupchat.</a:t>
            </a:r>
            <a:endParaRPr dirty="0"/>
          </a:p>
          <a:p>
            <a:pPr marL="0" lvl="0" indent="0" algn="just" rtl="0">
              <a:spcBef>
                <a:spcPts val="800"/>
              </a:spcBef>
              <a:spcAft>
                <a:spcPts val="0"/>
              </a:spcAft>
              <a:buNone/>
            </a:pPr>
            <a:endParaRPr dirty="0"/>
          </a:p>
          <a:p>
            <a:pPr marL="0" lvl="0" indent="0" algn="just" rtl="0">
              <a:spcBef>
                <a:spcPts val="800"/>
              </a:spcBef>
              <a:spcAft>
                <a:spcPts val="0"/>
              </a:spcAft>
              <a:buNone/>
            </a:pPr>
            <a:r>
              <a:rPr lang="en" sz="1400" b="1" dirty="0"/>
              <a:t>How I plan to improve next block</a:t>
            </a:r>
            <a:endParaRPr sz="1400" b="1" dirty="0"/>
          </a:p>
          <a:p>
            <a:pPr marL="0" lvl="0" indent="0" algn="just" rtl="0">
              <a:spcBef>
                <a:spcPts val="800"/>
              </a:spcBef>
              <a:spcAft>
                <a:spcPts val="800"/>
              </a:spcAft>
              <a:buNone/>
            </a:pPr>
            <a:r>
              <a:rPr lang="en-US" dirty="0"/>
              <a:t>My plan for next year is to focus on gaining more practical experience by working on additional projects and improving my technical skills. In particular, I aim to become more proficient with Git and GitHub, especially in the context of collaborative project development and version control. This will help me contribute more effectively in team settings and better manage my own code in future data science work.</a:t>
            </a:r>
            <a:endParaRPr dirty="0"/>
          </a:p>
        </p:txBody>
      </p:sp>
      <p:sp>
        <p:nvSpPr>
          <p:cNvPr id="518" name="Google Shape;518;p54"/>
          <p:cNvSpPr txBox="1"/>
          <p:nvPr/>
        </p:nvSpPr>
        <p:spPr>
          <a:xfrm>
            <a:off x="7933066" y="749712"/>
            <a:ext cx="914400" cy="64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600" b="1" dirty="0">
                <a:solidFill>
                  <a:srgbClr val="434343"/>
                </a:solidFill>
                <a:latin typeface="Roboto"/>
                <a:ea typeface="Roboto"/>
                <a:cs typeface="Roboto"/>
                <a:sym typeface="Roboto"/>
              </a:rPr>
              <a:t>9.7</a:t>
            </a:r>
            <a:endParaRPr sz="3600" b="1" dirty="0">
              <a:solidFill>
                <a:srgbClr val="434343"/>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BUAS 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3C78D8"/>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35914ba8-9e4a-4224-9594-5062124be8f1">
      <UserInfo>
        <DisplayName/>
        <AccountId xsi:nil="true"/>
        <AccountType/>
      </UserInfo>
    </SharedWithUsers>
    <TaxCatchAll xmlns="35914ba8-9e4a-4224-9594-5062124be8f1" xsi:nil="true"/>
    <lcf76f155ced4ddcb4097134ff3c332f xmlns="cafc3e4c-b146-46b8-8a52-78ced9164e87">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78F7411FF5BA04C8BB948E4423DB960" ma:contentTypeVersion="14" ma:contentTypeDescription="Create a new document." ma:contentTypeScope="" ma:versionID="d1414ec7071dd118dd6e0a03231a539a">
  <xsd:schema xmlns:xsd="http://www.w3.org/2001/XMLSchema" xmlns:xs="http://www.w3.org/2001/XMLSchema" xmlns:p="http://schemas.microsoft.com/office/2006/metadata/properties" xmlns:ns2="cafc3e4c-b146-46b8-8a52-78ced9164e87" xmlns:ns3="35914ba8-9e4a-4224-9594-5062124be8f1" targetNamespace="http://schemas.microsoft.com/office/2006/metadata/properties" ma:root="true" ma:fieldsID="3eef441954570387784f88d2d7e788f7" ns2:_="" ns3:_="">
    <xsd:import namespace="cafc3e4c-b146-46b8-8a52-78ced9164e87"/>
    <xsd:import namespace="35914ba8-9e4a-4224-9594-5062124be8f1"/>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GenerationTime" minOccurs="0"/>
                <xsd:element ref="ns2:MediaServiceEventHashCode" minOccurs="0"/>
                <xsd:element ref="ns2:MediaServiceDateTaken" minOccurs="0"/>
                <xsd:element ref="ns2:MediaServiceOCR"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fc3e4c-b146-46b8-8a52-78ced9164e8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365a90ea-d0e7-4aae-8ef9-9f5dd1eb65e3"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5914ba8-9e4a-4224-9594-5062124be8f1"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3036bc52-4a51-452c-ad2d-608e46149e65}" ma:internalName="TaxCatchAll" ma:showField="CatchAllData" ma:web="35914ba8-9e4a-4224-9594-5062124be8f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067B86F-F5BB-4BE6-9A37-0E19E53CB68B}">
  <ds:schemaRefs>
    <ds:schemaRef ds:uri="http://schemas.microsoft.com/office/2006/documentManagement/types"/>
    <ds:schemaRef ds:uri="http://purl.org/dc/elements/1.1/"/>
    <ds:schemaRef ds:uri="35914ba8-9e4a-4224-9594-5062124be8f1"/>
    <ds:schemaRef ds:uri="http://www.w3.org/XML/1998/namespace"/>
    <ds:schemaRef ds:uri="http://schemas.microsoft.com/office/infopath/2007/PartnerControls"/>
    <ds:schemaRef ds:uri="http://purl.org/dc/terms/"/>
    <ds:schemaRef ds:uri="http://schemas.openxmlformats.org/package/2006/metadata/core-properties"/>
    <ds:schemaRef ds:uri="cafc3e4c-b146-46b8-8a52-78ced9164e87"/>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98D9791E-52D0-4ABB-925A-4EAECF798D9B}">
  <ds:schemaRefs>
    <ds:schemaRef ds:uri="http://schemas.microsoft.com/sharepoint/v3/contenttype/forms"/>
  </ds:schemaRefs>
</ds:datastoreItem>
</file>

<file path=customXml/itemProps3.xml><?xml version="1.0" encoding="utf-8"?>
<ds:datastoreItem xmlns:ds="http://schemas.openxmlformats.org/officeDocument/2006/customXml" ds:itemID="{2DC884BF-69F4-4815-8F38-A7E8B2A998C5}">
  <ds:schemaRefs>
    <ds:schemaRef ds:uri="35914ba8-9e4a-4224-9594-5062124be8f1"/>
    <ds:schemaRef ds:uri="cafc3e4c-b146-46b8-8a52-78ced9164e8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2802</TotalTime>
  <Words>11715</Words>
  <Application>Microsoft Office PowerPoint</Application>
  <PresentationFormat>On-screen Show (16:9)</PresentationFormat>
  <Paragraphs>652</Paragraphs>
  <Slides>43</Slides>
  <Notes>42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Roboto</vt:lpstr>
      <vt:lpstr>Roboto Thin</vt:lpstr>
      <vt:lpstr>Arial</vt:lpstr>
      <vt:lpstr>Helvetica Neue</vt:lpstr>
      <vt:lpstr>Roboto Light</vt:lpstr>
      <vt:lpstr>Proxima Nova</vt:lpstr>
      <vt:lpstr>BUAS Gameday</vt:lpstr>
      <vt:lpstr> Data Science Lifecycle Management Uncovering Market Intelligence: A NASDAQ-100 Data Challenge  «Mohammadali Jaberi» «244437»</vt:lpstr>
      <vt:lpstr>How To Use This Template</vt:lpstr>
      <vt:lpstr>Learning Log Structure</vt:lpstr>
      <vt:lpstr>Section A</vt:lpstr>
      <vt:lpstr>Where am I starting?</vt:lpstr>
      <vt:lpstr>What is my plan?</vt:lpstr>
      <vt:lpstr>What are my goals?</vt:lpstr>
      <vt:lpstr>Specific: I will start reading Hands-On Machine Learning again to improve my understanding and confidence in the subject. Measurable: I will read one chapter per week and complete the associated practice exercises and training provided in the book. Achievable: This pace is manageable alongside my other responsibilities and will help reinforce my knowledge step by step. Relevant: This goal is directly related to this block, where we are expected to run different models on the stock market. Time-bound: I will complete each chapter weekly, keeping pace with the block schedule.</vt:lpstr>
      <vt:lpstr>Section B</vt:lpstr>
      <vt:lpstr>Week 1 - Log</vt:lpstr>
      <vt:lpstr>Week 1 - Feedback</vt:lpstr>
      <vt:lpstr>Week 2 - Log</vt:lpstr>
      <vt:lpstr>Week 2 - Feedback</vt:lpstr>
      <vt:lpstr>Week 3 - Log</vt:lpstr>
      <vt:lpstr>Week 3 - Feedback</vt:lpstr>
      <vt:lpstr>Week 4 - Log</vt:lpstr>
      <vt:lpstr>Week 4 - Feedback</vt:lpstr>
      <vt:lpstr>Week 5 - Log</vt:lpstr>
      <vt:lpstr>Week 5 - Feedback</vt:lpstr>
      <vt:lpstr>Week 6 - Log</vt:lpstr>
      <vt:lpstr>Week 6 - Feedback</vt:lpstr>
      <vt:lpstr>Week 7 - Log</vt:lpstr>
      <vt:lpstr>Week 7 - Feedback</vt:lpstr>
      <vt:lpstr>Section C</vt:lpstr>
      <vt:lpstr>ILO 1</vt:lpstr>
      <vt:lpstr>ILO 1</vt:lpstr>
      <vt:lpstr>ILO 2</vt:lpstr>
      <vt:lpstr>ILO 2</vt:lpstr>
      <vt:lpstr>ILO 3</vt:lpstr>
      <vt:lpstr>ILO 3</vt:lpstr>
      <vt:lpstr>ILO 4</vt:lpstr>
      <vt:lpstr>ILO 4</vt:lpstr>
      <vt:lpstr>ILO 6</vt:lpstr>
      <vt:lpstr>ILO 6</vt:lpstr>
      <vt:lpstr>ILO 8</vt:lpstr>
      <vt:lpstr>ILO 8</vt:lpstr>
      <vt:lpstr>ILO 9</vt:lpstr>
      <vt:lpstr>ILO 9</vt:lpstr>
      <vt:lpstr>Medal Challenges</vt:lpstr>
      <vt:lpstr>1/1</vt:lpstr>
      <vt:lpstr>Section D</vt:lpstr>
      <vt:lpstr>What did I achieve this block?</vt:lpstr>
      <vt:lpstr>How well am I progressing?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«studentname» «studentid» «studentacademicproject»</dc:title>
  <dc:creator>Mohammad ali</dc:creator>
  <cp:lastModifiedBy>m.jaberi14979@gmail.com</cp:lastModifiedBy>
  <cp:revision>48</cp:revision>
  <dcterms:modified xsi:type="dcterms:W3CDTF">2025-06-20T12:42:21Z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0x010100378F7411FF5BA04C8BB948E4423DB960</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TriggerFlowInfo">
    <vt:lpwstr/>
  </property>
  <property fmtid="{D5CDD505-2E9C-101B-9397-08002B2CF9AE}" pid="9" name="xd_Signature">
    <vt:bool>false</vt:bool>
  </property>
</Properties>
</file>